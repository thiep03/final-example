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thầy/cô và hội đồng. Em xin trình bày đồ án 'Hệ thống học tập trực tuyến với kiểm tra tập trung bằng webcam và quiz thích ứng'. Điểm khác biệt là ứng dụng AI nhận diện khuôn mặt ngay trên trình duyệt để theo dõi sự tập trung, kết hợp quiz tự điều chỉnh độ khó theo năng lực người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trình bày gồm 5 phần: giới thiệu và mục tiêu, công nghệ và kiến trúc, chức năng hệ thống, hai tính năng AI nổi bật, và cuối cùng là kết quả cùng hướng phát triển.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Học trực tuyến phổ biến nhưng tồn tại 3 vấn đề: không kiểm soát được tập trung, bài kiểm tra cố định không phân hóa, và thiếu dữ liệu phản hồi. Đề tài giải quyết cả 3 bằng AI webcam và quiz thích 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con số minh họa cho khoảng trống: người học dễ mất tập trung, quiz dùng chung một đề, và hầu như không có phản hồi cá nhân hóa. Đây chính là khoảng trống mà đề tài hướng tới lấp đầy. Lưu ý: số liệu mang tính minh họa, có thể thay bằng số liệu khảo sát thực tế của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nhóm mục tiêu. Người học: xem video, giám sát tập trung, làm quiz thích ứng, nhận phản hồi. Quản trị: quản lý nội dung và xem thống kê. Hai điểm cốt lõi là giám sát tập trung và quiz thích 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Xác định rõ phạm vi giúp hội đồng đánh giá đúng. Trong phạm vi: web app với AI tập trung, quiz thích ứng, dashboard, quản trị nội dung. Ngoài phạm vi: mobile, Face ID nhận diện danh tính, thanh toán, và bảo mật JWT nâng cao sẽ làm ở giai đoạn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có 2 actor: người học và quản trị viên. Phân quyền bằng route guard ở frontend dựa trên vai trò lưu trong phiên đăng nhập.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Frontend React 19 + Vite, AI chạy bằng face-api.js trên trình duyệt. Backend Spring Boot phân tầng Controller–Service–Repository. Database MySQL 11 bảng. AI xử lý phía client nên không gửi hình ảnh lên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Lý do chọn công nghệ: React giúp dev nhanh, face-api.js cho phép chạy AI ngay trên trình duyệt không cần server AI riêng, Spring Boot là khung backend trưởng thành, MySQL phù hợp dữ liệu có cấu trúc. Tất cả đều miễn phí, mã nguồn mở, tài liệu phong phú và phù hợp năng lực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3 tầng: React giao diện, Spring Boot nghiệp vụ, MySQL lưu trữ. Giao tiếp qua REST API trả JSON. AI webcam tách riêng xử lý tại trình duyệt, chỉ gửi về backend điểm tập trung chứ không gửi hình ảnh.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Backend tổ chức theo 4 tầng: Controller nhận request và định nghĩa API, Service chứa nghiệp vụ như thuật toán quiz thích ứng và tính điểm, Repository truy vấn dữ liệu qua JPA, Entity/DTO ánh xạ bảng và truyền dữ liệu. Tách lớp giúp dễ bảo trì và kiểm thử.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bảng. Cốt lõi: users, courses, lessons, questions. Ghi nhận hoạt động: quiz_attempts, quiz_answers, focus_logs, learning_progress, feedbacks. Trường current_level trong users quyết định độ khó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Sơ đồ quan hệ rút gọn: users là trung tâm, liên kết tới courses và focus_logs. Courses chứa lessons, lessons chứa questions. Mỗi lần làm bài tạo một quiz_attempt gồm nhiều quiz_answers. Tất cả liên kết bằng khóa ngoại, thể hiện quan hệ một–nhiều.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sâu trải nghiệm người học theo trình tự thực tế: tạo tài khoản, vào học bài giảng có ghi chú và theo dõi tiến trình, trong khi học webcam giám sát tập trung, sau đó làm quiz thích ứng và cuối cùng nhận phản hồi cá nhân hóa.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Quản trị viên có 4 nhóm công cụ: quản lý khóa học (kể cả xuất bản), quản lý bài giảng và upload video, quản lý ngân hàng câu hỏi theo độ khó, và dashboard thống kê toàn hệ thống.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Tính năng nổi bật 1. Quy trình 4 bước: bật webcam, AI nhận diện mặt mỗi 2 giây, phân tích độ mở mắt và hướng đầu, ghi điểm tập trung mỗi 15 giây. Có 4 trạng thái. Nhấn mạnh: xử lý cục bộ, không gửi hình ảnh lên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kỹ thuật để thể hiện hiểu sâu. EAR — Eye Aspect Ratio — đo tỉ lệ mở mắt qua 6 điểm landmark; khi EAR dưới 0.22 kéo dài nghĩa là mắt nhắm, cảnh báo buồn ngủ. Head pose ước lượng hướng đầu dựa vào vị trí mũi so với mắt và cằm; lệch quá ngưỡng nghĩa là nhìn đi chỗ khác, cảnh báo mất tập trung.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điểm hội đồng thường hỏi là quyền riêng tư. Trả lời: toàn bộ AI xử lý cục bộ trên trình duyệt, chỉ gửi điểm tập trung dạng số về server chứ không gửi ảnh hay video, và người học hoàn toàn chủ động bật tắt camera. Đây là thiết kế tôn trọng quyền riêng tư.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Tính năng nổi bật 2. Có 3 mức độ khó. Bắt đầu ở mức cơ bản, sau mỗi câu điều chỉnh: đúng và nhanh thì tăng, đúng nhưng chậm thì giữ, sai thì giảm. Ngưỡng đạt 70%. Mỗi người có lộ trình câu hỏi riêng.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Thuật toán quiz thích ứng dưới dạng luồng: bắt đầu ở mức cơ bản, người học trả lời và hệ thống ghi cả thời gian phản hồi, sau đó đánh giá kết hợp đúng/sai với nhanh/chậm để chọn độ khó câu kế tiếp. Vòng lặp này lặp đến khi đủ số câu, rồi tính điểm, cập nhật level và sinh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feedback lấy hai đầu vào: điểm tập trung từ focus logs và điểm quiz từ lần làm bài, kết hợp lại để sinh phản hồi cá nhân hóa gồm khuyến nghị và lời nhắn. Ví dụ: điểm cao và tập trung tốt thì gợi ý học bài tiếp; điểm thấp thì gợi ý ôn lại; tập trung kém thì nhắc cải thiện môi trường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có dashboard cho cả người học và admin. Biểu đồ tròn minh họa phân bố trạng thái tập trung trong một phiên học. Phía admin theo dõi số học viên, điểm quiz trung bình, focus score trung bình và lượt xem từng bài. Số liệu trên biểu đồ là minh họa.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hợp thành vòng lặp học tập thông minh: đăng nhập, xem bài, webcam giám sát, làm quiz thích ứng, cập nhật level và sinh feedback. Dữ liệu lưu lại để cá nhân hóa các bài học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chuyển sang demo trực tiếp. Trình tự demo gợi ý: đăng nhập và xem trang chủ, vào học một bài có bật webcam để minh họa cảnh báo tập trung, làm quiz để thấy độ khó thay đổi, cuối cùng vào dashboard admin xem thống kê. Nếu không demo trực tiếp được thì thay bằng ảnh chụp màn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bằng con số: 11 bảng dữ liệu, 10 module hoàn thiện, AI 4 trạng thái, quiz 3 mức độ khó. Quan trọng nhất là hệ thống đã chạy thông suốt toàn bộ luồng.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Thẳng thắn nêu hạn chế: chưa có JWT nên API chưa bảo vệ thật, phân quyền mới ở frontend, AI phụ thuộc ánh sáng, chưa có Face ID. Hướng phát triển tương ứng: thêm JWT, đăng nhập bằng khuôn mặt, đa ngôn ngữ, nâng cấp mô hình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luận: hệ thống đã xây dựng nền tảng học tập cá nhân hóa, kết hợp giám sát tập trung bằng webcam và quiz thích ứng. Giá trị: người học chủ động hiệu quả hơn, giảng viên có thêm dữ liệu. Cảm ơn hội đồng và sẵn sàng trả lời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slideLayout" Target="../slideLayouts/slideLayout1.xml"/><Relationship Id="rId11"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slideLayout" Target="../slideLayouts/slideLayout1.xml"/><Relationship Id="rId11"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33"/>
        </a:solidFill>
      </p:bgPr>
    </p:bg>
    <p:spTree>
      <p:nvGrpSpPr>
        <p:cNvPr id="1" name=""/>
        <p:cNvGrpSpPr/>
        <p:nvPr/>
      </p:nvGrpSpPr>
      <p:grpSpPr>
        <a:xfrm>
          <a:off x="0" y="0"/>
          <a:ext cx="0" cy="0"/>
          <a:chOff x="0" y="0"/>
          <a:chExt cx="0" cy="0"/>
        </a:xfrm>
      </p:grpSpPr>
      <p:sp>
        <p:nvSpPr>
          <p:cNvPr id="2" name="Shape 0"/>
          <p:cNvSpPr/>
          <p:nvPr/>
        </p:nvSpPr>
        <p:spPr>
          <a:xfrm>
            <a:off x="8869680" y="-2011680"/>
            <a:ext cx="5943600" cy="5943600"/>
          </a:xfrm>
          <a:prstGeom prst="ellipse">
            <a:avLst/>
          </a:prstGeom>
          <a:solidFill>
            <a:srgbClr val="0D9488">
              <a:alpha val="22000"/>
            </a:srgbClr>
          </a:solidFill>
          <a:ln/>
        </p:spPr>
      </p:sp>
      <p:sp>
        <p:nvSpPr>
          <p:cNvPr id="3" name="Shape 1"/>
          <p:cNvSpPr/>
          <p:nvPr/>
        </p:nvSpPr>
        <p:spPr>
          <a:xfrm>
            <a:off x="10241280" y="3108960"/>
            <a:ext cx="4114800" cy="4114800"/>
          </a:xfrm>
          <a:prstGeom prst="ellipse">
            <a:avLst/>
          </a:prstGeom>
          <a:solidFill>
            <a:srgbClr val="14B8A6">
              <a:alpha val="18000"/>
            </a:srgbClr>
          </a:solidFill>
          <a:ln/>
        </p:spPr>
      </p:sp>
      <p:sp>
        <p:nvSpPr>
          <p:cNvPr id="4" name="Shape 2"/>
          <p:cNvSpPr/>
          <p:nvPr/>
        </p:nvSpPr>
        <p:spPr>
          <a:xfrm>
            <a:off x="777240" y="822960"/>
            <a:ext cx="868680" cy="86868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5" name="Image 0" descr="preencoded.png">    </p:cNvPr>
          <p:cNvPicPr>
            <a:picLocks noChangeAspect="1"/>
          </p:cNvPicPr>
          <p:nvPr/>
        </p:nvPicPr>
        <p:blipFill>
          <a:blip r:embed="rId1"/>
          <a:stretch>
            <a:fillRect/>
          </a:stretch>
        </p:blipFill>
        <p:spPr>
          <a:xfrm>
            <a:off x="994410" y="1040130"/>
            <a:ext cx="434340" cy="434340"/>
          </a:xfrm>
          <a:prstGeom prst="rect">
            <a:avLst/>
          </a:prstGeom>
        </p:spPr>
      </p:pic>
      <p:sp>
        <p:nvSpPr>
          <p:cNvPr id="6" name="Text 3"/>
          <p:cNvSpPr/>
          <p:nvPr/>
        </p:nvSpPr>
        <p:spPr>
          <a:xfrm>
            <a:off x="822960" y="1965960"/>
            <a:ext cx="9144000" cy="365760"/>
          </a:xfrm>
          <a:prstGeom prst="rect">
            <a:avLst/>
          </a:prstGeom>
          <a:noFill/>
          <a:ln/>
        </p:spPr>
        <p:txBody>
          <a:bodyPr wrap="square" lIns="0" tIns="0" rIns="0" bIns="0" rtlCol="0" anchor="ctr"/>
          <a:lstStyle/>
          <a:p>
            <a:pPr indent="0" marL="0">
              <a:buNone/>
            </a:pPr>
            <a:r>
              <a:rPr lang="en-US" sz="1400" b="1" spc="400" kern="0" dirty="0">
                <a:solidFill>
                  <a:srgbClr val="5EEAD4"/>
                </a:solidFill>
                <a:latin typeface="Calibri" pitchFamily="34" charset="0"/>
                <a:ea typeface="Calibri" pitchFamily="34" charset="-122"/>
                <a:cs typeface="Calibri" pitchFamily="34" charset="-120"/>
              </a:rPr>
              <a:t>ĐỒ ÁN TỐT NGHIỆP</a:t>
            </a:r>
            <a:endParaRPr lang="en-US" sz="1400" dirty="0"/>
          </a:p>
        </p:txBody>
      </p:sp>
      <p:sp>
        <p:nvSpPr>
          <p:cNvPr id="7" name="Text 4"/>
          <p:cNvSpPr/>
          <p:nvPr/>
        </p:nvSpPr>
        <p:spPr>
          <a:xfrm>
            <a:off x="822960" y="2423160"/>
            <a:ext cx="10058400" cy="2103120"/>
          </a:xfrm>
          <a:prstGeom prst="rect">
            <a:avLst/>
          </a:prstGeom>
          <a:noFill/>
          <a:ln/>
        </p:spPr>
        <p:txBody>
          <a:bodyPr wrap="square" lIns="0" tIns="0" rIns="0" bIns="0" rtlCol="0" anchor="ctr"/>
          <a:lstStyle/>
          <a:p>
            <a:pPr indent="0" marL="0">
              <a:lnSpc>
                <a:spcPts val="4600"/>
              </a:lnSpc>
              <a:buNone/>
            </a:pPr>
            <a:r>
              <a:rPr lang="en-US" sz="3800" b="1" dirty="0">
                <a:solidFill>
                  <a:srgbClr val="FFFFFF"/>
                </a:solidFill>
                <a:latin typeface="Georgia" pitchFamily="34" charset="0"/>
                <a:ea typeface="Georgia" pitchFamily="34" charset="-122"/>
                <a:cs typeface="Georgia" pitchFamily="34" charset="-120"/>
              </a:rPr>
              <a:t>Hệ thống học tập trực tuyến</a:t>
            </a:r>
            <a:endParaRPr lang="en-US" sz="3800" dirty="0"/>
          </a:p>
          <a:p>
            <a:pPr indent="0" marL="0">
              <a:lnSpc>
                <a:spcPts val="4600"/>
              </a:lnSpc>
              <a:buNone/>
            </a:pPr>
            <a:r>
              <a:rPr lang="en-US" sz="3800" b="1" dirty="0">
                <a:solidFill>
                  <a:srgbClr val="FFFFFF"/>
                </a:solidFill>
                <a:latin typeface="Georgia" pitchFamily="34" charset="0"/>
                <a:ea typeface="Georgia" pitchFamily="34" charset="-122"/>
                <a:cs typeface="Georgia" pitchFamily="34" charset="-120"/>
              </a:rPr>
              <a:t>với kiểm tra tập trung bằng webcam</a:t>
            </a:r>
            <a:endParaRPr lang="en-US" sz="3800" dirty="0"/>
          </a:p>
          <a:p>
            <a:pPr indent="0" marL="0">
              <a:lnSpc>
                <a:spcPts val="4600"/>
              </a:lnSpc>
              <a:buNone/>
            </a:pPr>
            <a:r>
              <a:rPr lang="en-US" sz="3800" b="1" dirty="0">
                <a:solidFill>
                  <a:srgbClr val="FFFFFF"/>
                </a:solidFill>
                <a:latin typeface="Georgia" pitchFamily="34" charset="0"/>
                <a:ea typeface="Georgia" pitchFamily="34" charset="-122"/>
                <a:cs typeface="Georgia" pitchFamily="34" charset="-120"/>
              </a:rPr>
              <a:t>và quiz thích ứng</a:t>
            </a:r>
            <a:endParaRPr lang="en-US" sz="3800" dirty="0"/>
          </a:p>
        </p:txBody>
      </p:sp>
      <p:sp>
        <p:nvSpPr>
          <p:cNvPr id="8" name="Shape 5"/>
          <p:cNvSpPr/>
          <p:nvPr/>
        </p:nvSpPr>
        <p:spPr>
          <a:xfrm>
            <a:off x="868680" y="4800600"/>
            <a:ext cx="2194560" cy="0"/>
          </a:xfrm>
          <a:prstGeom prst="line">
            <a:avLst/>
          </a:prstGeom>
          <a:noFill/>
          <a:ln w="38100">
            <a:solidFill>
              <a:srgbClr val="F4A259"/>
            </a:solidFill>
            <a:prstDash val="solid"/>
          </a:ln>
        </p:spPr>
      </p:sp>
      <p:sp>
        <p:nvSpPr>
          <p:cNvPr id="9" name="Text 6"/>
          <p:cNvSpPr/>
          <p:nvPr/>
        </p:nvSpPr>
        <p:spPr>
          <a:xfrm>
            <a:off x="822960" y="4983480"/>
            <a:ext cx="9601200" cy="457200"/>
          </a:xfrm>
          <a:prstGeom prst="rect">
            <a:avLst/>
          </a:prstGeom>
          <a:noFill/>
          <a:ln/>
        </p:spPr>
        <p:txBody>
          <a:bodyPr wrap="square" lIns="0" tIns="0" rIns="0" bIns="0" rtlCol="0" anchor="ctr"/>
          <a:lstStyle/>
          <a:p>
            <a:pPr indent="0" marL="0">
              <a:buNone/>
            </a:pPr>
            <a:r>
              <a:rPr lang="en-US" sz="1600" i="1" dirty="0">
                <a:solidFill>
                  <a:srgbClr val="CBD5E1"/>
                </a:solidFill>
                <a:latin typeface="Calibri" pitchFamily="34" charset="0"/>
                <a:ea typeface="Calibri" pitchFamily="34" charset="-122"/>
                <a:cs typeface="Calibri" pitchFamily="34" charset="-120"/>
              </a:rPr>
              <a:t>Ứng dụng AI nhận diện khuôn mặt để cá nhân hóa trải nghiệm học tập</a:t>
            </a:r>
            <a:endParaRPr lang="en-US" sz="1600" dirty="0"/>
          </a:p>
        </p:txBody>
      </p:sp>
      <p:sp>
        <p:nvSpPr>
          <p:cNvPr id="10" name="Text 7"/>
          <p:cNvSpPr/>
          <p:nvPr/>
        </p:nvSpPr>
        <p:spPr>
          <a:xfrm>
            <a:off x="822960" y="5897880"/>
            <a:ext cx="1051560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Sinh viên thực hiện:  </a:t>
            </a:r>
            <a:pPr indent="0" marL="0">
              <a:buNone/>
            </a:pPr>
            <a:r>
              <a:rPr lang="en-US" sz="1300" dirty="0">
                <a:solidFill>
                  <a:srgbClr val="CBD5E1"/>
                </a:solidFill>
                <a:latin typeface="Calibri" pitchFamily="34" charset="0"/>
                <a:ea typeface="Calibri" pitchFamily="34" charset="-122"/>
                <a:cs typeface="Calibri" pitchFamily="34" charset="-120"/>
              </a:rPr>
              <a:t>_______________</a:t>
            </a:r>
            <a:pPr indent="0" marL="0">
              <a:buNone/>
            </a:pPr>
            <a:r>
              <a:rPr lang="en-US" sz="1300" dirty="0">
                <a:solidFill>
                  <a:srgbClr val="64748B"/>
                </a:solidFill>
                <a:latin typeface="Calibri" pitchFamily="34" charset="0"/>
                <a:ea typeface="Calibri" pitchFamily="34" charset="-122"/>
                <a:cs typeface="Calibri" pitchFamily="34" charset="-120"/>
              </a:rPr>
              <a:t>        GVHD:  </a:t>
            </a:r>
            <a:pPr indent="0" marL="0">
              <a:buNone/>
            </a:pPr>
            <a:r>
              <a:rPr lang="en-US" sz="1300" dirty="0">
                <a:solidFill>
                  <a:srgbClr val="CBD5E1"/>
                </a:solidFill>
                <a:latin typeface="Calibri" pitchFamily="34" charset="0"/>
                <a:ea typeface="Calibri" pitchFamily="34" charset="-122"/>
                <a:cs typeface="Calibri" pitchFamily="34" charset="-120"/>
              </a:rPr>
              <a:t>_______________</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200" b="1" spc="300" kern="0" dirty="0">
                <a:solidFill>
                  <a:srgbClr val="0D9488"/>
                </a:solidFill>
                <a:latin typeface="Calibri" pitchFamily="34" charset="0"/>
                <a:ea typeface="Calibri" pitchFamily="34" charset="-122"/>
                <a:cs typeface="Calibri" pitchFamily="34" charset="-120"/>
              </a:rPr>
              <a:t>NỘI DUNG</a:t>
            </a:r>
            <a:endParaRPr lang="en-US" sz="1200" dirty="0"/>
          </a:p>
        </p:txBody>
      </p:sp>
      <p:sp>
        <p:nvSpPr>
          <p:cNvPr id="3" name="Text 1"/>
          <p:cNvSpPr/>
          <p:nvPr/>
        </p:nvSpPr>
        <p:spPr>
          <a:xfrm>
            <a:off x="548640" y="822960"/>
            <a:ext cx="10698480" cy="822960"/>
          </a:xfrm>
          <a:prstGeom prst="rect">
            <a:avLst/>
          </a:prstGeom>
          <a:noFill/>
          <a:ln/>
        </p:spPr>
        <p:txBody>
          <a:bodyPr wrap="square" lIns="0" tIns="0" rIns="0" bIns="0" rtlCol="0" anchor="ctr"/>
          <a:lstStyle/>
          <a:p>
            <a:pPr algn="l" indent="0" marL="0">
              <a:buNone/>
            </a:pPr>
            <a:r>
              <a:rPr lang="en-US" sz="3100" b="1" dirty="0">
                <a:solidFill>
                  <a:srgbClr val="1E293B"/>
                </a:solidFill>
                <a:latin typeface="Georgia" pitchFamily="34" charset="0"/>
                <a:ea typeface="Georgia" pitchFamily="34" charset="-122"/>
                <a:cs typeface="Georgia" pitchFamily="34" charset="-120"/>
              </a:rPr>
              <a:t>Nội dung trình bày</a:t>
            </a:r>
            <a:endParaRPr lang="en-US" sz="31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Hệ thống học tập trực tuyến với AI</a:t>
            </a:r>
            <a:endParaRPr lang="en-US" sz="900" dirty="0"/>
          </a:p>
        </p:txBody>
      </p:sp>
      <p:sp>
        <p:nvSpPr>
          <p:cNvPr id="5" name="Text 3"/>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48640" y="1874520"/>
            <a:ext cx="8686800" cy="713232"/>
          </a:xfrm>
          <a:prstGeom prst="roundRect">
            <a:avLst>
              <a:gd name="adj" fmla="val 10256"/>
            </a:avLst>
          </a:prstGeom>
          <a:solidFill>
            <a:srgbClr val="E8F3F2"/>
          </a:solidFill>
          <a:ln/>
        </p:spPr>
      </p:sp>
      <p:sp>
        <p:nvSpPr>
          <p:cNvPr id="7" name="Text 5"/>
          <p:cNvSpPr/>
          <p:nvPr/>
        </p:nvSpPr>
        <p:spPr>
          <a:xfrm>
            <a:off x="777240" y="1874520"/>
            <a:ext cx="822960" cy="713232"/>
          </a:xfrm>
          <a:prstGeom prst="rect">
            <a:avLst/>
          </a:prstGeom>
          <a:noFill/>
          <a:ln/>
        </p:spPr>
        <p:txBody>
          <a:bodyPr wrap="square" lIns="0" tIns="0" rIns="0" bIns="0" rtlCol="0" anchor="ctr"/>
          <a:lstStyle/>
          <a:p>
            <a:pPr indent="0" marL="0">
              <a:buNone/>
            </a:pPr>
            <a:r>
              <a:rPr lang="en-US" sz="2600" b="1" dirty="0">
                <a:solidFill>
                  <a:srgbClr val="0D9488"/>
                </a:solidFill>
                <a:latin typeface="Georgia" pitchFamily="34" charset="0"/>
                <a:ea typeface="Georgia" pitchFamily="34" charset="-122"/>
                <a:cs typeface="Georgia" pitchFamily="34" charset="-120"/>
              </a:rPr>
              <a:t>01</a:t>
            </a:r>
            <a:endParaRPr lang="en-US" sz="2600" dirty="0"/>
          </a:p>
        </p:txBody>
      </p:sp>
      <p:sp>
        <p:nvSpPr>
          <p:cNvPr id="8" name="Shape 6"/>
          <p:cNvSpPr/>
          <p:nvPr/>
        </p:nvSpPr>
        <p:spPr>
          <a:xfrm>
            <a:off x="1691640" y="1993392"/>
            <a:ext cx="475488" cy="475488"/>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9" name="Image 0" descr="preencoded.png">    </p:cNvPr>
          <p:cNvPicPr>
            <a:picLocks noChangeAspect="1"/>
          </p:cNvPicPr>
          <p:nvPr/>
        </p:nvPicPr>
        <p:blipFill>
          <a:blip r:embed="rId1"/>
          <a:stretch>
            <a:fillRect/>
          </a:stretch>
        </p:blipFill>
        <p:spPr>
          <a:xfrm>
            <a:off x="1810512" y="2112264"/>
            <a:ext cx="237744" cy="237744"/>
          </a:xfrm>
          <a:prstGeom prst="rect">
            <a:avLst/>
          </a:prstGeom>
        </p:spPr>
      </p:pic>
      <p:sp>
        <p:nvSpPr>
          <p:cNvPr id="10" name="Text 7"/>
          <p:cNvSpPr/>
          <p:nvPr/>
        </p:nvSpPr>
        <p:spPr>
          <a:xfrm>
            <a:off x="2377440" y="1947672"/>
            <a:ext cx="6675120" cy="365760"/>
          </a:xfrm>
          <a:prstGeom prst="rect">
            <a:avLst/>
          </a:prstGeom>
          <a:noFill/>
          <a:ln/>
        </p:spPr>
        <p:txBody>
          <a:bodyPr wrap="square" lIns="0" tIns="0" rIns="0" bIns="0" rtlCol="0" anchor="ctr"/>
          <a:lstStyle/>
          <a:p>
            <a:pPr indent="0" marL="0">
              <a:buNone/>
            </a:pPr>
            <a:r>
              <a:rPr lang="en-US" sz="1600" b="1" dirty="0">
                <a:solidFill>
                  <a:srgbClr val="1E293B"/>
                </a:solidFill>
                <a:latin typeface="Georgia" pitchFamily="34" charset="0"/>
                <a:ea typeface="Georgia" pitchFamily="34" charset="-122"/>
                <a:cs typeface="Georgia" pitchFamily="34" charset="-120"/>
              </a:rPr>
              <a:t>Giới thiệu &amp; mục tiêu</a:t>
            </a:r>
            <a:endParaRPr lang="en-US" sz="1600" dirty="0"/>
          </a:p>
        </p:txBody>
      </p:sp>
      <p:sp>
        <p:nvSpPr>
          <p:cNvPr id="11" name="Text 8"/>
          <p:cNvSpPr/>
          <p:nvPr/>
        </p:nvSpPr>
        <p:spPr>
          <a:xfrm>
            <a:off x="2377440" y="2276856"/>
            <a:ext cx="667512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Bối cảnh, vấn đề, phạm vi đề tài</a:t>
            </a:r>
            <a:endParaRPr lang="en-US" sz="1200" dirty="0"/>
          </a:p>
        </p:txBody>
      </p:sp>
      <p:sp>
        <p:nvSpPr>
          <p:cNvPr id="12" name="Shape 9"/>
          <p:cNvSpPr/>
          <p:nvPr/>
        </p:nvSpPr>
        <p:spPr>
          <a:xfrm>
            <a:off x="548640" y="2715768"/>
            <a:ext cx="8686800" cy="713232"/>
          </a:xfrm>
          <a:prstGeom prst="roundRect">
            <a:avLst>
              <a:gd name="adj" fmla="val 10256"/>
            </a:avLst>
          </a:prstGeom>
          <a:solidFill>
            <a:srgbClr val="F1F5F9"/>
          </a:solidFill>
          <a:ln/>
        </p:spPr>
      </p:sp>
      <p:sp>
        <p:nvSpPr>
          <p:cNvPr id="13" name="Text 10"/>
          <p:cNvSpPr/>
          <p:nvPr/>
        </p:nvSpPr>
        <p:spPr>
          <a:xfrm>
            <a:off x="777240" y="2715768"/>
            <a:ext cx="822960" cy="713232"/>
          </a:xfrm>
          <a:prstGeom prst="rect">
            <a:avLst/>
          </a:prstGeom>
          <a:noFill/>
          <a:ln/>
        </p:spPr>
        <p:txBody>
          <a:bodyPr wrap="square" lIns="0" tIns="0" rIns="0" bIns="0" rtlCol="0" anchor="ctr"/>
          <a:lstStyle/>
          <a:p>
            <a:pPr indent="0" marL="0">
              <a:buNone/>
            </a:pPr>
            <a:r>
              <a:rPr lang="en-US" sz="2600" b="1" dirty="0">
                <a:solidFill>
                  <a:srgbClr val="0D9488"/>
                </a:solidFill>
                <a:latin typeface="Georgia" pitchFamily="34" charset="0"/>
                <a:ea typeface="Georgia" pitchFamily="34" charset="-122"/>
                <a:cs typeface="Georgia" pitchFamily="34" charset="-120"/>
              </a:rPr>
              <a:t>02</a:t>
            </a:r>
            <a:endParaRPr lang="en-US" sz="2600" dirty="0"/>
          </a:p>
        </p:txBody>
      </p:sp>
      <p:sp>
        <p:nvSpPr>
          <p:cNvPr id="14" name="Shape 11"/>
          <p:cNvSpPr/>
          <p:nvPr/>
        </p:nvSpPr>
        <p:spPr>
          <a:xfrm>
            <a:off x="1691640" y="2834640"/>
            <a:ext cx="475488" cy="475488"/>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15" name="Image 1" descr="preencoded.png">    </p:cNvPr>
          <p:cNvPicPr>
            <a:picLocks noChangeAspect="1"/>
          </p:cNvPicPr>
          <p:nvPr/>
        </p:nvPicPr>
        <p:blipFill>
          <a:blip r:embed="rId2"/>
          <a:stretch>
            <a:fillRect/>
          </a:stretch>
        </p:blipFill>
        <p:spPr>
          <a:xfrm>
            <a:off x="1810512" y="2953512"/>
            <a:ext cx="237744" cy="237744"/>
          </a:xfrm>
          <a:prstGeom prst="rect">
            <a:avLst/>
          </a:prstGeom>
        </p:spPr>
      </p:pic>
      <p:sp>
        <p:nvSpPr>
          <p:cNvPr id="16" name="Text 12"/>
          <p:cNvSpPr/>
          <p:nvPr/>
        </p:nvSpPr>
        <p:spPr>
          <a:xfrm>
            <a:off x="2377440" y="2788920"/>
            <a:ext cx="6675120" cy="365760"/>
          </a:xfrm>
          <a:prstGeom prst="rect">
            <a:avLst/>
          </a:prstGeom>
          <a:noFill/>
          <a:ln/>
        </p:spPr>
        <p:txBody>
          <a:bodyPr wrap="square" lIns="0" tIns="0" rIns="0" bIns="0" rtlCol="0" anchor="ctr"/>
          <a:lstStyle/>
          <a:p>
            <a:pPr indent="0" marL="0">
              <a:buNone/>
            </a:pPr>
            <a:r>
              <a:rPr lang="en-US" sz="1600" b="1" dirty="0">
                <a:solidFill>
                  <a:srgbClr val="1E293B"/>
                </a:solidFill>
                <a:latin typeface="Georgia" pitchFamily="34" charset="0"/>
                <a:ea typeface="Georgia" pitchFamily="34" charset="-122"/>
                <a:cs typeface="Georgia" pitchFamily="34" charset="-120"/>
              </a:rPr>
              <a:t>Công nghệ &amp; kiến trúc</a:t>
            </a:r>
            <a:endParaRPr lang="en-US" sz="1600" dirty="0"/>
          </a:p>
        </p:txBody>
      </p:sp>
      <p:sp>
        <p:nvSpPr>
          <p:cNvPr id="17" name="Text 13"/>
          <p:cNvSpPr/>
          <p:nvPr/>
        </p:nvSpPr>
        <p:spPr>
          <a:xfrm>
            <a:off x="2377440" y="3118104"/>
            <a:ext cx="667512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Stack, kiến trúc phân tầng, cơ sở dữ liệu</a:t>
            </a:r>
            <a:endParaRPr lang="en-US" sz="1200" dirty="0"/>
          </a:p>
        </p:txBody>
      </p:sp>
      <p:sp>
        <p:nvSpPr>
          <p:cNvPr id="18" name="Shape 14"/>
          <p:cNvSpPr/>
          <p:nvPr/>
        </p:nvSpPr>
        <p:spPr>
          <a:xfrm>
            <a:off x="548640" y="3557016"/>
            <a:ext cx="8686800" cy="713232"/>
          </a:xfrm>
          <a:prstGeom prst="roundRect">
            <a:avLst>
              <a:gd name="adj" fmla="val 10256"/>
            </a:avLst>
          </a:prstGeom>
          <a:solidFill>
            <a:srgbClr val="E8F3F2"/>
          </a:solidFill>
          <a:ln/>
        </p:spPr>
      </p:sp>
      <p:sp>
        <p:nvSpPr>
          <p:cNvPr id="19" name="Text 15"/>
          <p:cNvSpPr/>
          <p:nvPr/>
        </p:nvSpPr>
        <p:spPr>
          <a:xfrm>
            <a:off x="777240" y="3557016"/>
            <a:ext cx="822960" cy="713232"/>
          </a:xfrm>
          <a:prstGeom prst="rect">
            <a:avLst/>
          </a:prstGeom>
          <a:noFill/>
          <a:ln/>
        </p:spPr>
        <p:txBody>
          <a:bodyPr wrap="square" lIns="0" tIns="0" rIns="0" bIns="0" rtlCol="0" anchor="ctr"/>
          <a:lstStyle/>
          <a:p>
            <a:pPr indent="0" marL="0">
              <a:buNone/>
            </a:pPr>
            <a:r>
              <a:rPr lang="en-US" sz="2600" b="1" dirty="0">
                <a:solidFill>
                  <a:srgbClr val="0D9488"/>
                </a:solidFill>
                <a:latin typeface="Georgia" pitchFamily="34" charset="0"/>
                <a:ea typeface="Georgia" pitchFamily="34" charset="-122"/>
                <a:cs typeface="Georgia" pitchFamily="34" charset="-120"/>
              </a:rPr>
              <a:t>03</a:t>
            </a:r>
            <a:endParaRPr lang="en-US" sz="2600" dirty="0"/>
          </a:p>
        </p:txBody>
      </p:sp>
      <p:sp>
        <p:nvSpPr>
          <p:cNvPr id="20" name="Shape 16"/>
          <p:cNvSpPr/>
          <p:nvPr/>
        </p:nvSpPr>
        <p:spPr>
          <a:xfrm>
            <a:off x="1691640" y="3675888"/>
            <a:ext cx="475488" cy="475488"/>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21" name="Image 2" descr="preencoded.png">    </p:cNvPr>
          <p:cNvPicPr>
            <a:picLocks noChangeAspect="1"/>
          </p:cNvPicPr>
          <p:nvPr/>
        </p:nvPicPr>
        <p:blipFill>
          <a:blip r:embed="rId3"/>
          <a:stretch>
            <a:fillRect/>
          </a:stretch>
        </p:blipFill>
        <p:spPr>
          <a:xfrm>
            <a:off x="1810512" y="3794760"/>
            <a:ext cx="237744" cy="237744"/>
          </a:xfrm>
          <a:prstGeom prst="rect">
            <a:avLst/>
          </a:prstGeom>
        </p:spPr>
      </p:pic>
      <p:sp>
        <p:nvSpPr>
          <p:cNvPr id="22" name="Text 17"/>
          <p:cNvSpPr/>
          <p:nvPr/>
        </p:nvSpPr>
        <p:spPr>
          <a:xfrm>
            <a:off x="2377440" y="3630168"/>
            <a:ext cx="6675120" cy="365760"/>
          </a:xfrm>
          <a:prstGeom prst="rect">
            <a:avLst/>
          </a:prstGeom>
          <a:noFill/>
          <a:ln/>
        </p:spPr>
        <p:txBody>
          <a:bodyPr wrap="square" lIns="0" tIns="0" rIns="0" bIns="0" rtlCol="0" anchor="ctr"/>
          <a:lstStyle/>
          <a:p>
            <a:pPr indent="0" marL="0">
              <a:buNone/>
            </a:pPr>
            <a:r>
              <a:rPr lang="en-US" sz="1600" b="1" dirty="0">
                <a:solidFill>
                  <a:srgbClr val="1E293B"/>
                </a:solidFill>
                <a:latin typeface="Georgia" pitchFamily="34" charset="0"/>
                <a:ea typeface="Georgia" pitchFamily="34" charset="-122"/>
                <a:cs typeface="Georgia" pitchFamily="34" charset="-120"/>
              </a:rPr>
              <a:t>Chức năng hệ thống</a:t>
            </a:r>
            <a:endParaRPr lang="en-US" sz="1600" dirty="0"/>
          </a:p>
        </p:txBody>
      </p:sp>
      <p:sp>
        <p:nvSpPr>
          <p:cNvPr id="23" name="Text 18"/>
          <p:cNvSpPr/>
          <p:nvPr/>
        </p:nvSpPr>
        <p:spPr>
          <a:xfrm>
            <a:off x="2377440" y="3959352"/>
            <a:ext cx="667512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Phía người học và quản trị viên</a:t>
            </a:r>
            <a:endParaRPr lang="en-US" sz="1200" dirty="0"/>
          </a:p>
        </p:txBody>
      </p:sp>
      <p:sp>
        <p:nvSpPr>
          <p:cNvPr id="24" name="Shape 19"/>
          <p:cNvSpPr/>
          <p:nvPr/>
        </p:nvSpPr>
        <p:spPr>
          <a:xfrm>
            <a:off x="548640" y="4398264"/>
            <a:ext cx="8686800" cy="713232"/>
          </a:xfrm>
          <a:prstGeom prst="roundRect">
            <a:avLst>
              <a:gd name="adj" fmla="val 10256"/>
            </a:avLst>
          </a:prstGeom>
          <a:solidFill>
            <a:srgbClr val="F1F5F9"/>
          </a:solidFill>
          <a:ln/>
        </p:spPr>
      </p:sp>
      <p:sp>
        <p:nvSpPr>
          <p:cNvPr id="25" name="Text 20"/>
          <p:cNvSpPr/>
          <p:nvPr/>
        </p:nvSpPr>
        <p:spPr>
          <a:xfrm>
            <a:off x="777240" y="4398264"/>
            <a:ext cx="822960" cy="713232"/>
          </a:xfrm>
          <a:prstGeom prst="rect">
            <a:avLst/>
          </a:prstGeom>
          <a:noFill/>
          <a:ln/>
        </p:spPr>
        <p:txBody>
          <a:bodyPr wrap="square" lIns="0" tIns="0" rIns="0" bIns="0" rtlCol="0" anchor="ctr"/>
          <a:lstStyle/>
          <a:p>
            <a:pPr indent="0" marL="0">
              <a:buNone/>
            </a:pPr>
            <a:r>
              <a:rPr lang="en-US" sz="2600" b="1" dirty="0">
                <a:solidFill>
                  <a:srgbClr val="0D9488"/>
                </a:solidFill>
                <a:latin typeface="Georgia" pitchFamily="34" charset="0"/>
                <a:ea typeface="Georgia" pitchFamily="34" charset="-122"/>
                <a:cs typeface="Georgia" pitchFamily="34" charset="-120"/>
              </a:rPr>
              <a:t>04</a:t>
            </a:r>
            <a:endParaRPr lang="en-US" sz="2600" dirty="0"/>
          </a:p>
        </p:txBody>
      </p:sp>
      <p:sp>
        <p:nvSpPr>
          <p:cNvPr id="26" name="Shape 21"/>
          <p:cNvSpPr/>
          <p:nvPr/>
        </p:nvSpPr>
        <p:spPr>
          <a:xfrm>
            <a:off x="1691640" y="4517136"/>
            <a:ext cx="475488" cy="475488"/>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27" name="Image 3" descr="preencoded.png">    </p:cNvPr>
          <p:cNvPicPr>
            <a:picLocks noChangeAspect="1"/>
          </p:cNvPicPr>
          <p:nvPr/>
        </p:nvPicPr>
        <p:blipFill>
          <a:blip r:embed="rId4"/>
          <a:stretch>
            <a:fillRect/>
          </a:stretch>
        </p:blipFill>
        <p:spPr>
          <a:xfrm>
            <a:off x="1810512" y="4636008"/>
            <a:ext cx="237744" cy="237744"/>
          </a:xfrm>
          <a:prstGeom prst="rect">
            <a:avLst/>
          </a:prstGeom>
        </p:spPr>
      </p:pic>
      <p:sp>
        <p:nvSpPr>
          <p:cNvPr id="28" name="Text 22"/>
          <p:cNvSpPr/>
          <p:nvPr/>
        </p:nvSpPr>
        <p:spPr>
          <a:xfrm>
            <a:off x="2377440" y="4471416"/>
            <a:ext cx="6675120" cy="365760"/>
          </a:xfrm>
          <a:prstGeom prst="rect">
            <a:avLst/>
          </a:prstGeom>
          <a:noFill/>
          <a:ln/>
        </p:spPr>
        <p:txBody>
          <a:bodyPr wrap="square" lIns="0" tIns="0" rIns="0" bIns="0" rtlCol="0" anchor="ctr"/>
          <a:lstStyle/>
          <a:p>
            <a:pPr indent="0" marL="0">
              <a:buNone/>
            </a:pPr>
            <a:r>
              <a:rPr lang="en-US" sz="1600" b="1" dirty="0">
                <a:solidFill>
                  <a:srgbClr val="1E293B"/>
                </a:solidFill>
                <a:latin typeface="Georgia" pitchFamily="34" charset="0"/>
                <a:ea typeface="Georgia" pitchFamily="34" charset="-122"/>
                <a:cs typeface="Georgia" pitchFamily="34" charset="-120"/>
              </a:rPr>
              <a:t>Hai tính năng AI nổi bật</a:t>
            </a:r>
            <a:endParaRPr lang="en-US" sz="1600" dirty="0"/>
          </a:p>
        </p:txBody>
      </p:sp>
      <p:sp>
        <p:nvSpPr>
          <p:cNvPr id="29" name="Text 23"/>
          <p:cNvSpPr/>
          <p:nvPr/>
        </p:nvSpPr>
        <p:spPr>
          <a:xfrm>
            <a:off x="2377440" y="4800600"/>
            <a:ext cx="667512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Giám sát tập trung &amp; quiz thích ứng</a:t>
            </a:r>
            <a:endParaRPr lang="en-US" sz="1200" dirty="0"/>
          </a:p>
        </p:txBody>
      </p:sp>
      <p:sp>
        <p:nvSpPr>
          <p:cNvPr id="30" name="Shape 24"/>
          <p:cNvSpPr/>
          <p:nvPr/>
        </p:nvSpPr>
        <p:spPr>
          <a:xfrm>
            <a:off x="548640" y="5239512"/>
            <a:ext cx="8686800" cy="713232"/>
          </a:xfrm>
          <a:prstGeom prst="roundRect">
            <a:avLst>
              <a:gd name="adj" fmla="val 10256"/>
            </a:avLst>
          </a:prstGeom>
          <a:solidFill>
            <a:srgbClr val="E8F3F2"/>
          </a:solidFill>
          <a:ln/>
        </p:spPr>
      </p:sp>
      <p:sp>
        <p:nvSpPr>
          <p:cNvPr id="31" name="Text 25"/>
          <p:cNvSpPr/>
          <p:nvPr/>
        </p:nvSpPr>
        <p:spPr>
          <a:xfrm>
            <a:off x="777240" y="5239512"/>
            <a:ext cx="822960" cy="713232"/>
          </a:xfrm>
          <a:prstGeom prst="rect">
            <a:avLst/>
          </a:prstGeom>
          <a:noFill/>
          <a:ln/>
        </p:spPr>
        <p:txBody>
          <a:bodyPr wrap="square" lIns="0" tIns="0" rIns="0" bIns="0" rtlCol="0" anchor="ctr"/>
          <a:lstStyle/>
          <a:p>
            <a:pPr indent="0" marL="0">
              <a:buNone/>
            </a:pPr>
            <a:r>
              <a:rPr lang="en-US" sz="2600" b="1" dirty="0">
                <a:solidFill>
                  <a:srgbClr val="0D9488"/>
                </a:solidFill>
                <a:latin typeface="Georgia" pitchFamily="34" charset="0"/>
                <a:ea typeface="Georgia" pitchFamily="34" charset="-122"/>
                <a:cs typeface="Georgia" pitchFamily="34" charset="-120"/>
              </a:rPr>
              <a:t>05</a:t>
            </a:r>
            <a:endParaRPr lang="en-US" sz="2600" dirty="0"/>
          </a:p>
        </p:txBody>
      </p:sp>
      <p:sp>
        <p:nvSpPr>
          <p:cNvPr id="32" name="Shape 26"/>
          <p:cNvSpPr/>
          <p:nvPr/>
        </p:nvSpPr>
        <p:spPr>
          <a:xfrm>
            <a:off x="1691640" y="5358384"/>
            <a:ext cx="475488" cy="475488"/>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33" name="Image 4" descr="preencoded.png">    </p:cNvPr>
          <p:cNvPicPr>
            <a:picLocks noChangeAspect="1"/>
          </p:cNvPicPr>
          <p:nvPr/>
        </p:nvPicPr>
        <p:blipFill>
          <a:blip r:embed="rId5"/>
          <a:stretch>
            <a:fillRect/>
          </a:stretch>
        </p:blipFill>
        <p:spPr>
          <a:xfrm>
            <a:off x="1810512" y="5477256"/>
            <a:ext cx="237744" cy="237744"/>
          </a:xfrm>
          <a:prstGeom prst="rect">
            <a:avLst/>
          </a:prstGeom>
        </p:spPr>
      </p:pic>
      <p:sp>
        <p:nvSpPr>
          <p:cNvPr id="34" name="Text 27"/>
          <p:cNvSpPr/>
          <p:nvPr/>
        </p:nvSpPr>
        <p:spPr>
          <a:xfrm>
            <a:off x="2377440" y="5312664"/>
            <a:ext cx="6675120" cy="365760"/>
          </a:xfrm>
          <a:prstGeom prst="rect">
            <a:avLst/>
          </a:prstGeom>
          <a:noFill/>
          <a:ln/>
        </p:spPr>
        <p:txBody>
          <a:bodyPr wrap="square" lIns="0" tIns="0" rIns="0" bIns="0" rtlCol="0" anchor="ctr"/>
          <a:lstStyle/>
          <a:p>
            <a:pPr indent="0" marL="0">
              <a:buNone/>
            </a:pPr>
            <a:r>
              <a:rPr lang="en-US" sz="1600" b="1" dirty="0">
                <a:solidFill>
                  <a:srgbClr val="1E293B"/>
                </a:solidFill>
                <a:latin typeface="Georgia" pitchFamily="34" charset="0"/>
                <a:ea typeface="Georgia" pitchFamily="34" charset="-122"/>
                <a:cs typeface="Georgia" pitchFamily="34" charset="-120"/>
              </a:rPr>
              <a:t>Kết quả &amp; đánh giá</a:t>
            </a:r>
            <a:endParaRPr lang="en-US" sz="1600" dirty="0"/>
          </a:p>
        </p:txBody>
      </p:sp>
      <p:sp>
        <p:nvSpPr>
          <p:cNvPr id="35" name="Text 28"/>
          <p:cNvSpPr/>
          <p:nvPr/>
        </p:nvSpPr>
        <p:spPr>
          <a:xfrm>
            <a:off x="2377440" y="5641848"/>
            <a:ext cx="667512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Demo, hạn chế, hướng phát triển</a:t>
            </a:r>
            <a:endParaRPr lang="en-US" sz="1200" dirty="0"/>
          </a:p>
        </p:txBody>
      </p:sp>
      <p:sp>
        <p:nvSpPr>
          <p:cNvPr id="36" name="Shape 29"/>
          <p:cNvSpPr/>
          <p:nvPr/>
        </p:nvSpPr>
        <p:spPr>
          <a:xfrm>
            <a:off x="9509760" y="1874520"/>
            <a:ext cx="2103120" cy="4160520"/>
          </a:xfrm>
          <a:prstGeom prst="roundRect">
            <a:avLst>
              <a:gd name="adj" fmla="val 5217"/>
            </a:avLst>
          </a:prstGeom>
          <a:solidFill>
            <a:srgbClr val="0B2E33"/>
          </a:solidFill>
          <a:ln/>
        </p:spPr>
      </p:sp>
      <p:sp>
        <p:nvSpPr>
          <p:cNvPr id="37" name="Shape 30"/>
          <p:cNvSpPr/>
          <p:nvPr/>
        </p:nvSpPr>
        <p:spPr>
          <a:xfrm>
            <a:off x="10241280" y="2514600"/>
            <a:ext cx="640080" cy="64008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38" name="Image 5" descr="preencoded.png">    </p:cNvPr>
          <p:cNvPicPr>
            <a:picLocks noChangeAspect="1"/>
          </p:cNvPicPr>
          <p:nvPr/>
        </p:nvPicPr>
        <p:blipFill>
          <a:blip r:embed="rId6"/>
          <a:stretch>
            <a:fillRect/>
          </a:stretch>
        </p:blipFill>
        <p:spPr>
          <a:xfrm>
            <a:off x="10401300" y="2674620"/>
            <a:ext cx="320040" cy="320040"/>
          </a:xfrm>
          <a:prstGeom prst="rect">
            <a:avLst/>
          </a:prstGeom>
        </p:spPr>
      </p:pic>
      <p:sp>
        <p:nvSpPr>
          <p:cNvPr id="39" name="Text 31"/>
          <p:cNvSpPr/>
          <p:nvPr/>
        </p:nvSpPr>
        <p:spPr>
          <a:xfrm>
            <a:off x="9509760" y="3291840"/>
            <a:ext cx="2103120" cy="914400"/>
          </a:xfrm>
          <a:prstGeom prst="rect">
            <a:avLst/>
          </a:prstGeom>
          <a:noFill/>
          <a:ln/>
        </p:spPr>
        <p:txBody>
          <a:bodyPr wrap="square" lIns="0" tIns="0" rIns="0" bIns="0" rtlCol="0" anchor="ctr"/>
          <a:lstStyle/>
          <a:p>
            <a:pPr algn="ctr" indent="0" marL="0">
              <a:buNone/>
            </a:pPr>
            <a:r>
              <a:rPr lang="en-US" sz="5200" b="1" dirty="0">
                <a:solidFill>
                  <a:srgbClr val="FFFFFF"/>
                </a:solidFill>
                <a:latin typeface="Georgia" pitchFamily="34" charset="0"/>
                <a:ea typeface="Georgia" pitchFamily="34" charset="-122"/>
                <a:cs typeface="Georgia" pitchFamily="34" charset="-120"/>
              </a:rPr>
              <a:t>5</a:t>
            </a:r>
            <a:endParaRPr lang="en-US" sz="5200" dirty="0"/>
          </a:p>
        </p:txBody>
      </p:sp>
      <p:sp>
        <p:nvSpPr>
          <p:cNvPr id="40" name="Text 32"/>
          <p:cNvSpPr/>
          <p:nvPr/>
        </p:nvSpPr>
        <p:spPr>
          <a:xfrm>
            <a:off x="9509760" y="4251960"/>
            <a:ext cx="2103120" cy="365760"/>
          </a:xfrm>
          <a:prstGeom prst="rect">
            <a:avLst/>
          </a:prstGeom>
          <a:noFill/>
          <a:ln/>
        </p:spPr>
        <p:txBody>
          <a:bodyPr wrap="square" lIns="0" tIns="0" rIns="0" bIns="0" rtlCol="0" anchor="ctr"/>
          <a:lstStyle/>
          <a:p>
            <a:pPr algn="ctr" indent="0" marL="0">
              <a:buNone/>
            </a:pPr>
            <a:r>
              <a:rPr lang="en-US" sz="1400" dirty="0">
                <a:solidFill>
                  <a:srgbClr val="5EEAD4"/>
                </a:solidFill>
                <a:latin typeface="Calibri" pitchFamily="34" charset="0"/>
                <a:ea typeface="Calibri" pitchFamily="34" charset="-122"/>
                <a:cs typeface="Calibri" pitchFamily="34" charset="-120"/>
              </a:rPr>
              <a:t>phần chính</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200" b="1" spc="300" kern="0" dirty="0">
                <a:solidFill>
                  <a:srgbClr val="0D9488"/>
                </a:solidFill>
                <a:latin typeface="Calibri" pitchFamily="34" charset="0"/>
                <a:ea typeface="Calibri" pitchFamily="34" charset="-122"/>
                <a:cs typeface="Calibri" pitchFamily="34" charset="-120"/>
              </a:rPr>
              <a:t>ĐẶT VẤN ĐỀ</a:t>
            </a:r>
            <a:endParaRPr lang="en-US" sz="1200" dirty="0"/>
          </a:p>
        </p:txBody>
      </p:sp>
      <p:sp>
        <p:nvSpPr>
          <p:cNvPr id="3" name="Text 1"/>
          <p:cNvSpPr/>
          <p:nvPr/>
        </p:nvSpPr>
        <p:spPr>
          <a:xfrm>
            <a:off x="548640" y="822960"/>
            <a:ext cx="10698480" cy="822960"/>
          </a:xfrm>
          <a:prstGeom prst="rect">
            <a:avLst/>
          </a:prstGeom>
          <a:noFill/>
          <a:ln/>
        </p:spPr>
        <p:txBody>
          <a:bodyPr wrap="square" lIns="0" tIns="0" rIns="0" bIns="0" rtlCol="0" anchor="ctr"/>
          <a:lstStyle/>
          <a:p>
            <a:pPr algn="l" indent="0" marL="0">
              <a:buNone/>
            </a:pPr>
            <a:r>
              <a:rPr lang="en-US" sz="3100" b="1" dirty="0">
                <a:solidFill>
                  <a:srgbClr val="1E293B"/>
                </a:solidFill>
                <a:latin typeface="Georgia" pitchFamily="34" charset="0"/>
                <a:ea typeface="Georgia" pitchFamily="34" charset="-122"/>
                <a:cs typeface="Georgia" pitchFamily="34" charset="-120"/>
              </a:rPr>
              <a:t>Vì sao cần đề tài này?</a:t>
            </a:r>
            <a:endParaRPr lang="en-US" sz="31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Hệ thống học tập trực tuyến với AI</a:t>
            </a:r>
            <a:endParaRPr lang="en-US" sz="900" dirty="0"/>
          </a:p>
        </p:txBody>
      </p:sp>
      <p:sp>
        <p:nvSpPr>
          <p:cNvPr id="5" name="Text 3"/>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548640" y="1965960"/>
            <a:ext cx="3566160" cy="3474720"/>
          </a:xfrm>
          <a:prstGeom prst="roundRect">
            <a:avLst>
              <a:gd name="adj" fmla="val 3158"/>
            </a:avLst>
          </a:prstGeom>
          <a:solidFill>
            <a:srgbClr val="F1F5F9"/>
          </a:solidFill>
          <a:ln/>
          <a:effectLst>
            <a:outerShdw sx="100000" sy="100000" kx="0" ky="0" algn="bl" rotWithShape="0" blurRad="101600" dist="38100" dir="8100000">
              <a:srgbClr val="0B2E33">
                <a:alpha val="12000"/>
              </a:srgbClr>
            </a:outerShdw>
          </a:effectLst>
        </p:spPr>
      </p:sp>
      <p:sp>
        <p:nvSpPr>
          <p:cNvPr id="7" name="Shape 5"/>
          <p:cNvSpPr/>
          <p:nvPr/>
        </p:nvSpPr>
        <p:spPr>
          <a:xfrm>
            <a:off x="868680" y="2258568"/>
            <a:ext cx="731520" cy="73152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8" name="Image 0" descr="preencoded.png">    </p:cNvPr>
          <p:cNvPicPr>
            <a:picLocks noChangeAspect="1"/>
          </p:cNvPicPr>
          <p:nvPr/>
        </p:nvPicPr>
        <p:blipFill>
          <a:blip r:embed="rId1"/>
          <a:stretch>
            <a:fillRect/>
          </a:stretch>
        </p:blipFill>
        <p:spPr>
          <a:xfrm>
            <a:off x="1051560" y="2441448"/>
            <a:ext cx="365760" cy="365760"/>
          </a:xfrm>
          <a:prstGeom prst="rect">
            <a:avLst/>
          </a:prstGeom>
        </p:spPr>
      </p:pic>
      <p:sp>
        <p:nvSpPr>
          <p:cNvPr id="9" name="Text 6"/>
          <p:cNvSpPr/>
          <p:nvPr/>
        </p:nvSpPr>
        <p:spPr>
          <a:xfrm>
            <a:off x="868680" y="3108960"/>
            <a:ext cx="3017520" cy="548640"/>
          </a:xfrm>
          <a:prstGeom prst="rect">
            <a:avLst/>
          </a:prstGeom>
          <a:noFill/>
          <a:ln/>
        </p:spPr>
        <p:txBody>
          <a:bodyPr wrap="square" lIns="0" tIns="0" rIns="0" bIns="0" rtlCol="0" anchor="ctr"/>
          <a:lstStyle/>
          <a:p>
            <a:pPr indent="0" marL="0">
              <a:buNone/>
            </a:pPr>
            <a:r>
              <a:rPr lang="en-US" sz="1700" b="1" dirty="0">
                <a:solidFill>
                  <a:srgbClr val="1E293B"/>
                </a:solidFill>
                <a:latin typeface="Georgia" pitchFamily="34" charset="0"/>
                <a:ea typeface="Georgia" pitchFamily="34" charset="-122"/>
                <a:cs typeface="Georgia" pitchFamily="34" charset="-120"/>
              </a:rPr>
              <a:t>Khó kiểm soát tập trung</a:t>
            </a:r>
            <a:endParaRPr lang="en-US" sz="1700" dirty="0"/>
          </a:p>
        </p:txBody>
      </p:sp>
      <p:sp>
        <p:nvSpPr>
          <p:cNvPr id="10" name="Text 7"/>
          <p:cNvSpPr/>
          <p:nvPr/>
        </p:nvSpPr>
        <p:spPr>
          <a:xfrm>
            <a:off x="868680" y="3703320"/>
            <a:ext cx="3017520" cy="1645920"/>
          </a:xfrm>
          <a:prstGeom prst="rect">
            <a:avLst/>
          </a:prstGeom>
          <a:noFill/>
          <a:ln/>
        </p:spPr>
        <p:txBody>
          <a:bodyPr wrap="square" lIns="0" tIns="0" rIns="0" bIns="0" rtlCol="0" anchor="ctr"/>
          <a:lstStyle/>
          <a:p>
            <a:pPr indent="0" marL="0">
              <a:lnSpc>
                <a:spcPts val="1800"/>
              </a:lnSpc>
              <a:buNone/>
            </a:pPr>
            <a:r>
              <a:rPr lang="en-US" sz="1300" dirty="0">
                <a:solidFill>
                  <a:srgbClr val="64748B"/>
                </a:solidFill>
                <a:latin typeface="Calibri" pitchFamily="34" charset="0"/>
                <a:ea typeface="Calibri" pitchFamily="34" charset="-122"/>
                <a:cs typeface="Calibri" pitchFamily="34" charset="-120"/>
              </a:rPr>
              <a:t>Học online thiếu giám sát, người học dễ mất tập trung, buồn ngủ mà không ai nhắc nhở.</a:t>
            </a:r>
            <a:endParaRPr lang="en-US" sz="1300" dirty="0"/>
          </a:p>
        </p:txBody>
      </p:sp>
      <p:sp>
        <p:nvSpPr>
          <p:cNvPr id="11" name="Shape 8"/>
          <p:cNvSpPr/>
          <p:nvPr/>
        </p:nvSpPr>
        <p:spPr>
          <a:xfrm>
            <a:off x="4297680" y="1965960"/>
            <a:ext cx="3566160" cy="3474720"/>
          </a:xfrm>
          <a:prstGeom prst="roundRect">
            <a:avLst>
              <a:gd name="adj" fmla="val 3158"/>
            </a:avLst>
          </a:prstGeom>
          <a:solidFill>
            <a:srgbClr val="F1F5F9"/>
          </a:solidFill>
          <a:ln/>
          <a:effectLst>
            <a:outerShdw sx="100000" sy="100000" kx="0" ky="0" algn="bl" rotWithShape="0" blurRad="101600" dist="38100" dir="8100000">
              <a:srgbClr val="0B2E33">
                <a:alpha val="12000"/>
              </a:srgbClr>
            </a:outerShdw>
          </a:effectLst>
        </p:spPr>
      </p:sp>
      <p:sp>
        <p:nvSpPr>
          <p:cNvPr id="12" name="Shape 9"/>
          <p:cNvSpPr/>
          <p:nvPr/>
        </p:nvSpPr>
        <p:spPr>
          <a:xfrm>
            <a:off x="4617720" y="2258568"/>
            <a:ext cx="731520" cy="73152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13" name="Image 1" descr="preencoded.png">    </p:cNvPr>
          <p:cNvPicPr>
            <a:picLocks noChangeAspect="1"/>
          </p:cNvPicPr>
          <p:nvPr/>
        </p:nvPicPr>
        <p:blipFill>
          <a:blip r:embed="rId2"/>
          <a:stretch>
            <a:fillRect/>
          </a:stretch>
        </p:blipFill>
        <p:spPr>
          <a:xfrm>
            <a:off x="4800600" y="2441448"/>
            <a:ext cx="365760" cy="365760"/>
          </a:xfrm>
          <a:prstGeom prst="rect">
            <a:avLst/>
          </a:prstGeom>
        </p:spPr>
      </p:pic>
      <p:sp>
        <p:nvSpPr>
          <p:cNvPr id="14" name="Text 10"/>
          <p:cNvSpPr/>
          <p:nvPr/>
        </p:nvSpPr>
        <p:spPr>
          <a:xfrm>
            <a:off x="4617720" y="3108960"/>
            <a:ext cx="3017520" cy="548640"/>
          </a:xfrm>
          <a:prstGeom prst="rect">
            <a:avLst/>
          </a:prstGeom>
          <a:noFill/>
          <a:ln/>
        </p:spPr>
        <p:txBody>
          <a:bodyPr wrap="square" lIns="0" tIns="0" rIns="0" bIns="0" rtlCol="0" anchor="ctr"/>
          <a:lstStyle/>
          <a:p>
            <a:pPr indent="0" marL="0">
              <a:buNone/>
            </a:pPr>
            <a:r>
              <a:rPr lang="en-US" sz="1700" b="1" dirty="0">
                <a:solidFill>
                  <a:srgbClr val="1E293B"/>
                </a:solidFill>
                <a:latin typeface="Georgia" pitchFamily="34" charset="0"/>
                <a:ea typeface="Georgia" pitchFamily="34" charset="-122"/>
                <a:cs typeface="Georgia" pitchFamily="34" charset="-120"/>
              </a:rPr>
              <a:t>Bài kiểm tra cố định</a:t>
            </a:r>
            <a:endParaRPr lang="en-US" sz="1700" dirty="0"/>
          </a:p>
        </p:txBody>
      </p:sp>
      <p:sp>
        <p:nvSpPr>
          <p:cNvPr id="15" name="Text 11"/>
          <p:cNvSpPr/>
          <p:nvPr/>
        </p:nvSpPr>
        <p:spPr>
          <a:xfrm>
            <a:off x="4617720" y="3703320"/>
            <a:ext cx="3017520" cy="1645920"/>
          </a:xfrm>
          <a:prstGeom prst="rect">
            <a:avLst/>
          </a:prstGeom>
          <a:noFill/>
          <a:ln/>
        </p:spPr>
        <p:txBody>
          <a:bodyPr wrap="square" lIns="0" tIns="0" rIns="0" bIns="0" rtlCol="0" anchor="ctr"/>
          <a:lstStyle/>
          <a:p>
            <a:pPr indent="0" marL="0">
              <a:lnSpc>
                <a:spcPts val="1800"/>
              </a:lnSpc>
              <a:buNone/>
            </a:pPr>
            <a:r>
              <a:rPr lang="en-US" sz="1300" dirty="0">
                <a:solidFill>
                  <a:srgbClr val="64748B"/>
                </a:solidFill>
                <a:latin typeface="Calibri" pitchFamily="34" charset="0"/>
                <a:ea typeface="Calibri" pitchFamily="34" charset="-122"/>
                <a:cs typeface="Calibri" pitchFamily="34" charset="-120"/>
              </a:rPr>
              <a:t>Quiz truyền thống dùng chung một bộ đề, không phù hợp với năng lực từng người.</a:t>
            </a:r>
            <a:endParaRPr lang="en-US" sz="1300" dirty="0"/>
          </a:p>
        </p:txBody>
      </p:sp>
      <p:sp>
        <p:nvSpPr>
          <p:cNvPr id="16" name="Shape 12"/>
          <p:cNvSpPr/>
          <p:nvPr/>
        </p:nvSpPr>
        <p:spPr>
          <a:xfrm>
            <a:off x="8046720" y="1965960"/>
            <a:ext cx="3566160" cy="3474720"/>
          </a:xfrm>
          <a:prstGeom prst="roundRect">
            <a:avLst>
              <a:gd name="adj" fmla="val 3158"/>
            </a:avLst>
          </a:prstGeom>
          <a:solidFill>
            <a:srgbClr val="F1F5F9"/>
          </a:solidFill>
          <a:ln/>
          <a:effectLst>
            <a:outerShdw sx="100000" sy="100000" kx="0" ky="0" algn="bl" rotWithShape="0" blurRad="101600" dist="38100" dir="8100000">
              <a:srgbClr val="0B2E33">
                <a:alpha val="12000"/>
              </a:srgbClr>
            </a:outerShdw>
          </a:effectLst>
        </p:spPr>
      </p:sp>
      <p:sp>
        <p:nvSpPr>
          <p:cNvPr id="17" name="Shape 13"/>
          <p:cNvSpPr/>
          <p:nvPr/>
        </p:nvSpPr>
        <p:spPr>
          <a:xfrm>
            <a:off x="8366760" y="2258568"/>
            <a:ext cx="731520" cy="73152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18" name="Image 2" descr="preencoded.png">    </p:cNvPr>
          <p:cNvPicPr>
            <a:picLocks noChangeAspect="1"/>
          </p:cNvPicPr>
          <p:nvPr/>
        </p:nvPicPr>
        <p:blipFill>
          <a:blip r:embed="rId3"/>
          <a:stretch>
            <a:fillRect/>
          </a:stretch>
        </p:blipFill>
        <p:spPr>
          <a:xfrm>
            <a:off x="8549640" y="2441448"/>
            <a:ext cx="365760" cy="365760"/>
          </a:xfrm>
          <a:prstGeom prst="rect">
            <a:avLst/>
          </a:prstGeom>
        </p:spPr>
      </p:pic>
      <p:sp>
        <p:nvSpPr>
          <p:cNvPr id="19" name="Text 14"/>
          <p:cNvSpPr/>
          <p:nvPr/>
        </p:nvSpPr>
        <p:spPr>
          <a:xfrm>
            <a:off x="8366760" y="3108960"/>
            <a:ext cx="3017520" cy="548640"/>
          </a:xfrm>
          <a:prstGeom prst="rect">
            <a:avLst/>
          </a:prstGeom>
          <a:noFill/>
          <a:ln/>
        </p:spPr>
        <p:txBody>
          <a:bodyPr wrap="square" lIns="0" tIns="0" rIns="0" bIns="0" rtlCol="0" anchor="ctr"/>
          <a:lstStyle/>
          <a:p>
            <a:pPr indent="0" marL="0">
              <a:buNone/>
            </a:pPr>
            <a:r>
              <a:rPr lang="en-US" sz="1700" b="1" dirty="0">
                <a:solidFill>
                  <a:srgbClr val="1E293B"/>
                </a:solidFill>
                <a:latin typeface="Georgia" pitchFamily="34" charset="0"/>
                <a:ea typeface="Georgia" pitchFamily="34" charset="-122"/>
                <a:cs typeface="Georgia" pitchFamily="34" charset="-120"/>
              </a:rPr>
              <a:t>Thiếu dữ liệu phản hồi</a:t>
            </a:r>
            <a:endParaRPr lang="en-US" sz="1700" dirty="0"/>
          </a:p>
        </p:txBody>
      </p:sp>
      <p:sp>
        <p:nvSpPr>
          <p:cNvPr id="20" name="Text 15"/>
          <p:cNvSpPr/>
          <p:nvPr/>
        </p:nvSpPr>
        <p:spPr>
          <a:xfrm>
            <a:off x="8366760" y="3703320"/>
            <a:ext cx="3017520" cy="1645920"/>
          </a:xfrm>
          <a:prstGeom prst="rect">
            <a:avLst/>
          </a:prstGeom>
          <a:noFill/>
          <a:ln/>
        </p:spPr>
        <p:txBody>
          <a:bodyPr wrap="square" lIns="0" tIns="0" rIns="0" bIns="0" rtlCol="0" anchor="ctr"/>
          <a:lstStyle/>
          <a:p>
            <a:pPr indent="0" marL="0">
              <a:lnSpc>
                <a:spcPts val="1800"/>
              </a:lnSpc>
              <a:buNone/>
            </a:pPr>
            <a:r>
              <a:rPr lang="en-US" sz="1300" dirty="0">
                <a:solidFill>
                  <a:srgbClr val="64748B"/>
                </a:solidFill>
                <a:latin typeface="Calibri" pitchFamily="34" charset="0"/>
                <a:ea typeface="Calibri" pitchFamily="34" charset="-122"/>
                <a:cs typeface="Calibri" pitchFamily="34" charset="-120"/>
              </a:rPr>
              <a:t>Giảng viên khó biết người học yếu ở đâu để đưa ra gợi ý cải thiện kịp thời.</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200" b="1" spc="300" kern="0" dirty="0">
                <a:solidFill>
                  <a:srgbClr val="0D9488"/>
                </a:solidFill>
                <a:latin typeface="Calibri" pitchFamily="34" charset="0"/>
                <a:ea typeface="Calibri" pitchFamily="34" charset="-122"/>
                <a:cs typeface="Calibri" pitchFamily="34" charset="-120"/>
              </a:rPr>
              <a:t>THỰC TRẠNG</a:t>
            </a:r>
            <a:endParaRPr lang="en-US" sz="1200" dirty="0"/>
          </a:p>
        </p:txBody>
      </p:sp>
      <p:sp>
        <p:nvSpPr>
          <p:cNvPr id="3" name="Text 1"/>
          <p:cNvSpPr/>
          <p:nvPr/>
        </p:nvSpPr>
        <p:spPr>
          <a:xfrm>
            <a:off x="548640" y="822960"/>
            <a:ext cx="10698480" cy="822960"/>
          </a:xfrm>
          <a:prstGeom prst="rect">
            <a:avLst/>
          </a:prstGeom>
          <a:noFill/>
          <a:ln/>
        </p:spPr>
        <p:txBody>
          <a:bodyPr wrap="square" lIns="0" tIns="0" rIns="0" bIns="0" rtlCol="0" anchor="ctr"/>
          <a:lstStyle/>
          <a:p>
            <a:pPr algn="l" indent="0" marL="0">
              <a:buNone/>
            </a:pPr>
            <a:r>
              <a:rPr lang="en-US" sz="3100" b="1" dirty="0">
                <a:solidFill>
                  <a:srgbClr val="1E293B"/>
                </a:solidFill>
                <a:latin typeface="Georgia" pitchFamily="34" charset="0"/>
                <a:ea typeface="Georgia" pitchFamily="34" charset="-122"/>
                <a:cs typeface="Georgia" pitchFamily="34" charset="-120"/>
              </a:rPr>
              <a:t>Học trực tuyến — cơ hội và thách thức</a:t>
            </a:r>
            <a:endParaRPr lang="en-US" sz="31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Hệ thống học tập trực tuyến với AI</a:t>
            </a:r>
            <a:endParaRPr lang="en-US" sz="900" dirty="0"/>
          </a:p>
        </p:txBody>
      </p:sp>
      <p:sp>
        <p:nvSpPr>
          <p:cNvPr id="5" name="Text 3"/>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548640" y="2011680"/>
            <a:ext cx="3566160" cy="2377440"/>
          </a:xfrm>
          <a:prstGeom prst="roundRect">
            <a:avLst>
              <a:gd name="adj" fmla="val 4615"/>
            </a:avLst>
          </a:prstGeom>
          <a:solidFill>
            <a:srgbClr val="F1F5F9"/>
          </a:solidFill>
          <a:ln/>
          <a:effectLst>
            <a:outerShdw sx="100000" sy="100000" kx="0" ky="0" algn="bl" rotWithShape="0" blurRad="101600" dist="38100" dir="8100000">
              <a:srgbClr val="0B2E33">
                <a:alpha val="12000"/>
              </a:srgbClr>
            </a:outerShdw>
          </a:effectLst>
        </p:spPr>
      </p:sp>
      <p:sp>
        <p:nvSpPr>
          <p:cNvPr id="7" name="Text 5"/>
          <p:cNvSpPr/>
          <p:nvPr/>
        </p:nvSpPr>
        <p:spPr>
          <a:xfrm>
            <a:off x="548640" y="2240280"/>
            <a:ext cx="3566160" cy="1005840"/>
          </a:xfrm>
          <a:prstGeom prst="rect">
            <a:avLst/>
          </a:prstGeom>
          <a:noFill/>
          <a:ln/>
        </p:spPr>
        <p:txBody>
          <a:bodyPr wrap="square" lIns="0" tIns="0" rIns="0" bIns="0" rtlCol="0" anchor="ctr"/>
          <a:lstStyle/>
          <a:p>
            <a:pPr algn="ctr" indent="0" marL="0">
              <a:buNone/>
            </a:pPr>
            <a:r>
              <a:rPr lang="en-US" sz="5000" b="1" dirty="0">
                <a:solidFill>
                  <a:srgbClr val="F4A259"/>
                </a:solidFill>
                <a:latin typeface="Georgia" pitchFamily="34" charset="0"/>
                <a:ea typeface="Georgia" pitchFamily="34" charset="-122"/>
                <a:cs typeface="Georgia" pitchFamily="34" charset="-120"/>
              </a:rPr>
              <a:t>70%</a:t>
            </a:r>
            <a:endParaRPr lang="en-US" sz="5000" dirty="0"/>
          </a:p>
        </p:txBody>
      </p:sp>
      <p:sp>
        <p:nvSpPr>
          <p:cNvPr id="8" name="Text 6"/>
          <p:cNvSpPr/>
          <p:nvPr/>
        </p:nvSpPr>
        <p:spPr>
          <a:xfrm>
            <a:off x="777240" y="3291840"/>
            <a:ext cx="3108960" cy="914400"/>
          </a:xfrm>
          <a:prstGeom prst="rect">
            <a:avLst/>
          </a:prstGeom>
          <a:noFill/>
          <a:ln/>
        </p:spPr>
        <p:txBody>
          <a:bodyPr wrap="square" lIns="0" tIns="0" rIns="0" bIns="0" rtlCol="0" anchor="ctr"/>
          <a:lstStyle/>
          <a:p>
            <a:pPr algn="ctr" indent="0" marL="0">
              <a:lnSpc>
                <a:spcPts val="1800"/>
              </a:lnSpc>
              <a:buNone/>
            </a:pPr>
            <a:r>
              <a:rPr lang="en-US" sz="1350" dirty="0">
                <a:solidFill>
                  <a:srgbClr val="1E293B"/>
                </a:solidFill>
                <a:latin typeface="Calibri" pitchFamily="34" charset="0"/>
                <a:ea typeface="Calibri" pitchFamily="34" charset="-122"/>
                <a:cs typeface="Calibri" pitchFamily="34" charset="-120"/>
              </a:rPr>
              <a:t>người học tự nhận</a:t>
            </a:r>
            <a:endParaRPr lang="en-US" sz="1350" dirty="0"/>
          </a:p>
          <a:p>
            <a:pPr algn="ctr" indent="0" marL="0">
              <a:lnSpc>
                <a:spcPts val="1800"/>
              </a:lnSpc>
              <a:buNone/>
            </a:pPr>
            <a:r>
              <a:rPr lang="en-US" sz="1350" dirty="0">
                <a:solidFill>
                  <a:srgbClr val="1E293B"/>
                </a:solidFill>
                <a:latin typeface="Calibri" pitchFamily="34" charset="0"/>
                <a:ea typeface="Calibri" pitchFamily="34" charset="-122"/>
                <a:cs typeface="Calibri" pitchFamily="34" charset="-120"/>
              </a:rPr>
              <a:t>dễ mất tập trung khi học online</a:t>
            </a:r>
            <a:endParaRPr lang="en-US" sz="1350" dirty="0"/>
          </a:p>
        </p:txBody>
      </p:sp>
      <p:sp>
        <p:nvSpPr>
          <p:cNvPr id="9" name="Shape 7"/>
          <p:cNvSpPr/>
          <p:nvPr/>
        </p:nvSpPr>
        <p:spPr>
          <a:xfrm>
            <a:off x="4297680" y="2011680"/>
            <a:ext cx="3566160" cy="2377440"/>
          </a:xfrm>
          <a:prstGeom prst="roundRect">
            <a:avLst>
              <a:gd name="adj" fmla="val 4615"/>
            </a:avLst>
          </a:prstGeom>
          <a:solidFill>
            <a:srgbClr val="E8F3F2"/>
          </a:solidFill>
          <a:ln/>
          <a:effectLst>
            <a:outerShdw sx="100000" sy="100000" kx="0" ky="0" algn="bl" rotWithShape="0" blurRad="101600" dist="38100" dir="8100000">
              <a:srgbClr val="0B2E33">
                <a:alpha val="12000"/>
              </a:srgbClr>
            </a:outerShdw>
          </a:effectLst>
        </p:spPr>
      </p:sp>
      <p:sp>
        <p:nvSpPr>
          <p:cNvPr id="10" name="Text 8"/>
          <p:cNvSpPr/>
          <p:nvPr/>
        </p:nvSpPr>
        <p:spPr>
          <a:xfrm>
            <a:off x="4297680" y="2240280"/>
            <a:ext cx="3566160" cy="1005840"/>
          </a:xfrm>
          <a:prstGeom prst="rect">
            <a:avLst/>
          </a:prstGeom>
          <a:noFill/>
          <a:ln/>
        </p:spPr>
        <p:txBody>
          <a:bodyPr wrap="square" lIns="0" tIns="0" rIns="0" bIns="0" rtlCol="0" anchor="ctr"/>
          <a:lstStyle/>
          <a:p>
            <a:pPr algn="ctr" indent="0" marL="0">
              <a:buNone/>
            </a:pPr>
            <a:r>
              <a:rPr lang="en-US" sz="5000" b="1" dirty="0">
                <a:solidFill>
                  <a:srgbClr val="0D9488"/>
                </a:solidFill>
                <a:latin typeface="Georgia" pitchFamily="34" charset="0"/>
                <a:ea typeface="Georgia" pitchFamily="34" charset="-122"/>
                <a:cs typeface="Georgia" pitchFamily="34" charset="-120"/>
              </a:rPr>
              <a:t>1 đề</a:t>
            </a:r>
            <a:endParaRPr lang="en-US" sz="5000" dirty="0"/>
          </a:p>
        </p:txBody>
      </p:sp>
      <p:sp>
        <p:nvSpPr>
          <p:cNvPr id="11" name="Text 9"/>
          <p:cNvSpPr/>
          <p:nvPr/>
        </p:nvSpPr>
        <p:spPr>
          <a:xfrm>
            <a:off x="4526280" y="3291840"/>
            <a:ext cx="3108960" cy="914400"/>
          </a:xfrm>
          <a:prstGeom prst="rect">
            <a:avLst/>
          </a:prstGeom>
          <a:noFill/>
          <a:ln/>
        </p:spPr>
        <p:txBody>
          <a:bodyPr wrap="square" lIns="0" tIns="0" rIns="0" bIns="0" rtlCol="0" anchor="ctr"/>
          <a:lstStyle/>
          <a:p>
            <a:pPr algn="ctr" indent="0" marL="0">
              <a:lnSpc>
                <a:spcPts val="1800"/>
              </a:lnSpc>
              <a:buNone/>
            </a:pPr>
            <a:r>
              <a:rPr lang="en-US" sz="1350" dirty="0">
                <a:solidFill>
                  <a:srgbClr val="1E293B"/>
                </a:solidFill>
                <a:latin typeface="Calibri" pitchFamily="34" charset="0"/>
                <a:ea typeface="Calibri" pitchFamily="34" charset="-122"/>
                <a:cs typeface="Calibri" pitchFamily="34" charset="-120"/>
              </a:rPr>
              <a:t>dùng chung cho mọi trình độ</a:t>
            </a:r>
            <a:endParaRPr lang="en-US" sz="1350" dirty="0"/>
          </a:p>
          <a:p>
            <a:pPr algn="ctr" indent="0" marL="0">
              <a:lnSpc>
                <a:spcPts val="1800"/>
              </a:lnSpc>
              <a:buNone/>
            </a:pPr>
            <a:r>
              <a:rPr lang="en-US" sz="1350" dirty="0">
                <a:solidFill>
                  <a:srgbClr val="1E293B"/>
                </a:solidFill>
                <a:latin typeface="Calibri" pitchFamily="34" charset="0"/>
                <a:ea typeface="Calibri" pitchFamily="34" charset="-122"/>
                <a:cs typeface="Calibri" pitchFamily="34" charset="-120"/>
              </a:rPr>
              <a:t>ở quiz truyền thống</a:t>
            </a:r>
            <a:endParaRPr lang="en-US" sz="1350" dirty="0"/>
          </a:p>
        </p:txBody>
      </p:sp>
      <p:sp>
        <p:nvSpPr>
          <p:cNvPr id="12" name="Shape 10"/>
          <p:cNvSpPr/>
          <p:nvPr/>
        </p:nvSpPr>
        <p:spPr>
          <a:xfrm>
            <a:off x="8046720" y="2011680"/>
            <a:ext cx="3566160" cy="2377440"/>
          </a:xfrm>
          <a:prstGeom prst="roundRect">
            <a:avLst>
              <a:gd name="adj" fmla="val 4615"/>
            </a:avLst>
          </a:prstGeom>
          <a:solidFill>
            <a:srgbClr val="F1F5F9"/>
          </a:solidFill>
          <a:ln/>
          <a:effectLst>
            <a:outerShdw sx="100000" sy="100000" kx="0" ky="0" algn="bl" rotWithShape="0" blurRad="101600" dist="38100" dir="8100000">
              <a:srgbClr val="0B2E33">
                <a:alpha val="12000"/>
              </a:srgbClr>
            </a:outerShdw>
          </a:effectLst>
        </p:spPr>
      </p:sp>
      <p:sp>
        <p:nvSpPr>
          <p:cNvPr id="13" name="Text 11"/>
          <p:cNvSpPr/>
          <p:nvPr/>
        </p:nvSpPr>
        <p:spPr>
          <a:xfrm>
            <a:off x="8046720" y="2240280"/>
            <a:ext cx="3566160" cy="1005840"/>
          </a:xfrm>
          <a:prstGeom prst="rect">
            <a:avLst/>
          </a:prstGeom>
          <a:noFill/>
          <a:ln/>
        </p:spPr>
        <p:txBody>
          <a:bodyPr wrap="square" lIns="0" tIns="0" rIns="0" bIns="0" rtlCol="0" anchor="ctr"/>
          <a:lstStyle/>
          <a:p>
            <a:pPr algn="ctr" indent="0" marL="0">
              <a:buNone/>
            </a:pPr>
            <a:r>
              <a:rPr lang="en-US" sz="5000" b="1" dirty="0">
                <a:solidFill>
                  <a:srgbClr val="0B2E33"/>
                </a:solidFill>
                <a:latin typeface="Georgia" pitchFamily="34" charset="0"/>
                <a:ea typeface="Georgia" pitchFamily="34" charset="-122"/>
                <a:cs typeface="Georgia" pitchFamily="34" charset="-120"/>
              </a:rPr>
              <a:t>0</a:t>
            </a:r>
            <a:endParaRPr lang="en-US" sz="5000" dirty="0"/>
          </a:p>
        </p:txBody>
      </p:sp>
      <p:sp>
        <p:nvSpPr>
          <p:cNvPr id="14" name="Text 12"/>
          <p:cNvSpPr/>
          <p:nvPr/>
        </p:nvSpPr>
        <p:spPr>
          <a:xfrm>
            <a:off x="8275320" y="3291840"/>
            <a:ext cx="3108960" cy="914400"/>
          </a:xfrm>
          <a:prstGeom prst="rect">
            <a:avLst/>
          </a:prstGeom>
          <a:noFill/>
          <a:ln/>
        </p:spPr>
        <p:txBody>
          <a:bodyPr wrap="square" lIns="0" tIns="0" rIns="0" bIns="0" rtlCol="0" anchor="ctr"/>
          <a:lstStyle/>
          <a:p>
            <a:pPr algn="ctr" indent="0" marL="0">
              <a:lnSpc>
                <a:spcPts val="1800"/>
              </a:lnSpc>
              <a:buNone/>
            </a:pPr>
            <a:r>
              <a:rPr lang="en-US" sz="1350" dirty="0">
                <a:solidFill>
                  <a:srgbClr val="1E293B"/>
                </a:solidFill>
                <a:latin typeface="Calibri" pitchFamily="34" charset="0"/>
                <a:ea typeface="Calibri" pitchFamily="34" charset="-122"/>
                <a:cs typeface="Calibri" pitchFamily="34" charset="-120"/>
              </a:rPr>
              <a:t>phản hồi cá nhân hóa</a:t>
            </a:r>
            <a:endParaRPr lang="en-US" sz="1350" dirty="0"/>
          </a:p>
          <a:p>
            <a:pPr algn="ctr" indent="0" marL="0">
              <a:lnSpc>
                <a:spcPts val="1800"/>
              </a:lnSpc>
              <a:buNone/>
            </a:pPr>
            <a:r>
              <a:rPr lang="en-US" sz="1350" dirty="0">
                <a:solidFill>
                  <a:srgbClr val="1E293B"/>
                </a:solidFill>
                <a:latin typeface="Calibri" pitchFamily="34" charset="0"/>
                <a:ea typeface="Calibri" pitchFamily="34" charset="-122"/>
                <a:cs typeface="Calibri" pitchFamily="34" charset="-120"/>
              </a:rPr>
              <a:t>trong phần lớn hệ thống hiện nay</a:t>
            </a:r>
            <a:endParaRPr lang="en-US" sz="1350" dirty="0"/>
          </a:p>
        </p:txBody>
      </p:sp>
      <p:sp>
        <p:nvSpPr>
          <p:cNvPr id="15" name="Shape 13"/>
          <p:cNvSpPr/>
          <p:nvPr/>
        </p:nvSpPr>
        <p:spPr>
          <a:xfrm>
            <a:off x="548640" y="4709160"/>
            <a:ext cx="11064240" cy="1143000"/>
          </a:xfrm>
          <a:prstGeom prst="roundRect">
            <a:avLst>
              <a:gd name="adj" fmla="val 9600"/>
            </a:avLst>
          </a:prstGeom>
          <a:solidFill>
            <a:srgbClr val="0B2E33"/>
          </a:solidFill>
          <a:ln/>
        </p:spPr>
      </p:sp>
      <p:sp>
        <p:nvSpPr>
          <p:cNvPr id="16" name="Text 14"/>
          <p:cNvSpPr/>
          <p:nvPr/>
        </p:nvSpPr>
        <p:spPr>
          <a:xfrm>
            <a:off x="914400" y="4709160"/>
            <a:ext cx="10332720" cy="1143000"/>
          </a:xfrm>
          <a:prstGeom prst="rect">
            <a:avLst/>
          </a:prstGeom>
          <a:noFill/>
          <a:ln/>
        </p:spPr>
        <p:txBody>
          <a:bodyPr wrap="square" lIns="0" tIns="0" rIns="0" bIns="0" rtlCol="0" anchor="ctr"/>
          <a:lstStyle/>
          <a:p>
            <a:pPr indent="0" marL="0">
              <a:lnSpc>
                <a:spcPts val="2200"/>
              </a:lnSpc>
              <a:buNone/>
            </a:pPr>
            <a:r>
              <a:rPr lang="en-US" sz="1550" b="1" dirty="0">
                <a:solidFill>
                  <a:srgbClr val="5EEAD4"/>
                </a:solidFill>
                <a:latin typeface="Calibri" pitchFamily="34" charset="0"/>
                <a:ea typeface="Calibri" pitchFamily="34" charset="-122"/>
                <a:cs typeface="Calibri" pitchFamily="34" charset="-120"/>
              </a:rPr>
              <a:t>Khoảng trống:  </a:t>
            </a:r>
            <a:pPr indent="0" marL="0">
              <a:lnSpc>
                <a:spcPts val="2200"/>
              </a:lnSpc>
              <a:buNone/>
            </a:pPr>
            <a:r>
              <a:rPr lang="en-US" sz="1550" dirty="0">
                <a:solidFill>
                  <a:srgbClr val="E2E8F0"/>
                </a:solidFill>
                <a:latin typeface="Calibri" pitchFamily="34" charset="0"/>
                <a:ea typeface="Calibri" pitchFamily="34" charset="-122"/>
                <a:cs typeface="Calibri" pitchFamily="34" charset="-120"/>
              </a:rPr>
              <a:t>cần một hệ thống vừa giám sát sự tập trung, vừa cá nhân hóa bài kiểm tra theo năng lực của từng người học.</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200" b="1" spc="300" kern="0" dirty="0">
                <a:solidFill>
                  <a:srgbClr val="0D9488"/>
                </a:solidFill>
                <a:latin typeface="Calibri" pitchFamily="34" charset="0"/>
                <a:ea typeface="Calibri" pitchFamily="34" charset="-122"/>
                <a:cs typeface="Calibri" pitchFamily="34" charset="-120"/>
              </a:rPr>
              <a:t>MỤC TIÊU</a:t>
            </a:r>
            <a:endParaRPr lang="en-US" sz="1200" dirty="0"/>
          </a:p>
        </p:txBody>
      </p:sp>
      <p:sp>
        <p:nvSpPr>
          <p:cNvPr id="3" name="Text 1"/>
          <p:cNvSpPr/>
          <p:nvPr/>
        </p:nvSpPr>
        <p:spPr>
          <a:xfrm>
            <a:off x="548640" y="822960"/>
            <a:ext cx="10698480" cy="822960"/>
          </a:xfrm>
          <a:prstGeom prst="rect">
            <a:avLst/>
          </a:prstGeom>
          <a:noFill/>
          <a:ln/>
        </p:spPr>
        <p:txBody>
          <a:bodyPr wrap="square" lIns="0" tIns="0" rIns="0" bIns="0" rtlCol="0" anchor="ctr"/>
          <a:lstStyle/>
          <a:p>
            <a:pPr algn="l" indent="0" marL="0">
              <a:buNone/>
            </a:pPr>
            <a:r>
              <a:rPr lang="en-US" sz="3100" b="1" dirty="0">
                <a:solidFill>
                  <a:srgbClr val="1E293B"/>
                </a:solidFill>
                <a:latin typeface="Georgia" pitchFamily="34" charset="0"/>
                <a:ea typeface="Georgia" pitchFamily="34" charset="-122"/>
                <a:cs typeface="Georgia" pitchFamily="34" charset="-120"/>
              </a:rPr>
              <a:t>Hệ thống hướng tới điều gì?</a:t>
            </a:r>
            <a:endParaRPr lang="en-US" sz="31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Hệ thống học tập trực tuyến với AI</a:t>
            </a:r>
            <a:endParaRPr lang="en-US" sz="900" dirty="0"/>
          </a:p>
        </p:txBody>
      </p:sp>
      <p:sp>
        <p:nvSpPr>
          <p:cNvPr id="5" name="Text 3"/>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548640" y="1920240"/>
            <a:ext cx="3566160" cy="1645920"/>
          </a:xfrm>
          <a:prstGeom prst="roundRect">
            <a:avLst>
              <a:gd name="adj" fmla="val 5556"/>
            </a:avLst>
          </a:prstGeom>
          <a:solidFill>
            <a:srgbClr val="E8F3F2"/>
          </a:solidFill>
          <a:ln/>
        </p:spPr>
      </p:sp>
      <p:sp>
        <p:nvSpPr>
          <p:cNvPr id="7" name="Shape 5"/>
          <p:cNvSpPr/>
          <p:nvPr/>
        </p:nvSpPr>
        <p:spPr>
          <a:xfrm>
            <a:off x="822960" y="2212848"/>
            <a:ext cx="566928" cy="566928"/>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8" name="Image 0" descr="preencoded.png">    </p:cNvPr>
          <p:cNvPicPr>
            <a:picLocks noChangeAspect="1"/>
          </p:cNvPicPr>
          <p:nvPr/>
        </p:nvPicPr>
        <p:blipFill>
          <a:blip r:embed="rId1"/>
          <a:stretch>
            <a:fillRect/>
          </a:stretch>
        </p:blipFill>
        <p:spPr>
          <a:xfrm>
            <a:off x="964692" y="2354580"/>
            <a:ext cx="283464" cy="283464"/>
          </a:xfrm>
          <a:prstGeom prst="rect">
            <a:avLst/>
          </a:prstGeom>
        </p:spPr>
      </p:pic>
      <p:sp>
        <p:nvSpPr>
          <p:cNvPr id="9" name="Text 6"/>
          <p:cNvSpPr/>
          <p:nvPr/>
        </p:nvSpPr>
        <p:spPr>
          <a:xfrm>
            <a:off x="1554480" y="2194560"/>
            <a:ext cx="2468880" cy="45720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Xem video bài giảng</a:t>
            </a:r>
            <a:endParaRPr lang="en-US" sz="1500" dirty="0"/>
          </a:p>
        </p:txBody>
      </p:sp>
      <p:sp>
        <p:nvSpPr>
          <p:cNvPr id="10" name="Text 7"/>
          <p:cNvSpPr/>
          <p:nvPr/>
        </p:nvSpPr>
        <p:spPr>
          <a:xfrm>
            <a:off x="822960" y="2788920"/>
            <a:ext cx="3108960" cy="68580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Calibri" pitchFamily="34" charset="0"/>
                <a:ea typeface="Calibri" pitchFamily="34" charset="-122"/>
                <a:cs typeface="Calibri" pitchFamily="34" charset="-120"/>
              </a:rPr>
              <a:t>Quản lý khóa học, bài học, theo dõi tiến trình.</a:t>
            </a:r>
            <a:endParaRPr lang="en-US" sz="1150" dirty="0"/>
          </a:p>
        </p:txBody>
      </p:sp>
      <p:sp>
        <p:nvSpPr>
          <p:cNvPr id="11" name="Shape 8"/>
          <p:cNvSpPr/>
          <p:nvPr/>
        </p:nvSpPr>
        <p:spPr>
          <a:xfrm>
            <a:off x="4297680" y="1920240"/>
            <a:ext cx="3566160" cy="1645920"/>
          </a:xfrm>
          <a:prstGeom prst="roundRect">
            <a:avLst>
              <a:gd name="adj" fmla="val 5556"/>
            </a:avLst>
          </a:prstGeom>
          <a:solidFill>
            <a:srgbClr val="F1F5F9"/>
          </a:solidFill>
          <a:ln/>
        </p:spPr>
      </p:sp>
      <p:sp>
        <p:nvSpPr>
          <p:cNvPr id="12" name="Shape 9"/>
          <p:cNvSpPr/>
          <p:nvPr/>
        </p:nvSpPr>
        <p:spPr>
          <a:xfrm>
            <a:off x="4572000" y="2212848"/>
            <a:ext cx="566928" cy="566928"/>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13" name="Image 1" descr="preencoded.png">    </p:cNvPr>
          <p:cNvPicPr>
            <a:picLocks noChangeAspect="1"/>
          </p:cNvPicPr>
          <p:nvPr/>
        </p:nvPicPr>
        <p:blipFill>
          <a:blip r:embed="rId2"/>
          <a:stretch>
            <a:fillRect/>
          </a:stretch>
        </p:blipFill>
        <p:spPr>
          <a:xfrm>
            <a:off x="4713732" y="2354580"/>
            <a:ext cx="283464" cy="283464"/>
          </a:xfrm>
          <a:prstGeom prst="rect">
            <a:avLst/>
          </a:prstGeom>
        </p:spPr>
      </p:pic>
      <p:sp>
        <p:nvSpPr>
          <p:cNvPr id="14" name="Text 10"/>
          <p:cNvSpPr/>
          <p:nvPr/>
        </p:nvSpPr>
        <p:spPr>
          <a:xfrm>
            <a:off x="5303520" y="2194560"/>
            <a:ext cx="2468880" cy="45720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Giám sát tập trung</a:t>
            </a:r>
            <a:endParaRPr lang="en-US" sz="1500" dirty="0"/>
          </a:p>
        </p:txBody>
      </p:sp>
      <p:sp>
        <p:nvSpPr>
          <p:cNvPr id="15" name="Text 11"/>
          <p:cNvSpPr/>
          <p:nvPr/>
        </p:nvSpPr>
        <p:spPr>
          <a:xfrm>
            <a:off x="4572000" y="2788920"/>
            <a:ext cx="3108960" cy="68580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Calibri" pitchFamily="34" charset="0"/>
                <a:ea typeface="Calibri" pitchFamily="34" charset="-122"/>
                <a:cs typeface="Calibri" pitchFamily="34" charset="-120"/>
              </a:rPr>
              <a:t>Webcam + AI phát hiện tập trung / mất tập trung / buồn ngủ.</a:t>
            </a:r>
            <a:endParaRPr lang="en-US" sz="1150" dirty="0"/>
          </a:p>
        </p:txBody>
      </p:sp>
      <p:sp>
        <p:nvSpPr>
          <p:cNvPr id="16" name="Shape 12"/>
          <p:cNvSpPr/>
          <p:nvPr/>
        </p:nvSpPr>
        <p:spPr>
          <a:xfrm>
            <a:off x="8046720" y="1920240"/>
            <a:ext cx="3566160" cy="1645920"/>
          </a:xfrm>
          <a:prstGeom prst="roundRect">
            <a:avLst>
              <a:gd name="adj" fmla="val 5556"/>
            </a:avLst>
          </a:prstGeom>
          <a:solidFill>
            <a:srgbClr val="E8F3F2"/>
          </a:solidFill>
          <a:ln/>
        </p:spPr>
      </p:sp>
      <p:sp>
        <p:nvSpPr>
          <p:cNvPr id="17" name="Shape 13"/>
          <p:cNvSpPr/>
          <p:nvPr/>
        </p:nvSpPr>
        <p:spPr>
          <a:xfrm>
            <a:off x="8321040" y="2212848"/>
            <a:ext cx="566928" cy="566928"/>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18" name="Image 2" descr="preencoded.png">    </p:cNvPr>
          <p:cNvPicPr>
            <a:picLocks noChangeAspect="1"/>
          </p:cNvPicPr>
          <p:nvPr/>
        </p:nvPicPr>
        <p:blipFill>
          <a:blip r:embed="rId3"/>
          <a:stretch>
            <a:fillRect/>
          </a:stretch>
        </p:blipFill>
        <p:spPr>
          <a:xfrm>
            <a:off x="8462772" y="2354580"/>
            <a:ext cx="283464" cy="283464"/>
          </a:xfrm>
          <a:prstGeom prst="rect">
            <a:avLst/>
          </a:prstGeom>
        </p:spPr>
      </p:pic>
      <p:sp>
        <p:nvSpPr>
          <p:cNvPr id="19" name="Text 14"/>
          <p:cNvSpPr/>
          <p:nvPr/>
        </p:nvSpPr>
        <p:spPr>
          <a:xfrm>
            <a:off x="9052560" y="2194560"/>
            <a:ext cx="2468880" cy="45720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Quiz thích ứng</a:t>
            </a:r>
            <a:endParaRPr lang="en-US" sz="1500" dirty="0"/>
          </a:p>
        </p:txBody>
      </p:sp>
      <p:sp>
        <p:nvSpPr>
          <p:cNvPr id="20" name="Text 15"/>
          <p:cNvSpPr/>
          <p:nvPr/>
        </p:nvSpPr>
        <p:spPr>
          <a:xfrm>
            <a:off x="8321040" y="2788920"/>
            <a:ext cx="3108960" cy="68580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Calibri" pitchFamily="34" charset="0"/>
                <a:ea typeface="Calibri" pitchFamily="34" charset="-122"/>
                <a:cs typeface="Calibri" pitchFamily="34" charset="-120"/>
              </a:rPr>
              <a:t>Tự động tăng/giảm độ khó theo năng lực người học.</a:t>
            </a:r>
            <a:endParaRPr lang="en-US" sz="1150" dirty="0"/>
          </a:p>
        </p:txBody>
      </p:sp>
      <p:sp>
        <p:nvSpPr>
          <p:cNvPr id="21" name="Shape 16"/>
          <p:cNvSpPr/>
          <p:nvPr/>
        </p:nvSpPr>
        <p:spPr>
          <a:xfrm>
            <a:off x="548640" y="3749040"/>
            <a:ext cx="3566160" cy="1645920"/>
          </a:xfrm>
          <a:prstGeom prst="roundRect">
            <a:avLst>
              <a:gd name="adj" fmla="val 5556"/>
            </a:avLst>
          </a:prstGeom>
          <a:solidFill>
            <a:srgbClr val="F1F5F9"/>
          </a:solidFill>
          <a:ln/>
        </p:spPr>
      </p:sp>
      <p:sp>
        <p:nvSpPr>
          <p:cNvPr id="22" name="Shape 17"/>
          <p:cNvSpPr/>
          <p:nvPr/>
        </p:nvSpPr>
        <p:spPr>
          <a:xfrm>
            <a:off x="822960" y="4041648"/>
            <a:ext cx="566928" cy="566928"/>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23" name="Image 3" descr="preencoded.png">    </p:cNvPr>
          <p:cNvPicPr>
            <a:picLocks noChangeAspect="1"/>
          </p:cNvPicPr>
          <p:nvPr/>
        </p:nvPicPr>
        <p:blipFill>
          <a:blip r:embed="rId4"/>
          <a:stretch>
            <a:fillRect/>
          </a:stretch>
        </p:blipFill>
        <p:spPr>
          <a:xfrm>
            <a:off x="964692" y="4183380"/>
            <a:ext cx="283464" cy="283464"/>
          </a:xfrm>
          <a:prstGeom prst="rect">
            <a:avLst/>
          </a:prstGeom>
        </p:spPr>
      </p:pic>
      <p:sp>
        <p:nvSpPr>
          <p:cNvPr id="24" name="Text 18"/>
          <p:cNvSpPr/>
          <p:nvPr/>
        </p:nvSpPr>
        <p:spPr>
          <a:xfrm>
            <a:off x="1554480" y="4023360"/>
            <a:ext cx="2468880" cy="45720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Phản hồi học tập</a:t>
            </a:r>
            <a:endParaRPr lang="en-US" sz="1500" dirty="0"/>
          </a:p>
        </p:txBody>
      </p:sp>
      <p:sp>
        <p:nvSpPr>
          <p:cNvPr id="25" name="Text 19"/>
          <p:cNvSpPr/>
          <p:nvPr/>
        </p:nvSpPr>
        <p:spPr>
          <a:xfrm>
            <a:off x="822960" y="4617720"/>
            <a:ext cx="3108960" cy="68580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Calibri" pitchFamily="34" charset="0"/>
                <a:ea typeface="Calibri" pitchFamily="34" charset="-122"/>
                <a:cs typeface="Calibri" pitchFamily="34" charset="-120"/>
              </a:rPr>
              <a:t>Sinh feedback từ điểm quiz và điểm tập trung.</a:t>
            </a:r>
            <a:endParaRPr lang="en-US" sz="1150" dirty="0"/>
          </a:p>
        </p:txBody>
      </p:sp>
      <p:sp>
        <p:nvSpPr>
          <p:cNvPr id="26" name="Shape 20"/>
          <p:cNvSpPr/>
          <p:nvPr/>
        </p:nvSpPr>
        <p:spPr>
          <a:xfrm>
            <a:off x="4297680" y="3749040"/>
            <a:ext cx="3566160" cy="1645920"/>
          </a:xfrm>
          <a:prstGeom prst="roundRect">
            <a:avLst>
              <a:gd name="adj" fmla="val 5556"/>
            </a:avLst>
          </a:prstGeom>
          <a:solidFill>
            <a:srgbClr val="E8F3F2"/>
          </a:solidFill>
          <a:ln/>
        </p:spPr>
      </p:sp>
      <p:sp>
        <p:nvSpPr>
          <p:cNvPr id="27" name="Shape 21"/>
          <p:cNvSpPr/>
          <p:nvPr/>
        </p:nvSpPr>
        <p:spPr>
          <a:xfrm>
            <a:off x="4572000" y="4041648"/>
            <a:ext cx="566928" cy="566928"/>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28" name="Image 4" descr="preencoded.png">    </p:cNvPr>
          <p:cNvPicPr>
            <a:picLocks noChangeAspect="1"/>
          </p:cNvPicPr>
          <p:nvPr/>
        </p:nvPicPr>
        <p:blipFill>
          <a:blip r:embed="rId5"/>
          <a:stretch>
            <a:fillRect/>
          </a:stretch>
        </p:blipFill>
        <p:spPr>
          <a:xfrm>
            <a:off x="4713732" y="4183380"/>
            <a:ext cx="283464" cy="283464"/>
          </a:xfrm>
          <a:prstGeom prst="rect">
            <a:avLst/>
          </a:prstGeom>
        </p:spPr>
      </p:pic>
      <p:sp>
        <p:nvSpPr>
          <p:cNvPr id="29" name="Text 22"/>
          <p:cNvSpPr/>
          <p:nvPr/>
        </p:nvSpPr>
        <p:spPr>
          <a:xfrm>
            <a:off x="5303520" y="4023360"/>
            <a:ext cx="2468880" cy="45720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Quản trị nội dung</a:t>
            </a:r>
            <a:endParaRPr lang="en-US" sz="1500" dirty="0"/>
          </a:p>
        </p:txBody>
      </p:sp>
      <p:sp>
        <p:nvSpPr>
          <p:cNvPr id="30" name="Text 23"/>
          <p:cNvSpPr/>
          <p:nvPr/>
        </p:nvSpPr>
        <p:spPr>
          <a:xfrm>
            <a:off x="4572000" y="4617720"/>
            <a:ext cx="3108960" cy="68580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Calibri" pitchFamily="34" charset="0"/>
                <a:ea typeface="Calibri" pitchFamily="34" charset="-122"/>
                <a:cs typeface="Calibri" pitchFamily="34" charset="-120"/>
              </a:rPr>
              <a:t>Admin quản lý khóa học, bài giảng, câu hỏi.</a:t>
            </a:r>
            <a:endParaRPr lang="en-US" sz="1150" dirty="0"/>
          </a:p>
        </p:txBody>
      </p:sp>
      <p:sp>
        <p:nvSpPr>
          <p:cNvPr id="31" name="Shape 24"/>
          <p:cNvSpPr/>
          <p:nvPr/>
        </p:nvSpPr>
        <p:spPr>
          <a:xfrm>
            <a:off x="8046720" y="3749040"/>
            <a:ext cx="3566160" cy="1645920"/>
          </a:xfrm>
          <a:prstGeom prst="roundRect">
            <a:avLst>
              <a:gd name="adj" fmla="val 5556"/>
            </a:avLst>
          </a:prstGeom>
          <a:solidFill>
            <a:srgbClr val="F1F5F9"/>
          </a:solidFill>
          <a:ln/>
        </p:spPr>
      </p:sp>
      <p:sp>
        <p:nvSpPr>
          <p:cNvPr id="32" name="Shape 25"/>
          <p:cNvSpPr/>
          <p:nvPr/>
        </p:nvSpPr>
        <p:spPr>
          <a:xfrm>
            <a:off x="8321040" y="4041648"/>
            <a:ext cx="566928" cy="566928"/>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33" name="Image 5" descr="preencoded.png">    </p:cNvPr>
          <p:cNvPicPr>
            <a:picLocks noChangeAspect="1"/>
          </p:cNvPicPr>
          <p:nvPr/>
        </p:nvPicPr>
        <p:blipFill>
          <a:blip r:embed="rId6"/>
          <a:stretch>
            <a:fillRect/>
          </a:stretch>
        </p:blipFill>
        <p:spPr>
          <a:xfrm>
            <a:off x="8462772" y="4183380"/>
            <a:ext cx="283464" cy="283464"/>
          </a:xfrm>
          <a:prstGeom prst="rect">
            <a:avLst/>
          </a:prstGeom>
        </p:spPr>
      </p:pic>
      <p:sp>
        <p:nvSpPr>
          <p:cNvPr id="34" name="Text 26"/>
          <p:cNvSpPr/>
          <p:nvPr/>
        </p:nvSpPr>
        <p:spPr>
          <a:xfrm>
            <a:off x="9052560" y="4023360"/>
            <a:ext cx="2468880" cy="45720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Thống kê &amp; Dashboard</a:t>
            </a:r>
            <a:endParaRPr lang="en-US" sz="1500" dirty="0"/>
          </a:p>
        </p:txBody>
      </p:sp>
      <p:sp>
        <p:nvSpPr>
          <p:cNvPr id="35" name="Text 27"/>
          <p:cNvSpPr/>
          <p:nvPr/>
        </p:nvSpPr>
        <p:spPr>
          <a:xfrm>
            <a:off x="8321040" y="4617720"/>
            <a:ext cx="3108960" cy="685800"/>
          </a:xfrm>
          <a:prstGeom prst="rect">
            <a:avLst/>
          </a:prstGeom>
          <a:noFill/>
          <a:ln/>
        </p:spPr>
        <p:txBody>
          <a:bodyPr wrap="square" lIns="0" tIns="0" rIns="0" bIns="0" rtlCol="0" anchor="ctr"/>
          <a:lstStyle/>
          <a:p>
            <a:pPr indent="0" marL="0">
              <a:lnSpc>
                <a:spcPts val="1500"/>
              </a:lnSpc>
              <a:buNone/>
            </a:pPr>
            <a:r>
              <a:rPr lang="en-US" sz="1150" dirty="0">
                <a:solidFill>
                  <a:srgbClr val="64748B"/>
                </a:solidFill>
                <a:latin typeface="Calibri" pitchFamily="34" charset="0"/>
                <a:ea typeface="Calibri" pitchFamily="34" charset="-122"/>
                <a:cs typeface="Calibri" pitchFamily="34" charset="-120"/>
              </a:rPr>
              <a:t>Theo dõi số liệu học tập từng học viên và toàn hệ thống.</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200" b="1" spc="300" kern="0" dirty="0">
                <a:solidFill>
                  <a:srgbClr val="0D9488"/>
                </a:solidFill>
                <a:latin typeface="Calibri" pitchFamily="34" charset="0"/>
                <a:ea typeface="Calibri" pitchFamily="34" charset="-122"/>
                <a:cs typeface="Calibri" pitchFamily="34" charset="-120"/>
              </a:rPr>
              <a:t>PHẠM VI</a:t>
            </a:r>
            <a:endParaRPr lang="en-US" sz="1200" dirty="0"/>
          </a:p>
        </p:txBody>
      </p:sp>
      <p:sp>
        <p:nvSpPr>
          <p:cNvPr id="3" name="Text 1"/>
          <p:cNvSpPr/>
          <p:nvPr/>
        </p:nvSpPr>
        <p:spPr>
          <a:xfrm>
            <a:off x="548640" y="822960"/>
            <a:ext cx="10698480" cy="822960"/>
          </a:xfrm>
          <a:prstGeom prst="rect">
            <a:avLst/>
          </a:prstGeom>
          <a:noFill/>
          <a:ln/>
        </p:spPr>
        <p:txBody>
          <a:bodyPr wrap="square" lIns="0" tIns="0" rIns="0" bIns="0" rtlCol="0" anchor="ctr"/>
          <a:lstStyle/>
          <a:p>
            <a:pPr algn="l" indent="0" marL="0">
              <a:buNone/>
            </a:pPr>
            <a:r>
              <a:rPr lang="en-US" sz="3100" b="1" dirty="0">
                <a:solidFill>
                  <a:srgbClr val="1E293B"/>
                </a:solidFill>
                <a:latin typeface="Georgia" pitchFamily="34" charset="0"/>
                <a:ea typeface="Georgia" pitchFamily="34" charset="-122"/>
                <a:cs typeface="Georgia" pitchFamily="34" charset="-120"/>
              </a:rPr>
              <a:t>Phạm vi &amp; giới hạn đề tài</a:t>
            </a:r>
            <a:endParaRPr lang="en-US" sz="31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Hệ thống học tập trực tuyến với AI</a:t>
            </a:r>
            <a:endParaRPr lang="en-US" sz="900" dirty="0"/>
          </a:p>
        </p:txBody>
      </p:sp>
      <p:sp>
        <p:nvSpPr>
          <p:cNvPr id="5" name="Text 3"/>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548640" y="1920240"/>
            <a:ext cx="5440680" cy="4023360"/>
          </a:xfrm>
          <a:prstGeom prst="roundRect">
            <a:avLst>
              <a:gd name="adj" fmla="val 2727"/>
            </a:avLst>
          </a:prstGeom>
          <a:solidFill>
            <a:srgbClr val="E8F3F2"/>
          </a:solidFill>
          <a:ln/>
          <a:effectLst>
            <a:outerShdw sx="100000" sy="100000" kx="0" ky="0" algn="bl" rotWithShape="0" blurRad="101600" dist="38100" dir="8100000">
              <a:srgbClr val="0B2E33">
                <a:alpha val="12000"/>
              </a:srgbClr>
            </a:outerShdw>
          </a:effectLst>
        </p:spPr>
      </p:sp>
      <p:sp>
        <p:nvSpPr>
          <p:cNvPr id="7" name="Shape 5"/>
          <p:cNvSpPr/>
          <p:nvPr/>
        </p:nvSpPr>
        <p:spPr>
          <a:xfrm>
            <a:off x="868680" y="2240280"/>
            <a:ext cx="685800" cy="68580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8" name="Image 0" descr="preencoded.png">    </p:cNvPr>
          <p:cNvPicPr>
            <a:picLocks noChangeAspect="1"/>
          </p:cNvPicPr>
          <p:nvPr/>
        </p:nvPicPr>
        <p:blipFill>
          <a:blip r:embed="rId1"/>
          <a:stretch>
            <a:fillRect/>
          </a:stretch>
        </p:blipFill>
        <p:spPr>
          <a:xfrm>
            <a:off x="1040130" y="2411730"/>
            <a:ext cx="342900" cy="342900"/>
          </a:xfrm>
          <a:prstGeom prst="rect">
            <a:avLst/>
          </a:prstGeom>
        </p:spPr>
      </p:pic>
      <p:sp>
        <p:nvSpPr>
          <p:cNvPr id="9" name="Text 6"/>
          <p:cNvSpPr/>
          <p:nvPr/>
        </p:nvSpPr>
        <p:spPr>
          <a:xfrm>
            <a:off x="1691640" y="2240280"/>
            <a:ext cx="4023360" cy="68580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Trong phạm vi</a:t>
            </a:r>
            <a:endParaRPr lang="en-US" sz="1800" dirty="0"/>
          </a:p>
        </p:txBody>
      </p:sp>
      <p:sp>
        <p:nvSpPr>
          <p:cNvPr id="10" name="Text 7"/>
          <p:cNvSpPr/>
          <p:nvPr/>
        </p:nvSpPr>
        <p:spPr>
          <a:xfrm>
            <a:off x="914400" y="3200400"/>
            <a:ext cx="4846320" cy="2560320"/>
          </a:xfrm>
          <a:prstGeom prst="rect">
            <a:avLst/>
          </a:prstGeom>
          <a:noFill/>
          <a:ln/>
        </p:spPr>
        <p:txBody>
          <a:bodyPr wrap="square" lIns="0" tIns="0" rIns="0" bIns="0" rtlCol="0" anchor="ctr"/>
          <a:lstStyle/>
          <a:p>
            <a:pPr marL="342900" indent="-342900">
              <a:spcAft>
                <a:spcPts val="1200"/>
              </a:spcAft>
              <a:buSzPct val="100000"/>
              <a:buChar char="✓"/>
            </a:pPr>
            <a:r>
              <a:rPr lang="en-US" sz="1400" dirty="0">
                <a:solidFill>
                  <a:srgbClr val="1E293B"/>
                </a:solidFill>
                <a:latin typeface="Calibri" pitchFamily="34" charset="0"/>
                <a:ea typeface="Calibri" pitchFamily="34" charset="-122"/>
                <a:cs typeface="Calibri" pitchFamily="34" charset="-120"/>
              </a:rPr>
              <a:t>Web app học tập (React + Spring Boot)</a:t>
            </a:r>
            <a:endParaRPr lang="en-US" sz="1400" dirty="0"/>
          </a:p>
          <a:p>
            <a:pPr marL="342900" indent="-342900">
              <a:spcAft>
                <a:spcPts val="1200"/>
              </a:spcAft>
              <a:buSzPct val="100000"/>
              <a:buChar char="✓"/>
            </a:pPr>
            <a:r>
              <a:rPr lang="en-US" sz="1400" dirty="0">
                <a:solidFill>
                  <a:srgbClr val="1E293B"/>
                </a:solidFill>
                <a:latin typeface="Calibri" pitchFamily="34" charset="0"/>
                <a:ea typeface="Calibri" pitchFamily="34" charset="-122"/>
                <a:cs typeface="Calibri" pitchFamily="34" charset="-120"/>
              </a:rPr>
              <a:t>AI nhận diện tập trung qua webcam</a:t>
            </a:r>
            <a:endParaRPr lang="en-US" sz="1400" dirty="0"/>
          </a:p>
          <a:p>
            <a:pPr marL="342900" indent="-342900">
              <a:spcAft>
                <a:spcPts val="1200"/>
              </a:spcAft>
              <a:buSzPct val="100000"/>
              <a:buChar char="✓"/>
            </a:pPr>
            <a:r>
              <a:rPr lang="en-US" sz="1400" dirty="0">
                <a:solidFill>
                  <a:srgbClr val="1E293B"/>
                </a:solidFill>
                <a:latin typeface="Calibri" pitchFamily="34" charset="0"/>
                <a:ea typeface="Calibri" pitchFamily="34" charset="-122"/>
                <a:cs typeface="Calibri" pitchFamily="34" charset="-120"/>
              </a:rPr>
              <a:t>Quiz thích ứng theo 3 mức độ khó</a:t>
            </a:r>
            <a:endParaRPr lang="en-US" sz="1400" dirty="0"/>
          </a:p>
          <a:p>
            <a:pPr marL="342900" indent="-342900">
              <a:spcAft>
                <a:spcPts val="1200"/>
              </a:spcAft>
              <a:buSzPct val="100000"/>
              <a:buChar char="✓"/>
            </a:pPr>
            <a:r>
              <a:rPr lang="en-US" sz="1400" dirty="0">
                <a:solidFill>
                  <a:srgbClr val="1E293B"/>
                </a:solidFill>
                <a:latin typeface="Calibri" pitchFamily="34" charset="0"/>
                <a:ea typeface="Calibri" pitchFamily="34" charset="-122"/>
                <a:cs typeface="Calibri" pitchFamily="34" charset="-120"/>
              </a:rPr>
              <a:t>Dashboard &amp; thống kê cơ bản</a:t>
            </a:r>
            <a:endParaRPr lang="en-US" sz="1400" dirty="0"/>
          </a:p>
          <a:p>
            <a:pPr marL="342900" indent="-342900">
              <a:spcAft>
                <a:spcPts val="1200"/>
              </a:spcAft>
              <a:buSzPct val="100000"/>
              <a:buChar char="✓"/>
            </a:pPr>
            <a:r>
              <a:rPr lang="en-US" sz="1400" dirty="0">
                <a:solidFill>
                  <a:srgbClr val="1E293B"/>
                </a:solidFill>
                <a:latin typeface="Calibri" pitchFamily="34" charset="0"/>
                <a:ea typeface="Calibri" pitchFamily="34" charset="-122"/>
                <a:cs typeface="Calibri" pitchFamily="34" charset="-120"/>
              </a:rPr>
              <a:t>Quản trị khóa học / bài giảng / câu hỏi</a:t>
            </a:r>
            <a:endParaRPr lang="en-US" sz="1400" dirty="0"/>
          </a:p>
        </p:txBody>
      </p:sp>
      <p:sp>
        <p:nvSpPr>
          <p:cNvPr id="11" name="Shape 8"/>
          <p:cNvSpPr/>
          <p:nvPr/>
        </p:nvSpPr>
        <p:spPr>
          <a:xfrm>
            <a:off x="6172200" y="1920240"/>
            <a:ext cx="5440680" cy="4023360"/>
          </a:xfrm>
          <a:prstGeom prst="roundRect">
            <a:avLst>
              <a:gd name="adj" fmla="val 2727"/>
            </a:avLst>
          </a:prstGeom>
          <a:solidFill>
            <a:srgbClr val="F1F5F9"/>
          </a:solidFill>
          <a:ln/>
          <a:effectLst>
            <a:outerShdw sx="100000" sy="100000" kx="0" ky="0" algn="bl" rotWithShape="0" blurRad="101600" dist="38100" dir="8100000">
              <a:srgbClr val="0B2E33">
                <a:alpha val="12000"/>
              </a:srgbClr>
            </a:outerShdw>
          </a:effectLst>
        </p:spPr>
      </p:sp>
      <p:sp>
        <p:nvSpPr>
          <p:cNvPr id="12" name="Shape 9"/>
          <p:cNvSpPr/>
          <p:nvPr/>
        </p:nvSpPr>
        <p:spPr>
          <a:xfrm>
            <a:off x="6492240" y="2240280"/>
            <a:ext cx="685800" cy="685800"/>
          </a:xfrm>
          <a:prstGeom prst="ellipse">
            <a:avLst/>
          </a:prstGeom>
          <a:solidFill>
            <a:srgbClr val="F4A259"/>
          </a:solidFill>
          <a:ln/>
          <a:effectLst>
            <a:outerShdw sx="100000" sy="100000" kx="0" ky="0" algn="bl" rotWithShape="0" blurRad="101600" dist="38100" dir="8100000">
              <a:srgbClr val="0B2E33">
                <a:alpha val="12000"/>
              </a:srgbClr>
            </a:outerShdw>
          </a:effectLst>
        </p:spPr>
      </p:sp>
      <p:pic>
        <p:nvPicPr>
          <p:cNvPr id="13" name="Image 1" descr="preencoded.png">    </p:cNvPr>
          <p:cNvPicPr>
            <a:picLocks noChangeAspect="1"/>
          </p:cNvPicPr>
          <p:nvPr/>
        </p:nvPicPr>
        <p:blipFill>
          <a:blip r:embed="rId2"/>
          <a:stretch>
            <a:fillRect/>
          </a:stretch>
        </p:blipFill>
        <p:spPr>
          <a:xfrm>
            <a:off x="6663690" y="2411730"/>
            <a:ext cx="342900" cy="342900"/>
          </a:xfrm>
          <a:prstGeom prst="rect">
            <a:avLst/>
          </a:prstGeom>
        </p:spPr>
      </p:pic>
      <p:sp>
        <p:nvSpPr>
          <p:cNvPr id="14" name="Text 10"/>
          <p:cNvSpPr/>
          <p:nvPr/>
        </p:nvSpPr>
        <p:spPr>
          <a:xfrm>
            <a:off x="7315200" y="2240280"/>
            <a:ext cx="4023360" cy="68580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Ngoài phạm vi</a:t>
            </a:r>
            <a:endParaRPr lang="en-US" sz="1800" dirty="0"/>
          </a:p>
        </p:txBody>
      </p:sp>
      <p:sp>
        <p:nvSpPr>
          <p:cNvPr id="15" name="Text 11"/>
          <p:cNvSpPr/>
          <p:nvPr/>
        </p:nvSpPr>
        <p:spPr>
          <a:xfrm>
            <a:off x="6537960" y="3200400"/>
            <a:ext cx="4846320" cy="2560320"/>
          </a:xfrm>
          <a:prstGeom prst="rect">
            <a:avLst/>
          </a:prstGeom>
          <a:noFill/>
          <a:ln/>
        </p:spPr>
        <p:txBody>
          <a:bodyPr wrap="square" lIns="0" tIns="0" rIns="0" bIns="0" rtlCol="0" anchor="ctr"/>
          <a:lstStyle/>
          <a:p>
            <a:pPr marL="342900" indent="-342900">
              <a:spcAft>
                <a:spcPts val="1200"/>
              </a:spcAft>
              <a:buSzPct val="100000"/>
              <a:buChar char="✕"/>
            </a:pPr>
            <a:r>
              <a:rPr lang="en-US" sz="1400" dirty="0">
                <a:solidFill>
                  <a:srgbClr val="1E293B"/>
                </a:solidFill>
                <a:latin typeface="Calibri" pitchFamily="34" charset="0"/>
                <a:ea typeface="Calibri" pitchFamily="34" charset="-122"/>
                <a:cs typeface="Calibri" pitchFamily="34" charset="-120"/>
              </a:rPr>
              <a:t>Ứng dụng di động (mobile native)</a:t>
            </a:r>
            <a:endParaRPr lang="en-US" sz="1400" dirty="0"/>
          </a:p>
          <a:p>
            <a:pPr marL="342900" indent="-342900">
              <a:spcAft>
                <a:spcPts val="1200"/>
              </a:spcAft>
              <a:buSzPct val="100000"/>
              <a:buChar char="✕"/>
            </a:pPr>
            <a:r>
              <a:rPr lang="en-US" sz="1400" dirty="0">
                <a:solidFill>
                  <a:srgbClr val="1E293B"/>
                </a:solidFill>
                <a:latin typeface="Calibri" pitchFamily="34" charset="0"/>
                <a:ea typeface="Calibri" pitchFamily="34" charset="-122"/>
                <a:cs typeface="Calibri" pitchFamily="34" charset="-120"/>
              </a:rPr>
              <a:t>Nhận diện danh tính bằng khuôn mặt (Face ID)</a:t>
            </a:r>
            <a:endParaRPr lang="en-US" sz="1400" dirty="0"/>
          </a:p>
          <a:p>
            <a:pPr marL="342900" indent="-342900">
              <a:spcAft>
                <a:spcPts val="1200"/>
              </a:spcAft>
              <a:buSzPct val="100000"/>
              <a:buChar char="✕"/>
            </a:pPr>
            <a:r>
              <a:rPr lang="en-US" sz="1400" dirty="0">
                <a:solidFill>
                  <a:srgbClr val="1E293B"/>
                </a:solidFill>
                <a:latin typeface="Calibri" pitchFamily="34" charset="0"/>
                <a:ea typeface="Calibri" pitchFamily="34" charset="-122"/>
                <a:cs typeface="Calibri" pitchFamily="34" charset="-120"/>
              </a:rPr>
              <a:t>Thanh toán / khóa học trả phí</a:t>
            </a:r>
            <a:endParaRPr lang="en-US" sz="1400" dirty="0"/>
          </a:p>
          <a:p>
            <a:pPr marL="342900" indent="-342900">
              <a:spcAft>
                <a:spcPts val="1200"/>
              </a:spcAft>
              <a:buSzPct val="100000"/>
              <a:buChar char="✕"/>
            </a:pPr>
            <a:r>
              <a:rPr lang="en-US" sz="1400" dirty="0">
                <a:solidFill>
                  <a:srgbClr val="1E293B"/>
                </a:solidFill>
                <a:latin typeface="Calibri" pitchFamily="34" charset="0"/>
                <a:ea typeface="Calibri" pitchFamily="34" charset="-122"/>
                <a:cs typeface="Calibri" pitchFamily="34" charset="-120"/>
              </a:rPr>
              <a:t>Triển khai hạ tầng cloud quy mô lớn</a:t>
            </a:r>
            <a:endParaRPr lang="en-US" sz="1400" dirty="0"/>
          </a:p>
          <a:p>
            <a:pPr marL="342900" indent="-342900">
              <a:spcAft>
                <a:spcPts val="1200"/>
              </a:spcAft>
              <a:buSzPct val="100000"/>
              <a:buChar char="✕"/>
            </a:pPr>
            <a:r>
              <a:rPr lang="en-US" sz="1400" dirty="0">
                <a:solidFill>
                  <a:srgbClr val="1E293B"/>
                </a:solidFill>
                <a:latin typeface="Calibri" pitchFamily="34" charset="0"/>
                <a:ea typeface="Calibri" pitchFamily="34" charset="-122"/>
                <a:cs typeface="Calibri" pitchFamily="34" charset="-120"/>
              </a:rPr>
              <a:t>Bảo mật nâng cao (JWT) — ở giai đoạn sau</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200" b="1" spc="300" kern="0" dirty="0">
                <a:solidFill>
                  <a:srgbClr val="0D9488"/>
                </a:solidFill>
                <a:latin typeface="Calibri" pitchFamily="34" charset="0"/>
                <a:ea typeface="Calibri" pitchFamily="34" charset="-122"/>
                <a:cs typeface="Calibri" pitchFamily="34" charset="-120"/>
              </a:rPr>
              <a:t>NGƯỜI DÙNG</a:t>
            </a:r>
            <a:endParaRPr lang="en-US" sz="1200" dirty="0"/>
          </a:p>
        </p:txBody>
      </p:sp>
      <p:sp>
        <p:nvSpPr>
          <p:cNvPr id="3" name="Text 1"/>
          <p:cNvSpPr/>
          <p:nvPr/>
        </p:nvSpPr>
        <p:spPr>
          <a:xfrm>
            <a:off x="548640" y="822960"/>
            <a:ext cx="10698480" cy="822960"/>
          </a:xfrm>
          <a:prstGeom prst="rect">
            <a:avLst/>
          </a:prstGeom>
          <a:noFill/>
          <a:ln/>
        </p:spPr>
        <p:txBody>
          <a:bodyPr wrap="square" lIns="0" tIns="0" rIns="0" bIns="0" rtlCol="0" anchor="ctr"/>
          <a:lstStyle/>
          <a:p>
            <a:pPr algn="l" indent="0" marL="0">
              <a:buNone/>
            </a:pPr>
            <a:r>
              <a:rPr lang="en-US" sz="3100" b="1" dirty="0">
                <a:solidFill>
                  <a:srgbClr val="1E293B"/>
                </a:solidFill>
                <a:latin typeface="Georgia" pitchFamily="34" charset="0"/>
                <a:ea typeface="Georgia" pitchFamily="34" charset="-122"/>
                <a:cs typeface="Georgia" pitchFamily="34" charset="-120"/>
              </a:rPr>
              <a:t>Đối tượng sử dụng hệ thống</a:t>
            </a:r>
            <a:endParaRPr lang="en-US" sz="31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Hệ thống học tập trực tuyến với AI</a:t>
            </a:r>
            <a:endParaRPr lang="en-US" sz="900" dirty="0"/>
          </a:p>
        </p:txBody>
      </p:sp>
      <p:sp>
        <p:nvSpPr>
          <p:cNvPr id="5" name="Text 3"/>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548640" y="1920240"/>
            <a:ext cx="5440680" cy="4023360"/>
          </a:xfrm>
          <a:prstGeom prst="roundRect">
            <a:avLst>
              <a:gd name="adj" fmla="val 2727"/>
            </a:avLst>
          </a:prstGeom>
          <a:solidFill>
            <a:srgbClr val="E8F3F2"/>
          </a:solidFill>
          <a:ln/>
          <a:effectLst>
            <a:outerShdw sx="100000" sy="100000" kx="0" ky="0" algn="bl" rotWithShape="0" blurRad="101600" dist="38100" dir="8100000">
              <a:srgbClr val="0B2E33">
                <a:alpha val="12000"/>
              </a:srgbClr>
            </a:outerShdw>
          </a:effectLst>
        </p:spPr>
      </p:sp>
      <p:sp>
        <p:nvSpPr>
          <p:cNvPr id="7" name="Shape 5"/>
          <p:cNvSpPr/>
          <p:nvPr/>
        </p:nvSpPr>
        <p:spPr>
          <a:xfrm>
            <a:off x="868680" y="2240280"/>
            <a:ext cx="777240" cy="77724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8" name="Image 0" descr="preencoded.png">    </p:cNvPr>
          <p:cNvPicPr>
            <a:picLocks noChangeAspect="1"/>
          </p:cNvPicPr>
          <p:nvPr/>
        </p:nvPicPr>
        <p:blipFill>
          <a:blip r:embed="rId1"/>
          <a:stretch>
            <a:fillRect/>
          </a:stretch>
        </p:blipFill>
        <p:spPr>
          <a:xfrm>
            <a:off x="1062990" y="2434590"/>
            <a:ext cx="388620" cy="388620"/>
          </a:xfrm>
          <a:prstGeom prst="rect">
            <a:avLst/>
          </a:prstGeom>
        </p:spPr>
      </p:pic>
      <p:sp>
        <p:nvSpPr>
          <p:cNvPr id="9" name="Text 6"/>
          <p:cNvSpPr/>
          <p:nvPr/>
        </p:nvSpPr>
        <p:spPr>
          <a:xfrm>
            <a:off x="1828800" y="2240280"/>
            <a:ext cx="3931920" cy="777240"/>
          </a:xfrm>
          <a:prstGeom prst="rect">
            <a:avLst/>
          </a:prstGeom>
          <a:noFill/>
          <a:ln/>
        </p:spPr>
        <p:txBody>
          <a:bodyPr wrap="square" lIns="0" tIns="0" rIns="0" bIns="0" rtlCol="0" anchor="ctr"/>
          <a:lstStyle/>
          <a:p>
            <a:pPr indent="0" marL="0">
              <a:buNone/>
            </a:pPr>
            <a:r>
              <a:rPr lang="en-US" sz="1900" b="1" dirty="0">
                <a:solidFill>
                  <a:srgbClr val="1E293B"/>
                </a:solidFill>
                <a:latin typeface="Georgia" pitchFamily="34" charset="0"/>
                <a:ea typeface="Georgia" pitchFamily="34" charset="-122"/>
                <a:cs typeface="Georgia" pitchFamily="34" charset="-120"/>
              </a:rPr>
              <a:t>Người học (Student)</a:t>
            </a:r>
            <a:endParaRPr lang="en-US" sz="1900" dirty="0"/>
          </a:p>
        </p:txBody>
      </p:sp>
      <p:sp>
        <p:nvSpPr>
          <p:cNvPr id="10" name="Text 7"/>
          <p:cNvSpPr/>
          <p:nvPr/>
        </p:nvSpPr>
        <p:spPr>
          <a:xfrm>
            <a:off x="914400" y="3246120"/>
            <a:ext cx="4846320" cy="2560320"/>
          </a:xfrm>
          <a:prstGeom prst="rect">
            <a:avLst/>
          </a:prstGeom>
          <a:noFill/>
          <a:ln/>
        </p:spPr>
        <p:txBody>
          <a:bodyPr wrap="square" lIns="0" tIns="0" rIns="0" bIns="0" rtlCol="0" anchor="ctr"/>
          <a:lstStyle/>
          <a:p>
            <a:pPr marL="342900" indent="-342900">
              <a:spcAft>
                <a:spcPts val="1100"/>
              </a:spcAft>
              <a:buSzPct val="100000"/>
              <a:buChar char="✓"/>
            </a:pPr>
            <a:r>
              <a:rPr lang="en-US" sz="1450" dirty="0">
                <a:solidFill>
                  <a:srgbClr val="1E293B"/>
                </a:solidFill>
                <a:latin typeface="Calibri" pitchFamily="34" charset="0"/>
                <a:ea typeface="Calibri" pitchFamily="34" charset="-122"/>
                <a:cs typeface="Calibri" pitchFamily="34" charset="-120"/>
              </a:rPr>
              <a:t>Đăng ký / đăng nhập / đăng xuất</a:t>
            </a:r>
            <a:endParaRPr lang="en-US" sz="1450" dirty="0"/>
          </a:p>
          <a:p>
            <a:pPr marL="342900" indent="-342900">
              <a:spcAft>
                <a:spcPts val="1100"/>
              </a:spcAft>
              <a:buSzPct val="100000"/>
              <a:buChar char="✓"/>
            </a:pPr>
            <a:r>
              <a:rPr lang="en-US" sz="1450" dirty="0">
                <a:solidFill>
                  <a:srgbClr val="1E293B"/>
                </a:solidFill>
                <a:latin typeface="Calibri" pitchFamily="34" charset="0"/>
                <a:ea typeface="Calibri" pitchFamily="34" charset="-122"/>
                <a:cs typeface="Calibri" pitchFamily="34" charset="-120"/>
              </a:rPr>
              <a:t>Xem khóa học &amp; video bài giảng</a:t>
            </a:r>
            <a:endParaRPr lang="en-US" sz="1450" dirty="0"/>
          </a:p>
          <a:p>
            <a:pPr marL="342900" indent="-342900">
              <a:spcAft>
                <a:spcPts val="1100"/>
              </a:spcAft>
              <a:buSzPct val="100000"/>
              <a:buChar char="✓"/>
            </a:pPr>
            <a:r>
              <a:rPr lang="en-US" sz="1450" dirty="0">
                <a:solidFill>
                  <a:srgbClr val="1E293B"/>
                </a:solidFill>
                <a:latin typeface="Calibri" pitchFamily="34" charset="0"/>
                <a:ea typeface="Calibri" pitchFamily="34" charset="-122"/>
                <a:cs typeface="Calibri" pitchFamily="34" charset="-120"/>
              </a:rPr>
              <a:t>Bật webcam giám sát tập trung</a:t>
            </a:r>
            <a:endParaRPr lang="en-US" sz="1450" dirty="0"/>
          </a:p>
          <a:p>
            <a:pPr marL="342900" indent="-342900">
              <a:spcAft>
                <a:spcPts val="1100"/>
              </a:spcAft>
              <a:buSzPct val="100000"/>
              <a:buChar char="✓"/>
            </a:pPr>
            <a:r>
              <a:rPr lang="en-US" sz="1450" dirty="0">
                <a:solidFill>
                  <a:srgbClr val="1E293B"/>
                </a:solidFill>
                <a:latin typeface="Calibri" pitchFamily="34" charset="0"/>
                <a:ea typeface="Calibri" pitchFamily="34" charset="-122"/>
                <a:cs typeface="Calibri" pitchFamily="34" charset="-120"/>
              </a:rPr>
              <a:t>Làm quiz thích ứng sau bài học</a:t>
            </a:r>
            <a:endParaRPr lang="en-US" sz="1450" dirty="0"/>
          </a:p>
          <a:p>
            <a:pPr marL="342900" indent="-342900">
              <a:spcAft>
                <a:spcPts val="1100"/>
              </a:spcAft>
              <a:buSzPct val="100000"/>
              <a:buChar char="✓"/>
            </a:pPr>
            <a:r>
              <a:rPr lang="en-US" sz="1450" dirty="0">
                <a:solidFill>
                  <a:srgbClr val="1E293B"/>
                </a:solidFill>
                <a:latin typeface="Calibri" pitchFamily="34" charset="0"/>
                <a:ea typeface="Calibri" pitchFamily="34" charset="-122"/>
                <a:cs typeface="Calibri" pitchFamily="34" charset="-120"/>
              </a:rPr>
              <a:t>Nhận feedback &amp; xem tiến trình</a:t>
            </a:r>
            <a:endParaRPr lang="en-US" sz="1450" dirty="0"/>
          </a:p>
        </p:txBody>
      </p:sp>
      <p:sp>
        <p:nvSpPr>
          <p:cNvPr id="11" name="Shape 8"/>
          <p:cNvSpPr/>
          <p:nvPr/>
        </p:nvSpPr>
        <p:spPr>
          <a:xfrm>
            <a:off x="6172200" y="1920240"/>
            <a:ext cx="5440680" cy="4023360"/>
          </a:xfrm>
          <a:prstGeom prst="roundRect">
            <a:avLst>
              <a:gd name="adj" fmla="val 2727"/>
            </a:avLst>
          </a:prstGeom>
          <a:solidFill>
            <a:srgbClr val="0B2E33"/>
          </a:solidFill>
          <a:ln/>
          <a:effectLst>
            <a:outerShdw sx="100000" sy="100000" kx="0" ky="0" algn="bl" rotWithShape="0" blurRad="101600" dist="38100" dir="8100000">
              <a:srgbClr val="0B2E33">
                <a:alpha val="12000"/>
              </a:srgbClr>
            </a:outerShdw>
          </a:effectLst>
        </p:spPr>
      </p:sp>
      <p:sp>
        <p:nvSpPr>
          <p:cNvPr id="12" name="Shape 9"/>
          <p:cNvSpPr/>
          <p:nvPr/>
        </p:nvSpPr>
        <p:spPr>
          <a:xfrm>
            <a:off x="6492240" y="2240280"/>
            <a:ext cx="777240" cy="777240"/>
          </a:xfrm>
          <a:prstGeom prst="ellipse">
            <a:avLst/>
          </a:prstGeom>
          <a:solidFill>
            <a:srgbClr val="F4A259"/>
          </a:solidFill>
          <a:ln/>
          <a:effectLst>
            <a:outerShdw sx="100000" sy="100000" kx="0" ky="0" algn="bl" rotWithShape="0" blurRad="101600" dist="38100" dir="8100000">
              <a:srgbClr val="0B2E33">
                <a:alpha val="12000"/>
              </a:srgbClr>
            </a:outerShdw>
          </a:effectLst>
        </p:spPr>
      </p:sp>
      <p:pic>
        <p:nvPicPr>
          <p:cNvPr id="13" name="Image 1" descr="preencoded.png">    </p:cNvPr>
          <p:cNvPicPr>
            <a:picLocks noChangeAspect="1"/>
          </p:cNvPicPr>
          <p:nvPr/>
        </p:nvPicPr>
        <p:blipFill>
          <a:blip r:embed="rId2"/>
          <a:stretch>
            <a:fillRect/>
          </a:stretch>
        </p:blipFill>
        <p:spPr>
          <a:xfrm>
            <a:off x="6686550" y="2434590"/>
            <a:ext cx="388620" cy="388620"/>
          </a:xfrm>
          <a:prstGeom prst="rect">
            <a:avLst/>
          </a:prstGeom>
        </p:spPr>
      </p:pic>
      <p:sp>
        <p:nvSpPr>
          <p:cNvPr id="14" name="Text 10"/>
          <p:cNvSpPr/>
          <p:nvPr/>
        </p:nvSpPr>
        <p:spPr>
          <a:xfrm>
            <a:off x="7452360" y="2240280"/>
            <a:ext cx="3931920" cy="77724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Quản trị viên (Admin)</a:t>
            </a:r>
            <a:endParaRPr lang="en-US" sz="1900" dirty="0"/>
          </a:p>
        </p:txBody>
      </p:sp>
      <p:sp>
        <p:nvSpPr>
          <p:cNvPr id="15" name="Text 11"/>
          <p:cNvSpPr/>
          <p:nvPr/>
        </p:nvSpPr>
        <p:spPr>
          <a:xfrm>
            <a:off x="6537960" y="3246120"/>
            <a:ext cx="4846320" cy="2560320"/>
          </a:xfrm>
          <a:prstGeom prst="rect">
            <a:avLst/>
          </a:prstGeom>
          <a:noFill/>
          <a:ln/>
        </p:spPr>
        <p:txBody>
          <a:bodyPr wrap="square" lIns="0" tIns="0" rIns="0" bIns="0" rtlCol="0" anchor="ctr"/>
          <a:lstStyle/>
          <a:p>
            <a:pPr marL="342900" indent="-342900">
              <a:spcAft>
                <a:spcPts val="1100"/>
              </a:spcAft>
              <a:buSzPct val="100000"/>
              <a:buChar char="✓"/>
            </a:pPr>
            <a:r>
              <a:rPr lang="en-US" sz="1450" dirty="0">
                <a:solidFill>
                  <a:srgbClr val="E2E8F0"/>
                </a:solidFill>
                <a:latin typeface="Calibri" pitchFamily="34" charset="0"/>
                <a:ea typeface="Calibri" pitchFamily="34" charset="-122"/>
                <a:cs typeface="Calibri" pitchFamily="34" charset="-120"/>
              </a:rPr>
              <a:t>Quản lý khóa học (CRUD)</a:t>
            </a:r>
            <a:endParaRPr lang="en-US" sz="1450" dirty="0"/>
          </a:p>
          <a:p>
            <a:pPr marL="342900" indent="-342900">
              <a:spcAft>
                <a:spcPts val="1100"/>
              </a:spcAft>
              <a:buSzPct val="100000"/>
              <a:buChar char="✓"/>
            </a:pPr>
            <a:r>
              <a:rPr lang="en-US" sz="1450" dirty="0">
                <a:solidFill>
                  <a:srgbClr val="E2E8F0"/>
                </a:solidFill>
                <a:latin typeface="Calibri" pitchFamily="34" charset="0"/>
                <a:ea typeface="Calibri" pitchFamily="34" charset="-122"/>
                <a:cs typeface="Calibri" pitchFamily="34" charset="-120"/>
              </a:rPr>
              <a:t>Quản lý bài giảng &amp; upload video</a:t>
            </a:r>
            <a:endParaRPr lang="en-US" sz="1450" dirty="0"/>
          </a:p>
          <a:p>
            <a:pPr marL="342900" indent="-342900">
              <a:spcAft>
                <a:spcPts val="1100"/>
              </a:spcAft>
              <a:buSzPct val="100000"/>
              <a:buChar char="✓"/>
            </a:pPr>
            <a:r>
              <a:rPr lang="en-US" sz="1450" dirty="0">
                <a:solidFill>
                  <a:srgbClr val="E2E8F0"/>
                </a:solidFill>
                <a:latin typeface="Calibri" pitchFamily="34" charset="0"/>
                <a:ea typeface="Calibri" pitchFamily="34" charset="-122"/>
                <a:cs typeface="Calibri" pitchFamily="34" charset="-120"/>
              </a:rPr>
              <a:t>Quản lý câu hỏi theo độ khó</a:t>
            </a:r>
            <a:endParaRPr lang="en-US" sz="1450" dirty="0"/>
          </a:p>
          <a:p>
            <a:pPr marL="342900" indent="-342900">
              <a:spcAft>
                <a:spcPts val="1100"/>
              </a:spcAft>
              <a:buSzPct val="100000"/>
              <a:buChar char="✓"/>
            </a:pPr>
            <a:r>
              <a:rPr lang="en-US" sz="1450" dirty="0">
                <a:solidFill>
                  <a:srgbClr val="E2E8F0"/>
                </a:solidFill>
                <a:latin typeface="Calibri" pitchFamily="34" charset="0"/>
                <a:ea typeface="Calibri" pitchFamily="34" charset="-122"/>
                <a:cs typeface="Calibri" pitchFamily="34" charset="-120"/>
              </a:rPr>
              <a:t>Dashboard thống kê toàn hệ thống</a:t>
            </a:r>
            <a:endParaRPr lang="en-US" sz="1450" dirty="0"/>
          </a:p>
          <a:p>
            <a:pPr marL="342900" indent="-342900">
              <a:spcAft>
                <a:spcPts val="1100"/>
              </a:spcAft>
              <a:buSzPct val="100000"/>
              <a:buChar char="✓"/>
            </a:pPr>
            <a:r>
              <a:rPr lang="en-US" sz="1450" dirty="0">
                <a:solidFill>
                  <a:srgbClr val="E2E8F0"/>
                </a:solidFill>
                <a:latin typeface="Calibri" pitchFamily="34" charset="0"/>
                <a:ea typeface="Calibri" pitchFamily="34" charset="-122"/>
                <a:cs typeface="Calibri" pitchFamily="34" charset="-120"/>
              </a:rPr>
              <a:t>Theo dõi focus score &amp; kết quả quiz</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200" b="1" spc="300" kern="0" dirty="0">
                <a:solidFill>
                  <a:srgbClr val="0D9488"/>
                </a:solidFill>
                <a:latin typeface="Calibri" pitchFamily="34" charset="0"/>
                <a:ea typeface="Calibri" pitchFamily="34" charset="-122"/>
                <a:cs typeface="Calibri" pitchFamily="34" charset="-120"/>
              </a:rPr>
              <a:t>CÔNG NGHỆ</a:t>
            </a:r>
            <a:endParaRPr lang="en-US" sz="1200" dirty="0"/>
          </a:p>
        </p:txBody>
      </p:sp>
      <p:sp>
        <p:nvSpPr>
          <p:cNvPr id="3" name="Text 1"/>
          <p:cNvSpPr/>
          <p:nvPr/>
        </p:nvSpPr>
        <p:spPr>
          <a:xfrm>
            <a:off x="548640" y="822960"/>
            <a:ext cx="10698480" cy="822960"/>
          </a:xfrm>
          <a:prstGeom prst="rect">
            <a:avLst/>
          </a:prstGeom>
          <a:noFill/>
          <a:ln/>
        </p:spPr>
        <p:txBody>
          <a:bodyPr wrap="square" lIns="0" tIns="0" rIns="0" bIns="0" rtlCol="0" anchor="ctr"/>
          <a:lstStyle/>
          <a:p>
            <a:pPr algn="l" indent="0" marL="0">
              <a:buNone/>
            </a:pPr>
            <a:r>
              <a:rPr lang="en-US" sz="3100" b="1" dirty="0">
                <a:solidFill>
                  <a:srgbClr val="1E293B"/>
                </a:solidFill>
                <a:latin typeface="Georgia" pitchFamily="34" charset="0"/>
                <a:ea typeface="Georgia" pitchFamily="34" charset="-122"/>
                <a:cs typeface="Georgia" pitchFamily="34" charset="-120"/>
              </a:rPr>
              <a:t>Công nghệ sử dụng</a:t>
            </a:r>
            <a:endParaRPr lang="en-US" sz="31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Hệ thống học tập trực tuyến với AI</a:t>
            </a:r>
            <a:endParaRPr lang="en-US" sz="900" dirty="0"/>
          </a:p>
        </p:txBody>
      </p:sp>
      <p:sp>
        <p:nvSpPr>
          <p:cNvPr id="5" name="Text 3"/>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548640" y="1965960"/>
            <a:ext cx="3566160" cy="3566160"/>
          </a:xfrm>
          <a:prstGeom prst="roundRect">
            <a:avLst>
              <a:gd name="adj" fmla="val 2564"/>
            </a:avLst>
          </a:prstGeom>
          <a:solidFill>
            <a:srgbClr val="FFFFFF"/>
          </a:solidFill>
          <a:ln w="12700">
            <a:solidFill>
              <a:srgbClr val="E2E8F0"/>
            </a:solidFill>
            <a:prstDash val="solid"/>
          </a:ln>
          <a:effectLst>
            <a:outerShdw sx="100000" sy="100000" kx="0" ky="0" algn="bl" rotWithShape="0" blurRad="101600" dist="38100" dir="8100000">
              <a:srgbClr val="0B2E33">
                <a:alpha val="12000"/>
              </a:srgbClr>
            </a:outerShdw>
          </a:effectLst>
        </p:spPr>
      </p:sp>
      <p:sp>
        <p:nvSpPr>
          <p:cNvPr id="7" name="Shape 5"/>
          <p:cNvSpPr/>
          <p:nvPr/>
        </p:nvSpPr>
        <p:spPr>
          <a:xfrm>
            <a:off x="548640" y="1965960"/>
            <a:ext cx="3566160" cy="109728"/>
          </a:xfrm>
          <a:prstGeom prst="rect">
            <a:avLst/>
          </a:prstGeom>
          <a:solidFill>
            <a:srgbClr val="0D9488"/>
          </a:solidFill>
          <a:ln/>
        </p:spPr>
      </p:sp>
      <p:sp>
        <p:nvSpPr>
          <p:cNvPr id="8" name="Shape 6"/>
          <p:cNvSpPr/>
          <p:nvPr/>
        </p:nvSpPr>
        <p:spPr>
          <a:xfrm>
            <a:off x="868680" y="2286000"/>
            <a:ext cx="777240" cy="777240"/>
          </a:xfrm>
          <a:prstGeom prst="ellipse">
            <a:avLst/>
          </a:prstGeom>
          <a:solidFill>
            <a:srgbClr val="0B2E33"/>
          </a:solidFill>
          <a:ln/>
          <a:effectLst>
            <a:outerShdw sx="100000" sy="100000" kx="0" ky="0" algn="bl" rotWithShape="0" blurRad="101600" dist="38100" dir="8100000">
              <a:srgbClr val="0B2E33">
                <a:alpha val="12000"/>
              </a:srgbClr>
            </a:outerShdw>
          </a:effectLst>
        </p:spPr>
      </p:sp>
      <p:pic>
        <p:nvPicPr>
          <p:cNvPr id="9" name="Image 0" descr="preencoded.png">    </p:cNvPr>
          <p:cNvPicPr>
            <a:picLocks noChangeAspect="1"/>
          </p:cNvPicPr>
          <p:nvPr/>
        </p:nvPicPr>
        <p:blipFill>
          <a:blip r:embed="rId1"/>
          <a:stretch>
            <a:fillRect/>
          </a:stretch>
        </p:blipFill>
        <p:spPr>
          <a:xfrm>
            <a:off x="1062990" y="2480310"/>
            <a:ext cx="388620" cy="388620"/>
          </a:xfrm>
          <a:prstGeom prst="rect">
            <a:avLst/>
          </a:prstGeom>
        </p:spPr>
      </p:pic>
      <p:sp>
        <p:nvSpPr>
          <p:cNvPr id="10" name="Text 7"/>
          <p:cNvSpPr/>
          <p:nvPr/>
        </p:nvSpPr>
        <p:spPr>
          <a:xfrm>
            <a:off x="1828800" y="2286000"/>
            <a:ext cx="2194560" cy="777240"/>
          </a:xfrm>
          <a:prstGeom prst="rect">
            <a:avLst/>
          </a:prstGeom>
          <a:noFill/>
          <a:ln/>
        </p:spPr>
        <p:txBody>
          <a:bodyPr wrap="square" lIns="0" tIns="0" rIns="0" bIns="0" rtlCol="0" anchor="ctr"/>
          <a:lstStyle/>
          <a:p>
            <a:pPr indent="0" marL="0">
              <a:buNone/>
            </a:pPr>
            <a:r>
              <a:rPr lang="en-US" sz="2100" b="1" dirty="0">
                <a:solidFill>
                  <a:srgbClr val="1E293B"/>
                </a:solidFill>
                <a:latin typeface="Georgia" pitchFamily="34" charset="0"/>
                <a:ea typeface="Georgia" pitchFamily="34" charset="-122"/>
                <a:cs typeface="Georgia" pitchFamily="34" charset="-120"/>
              </a:rPr>
              <a:t>Frontend</a:t>
            </a:r>
            <a:endParaRPr lang="en-US" sz="2100" dirty="0"/>
          </a:p>
        </p:txBody>
      </p:sp>
      <p:sp>
        <p:nvSpPr>
          <p:cNvPr id="11" name="Text 8"/>
          <p:cNvSpPr/>
          <p:nvPr/>
        </p:nvSpPr>
        <p:spPr>
          <a:xfrm>
            <a:off x="914400" y="3337560"/>
            <a:ext cx="2926080" cy="2011680"/>
          </a:xfrm>
          <a:prstGeom prst="rect">
            <a:avLst/>
          </a:prstGeom>
          <a:noFill/>
          <a:ln/>
        </p:spPr>
        <p:txBody>
          <a:bodyPr wrap="square" lIns="0" tIns="0" rIns="0" bIns="0" rtlCol="0" anchor="ctr"/>
          <a:lstStyle/>
          <a:p>
            <a:pPr marL="177800" indent="-1778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React 19 + Vite</a:t>
            </a:r>
            <a:endParaRPr lang="en-US" sz="1400" dirty="0"/>
          </a:p>
          <a:p>
            <a:pPr marL="177800" indent="-1778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React Router, Axios</a:t>
            </a:r>
            <a:endParaRPr lang="en-US" sz="1400" dirty="0"/>
          </a:p>
          <a:p>
            <a:pPr marL="177800" indent="-1778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face-api.js (AI webcam)</a:t>
            </a:r>
            <a:endParaRPr lang="en-US" sz="1400" dirty="0"/>
          </a:p>
        </p:txBody>
      </p:sp>
      <p:sp>
        <p:nvSpPr>
          <p:cNvPr id="12" name="Shape 9"/>
          <p:cNvSpPr/>
          <p:nvPr/>
        </p:nvSpPr>
        <p:spPr>
          <a:xfrm>
            <a:off x="4297680" y="1965960"/>
            <a:ext cx="3566160" cy="3566160"/>
          </a:xfrm>
          <a:prstGeom prst="roundRect">
            <a:avLst>
              <a:gd name="adj" fmla="val 2564"/>
            </a:avLst>
          </a:prstGeom>
          <a:solidFill>
            <a:srgbClr val="FFFFFF"/>
          </a:solidFill>
          <a:ln w="12700">
            <a:solidFill>
              <a:srgbClr val="E2E8F0"/>
            </a:solidFill>
            <a:prstDash val="solid"/>
          </a:ln>
          <a:effectLst>
            <a:outerShdw sx="100000" sy="100000" kx="0" ky="0" algn="bl" rotWithShape="0" blurRad="101600" dist="38100" dir="8100000">
              <a:srgbClr val="0B2E33">
                <a:alpha val="12000"/>
              </a:srgbClr>
            </a:outerShdw>
          </a:effectLst>
        </p:spPr>
      </p:sp>
      <p:sp>
        <p:nvSpPr>
          <p:cNvPr id="13" name="Shape 10"/>
          <p:cNvSpPr/>
          <p:nvPr/>
        </p:nvSpPr>
        <p:spPr>
          <a:xfrm>
            <a:off x="4297680" y="1965960"/>
            <a:ext cx="3566160" cy="109728"/>
          </a:xfrm>
          <a:prstGeom prst="rect">
            <a:avLst/>
          </a:prstGeom>
          <a:solidFill>
            <a:srgbClr val="0D9488"/>
          </a:solidFill>
          <a:ln/>
        </p:spPr>
      </p:sp>
      <p:sp>
        <p:nvSpPr>
          <p:cNvPr id="14" name="Shape 11"/>
          <p:cNvSpPr/>
          <p:nvPr/>
        </p:nvSpPr>
        <p:spPr>
          <a:xfrm>
            <a:off x="4617720" y="2286000"/>
            <a:ext cx="777240" cy="777240"/>
          </a:xfrm>
          <a:prstGeom prst="ellipse">
            <a:avLst/>
          </a:prstGeom>
          <a:solidFill>
            <a:srgbClr val="0B2E33"/>
          </a:solidFill>
          <a:ln/>
          <a:effectLst>
            <a:outerShdw sx="100000" sy="100000" kx="0" ky="0" algn="bl" rotWithShape="0" blurRad="101600" dist="38100" dir="8100000">
              <a:srgbClr val="0B2E33">
                <a:alpha val="12000"/>
              </a:srgbClr>
            </a:outerShdw>
          </a:effectLst>
        </p:spPr>
      </p:sp>
      <p:pic>
        <p:nvPicPr>
          <p:cNvPr id="15" name="Image 1" descr="preencoded.png">    </p:cNvPr>
          <p:cNvPicPr>
            <a:picLocks noChangeAspect="1"/>
          </p:cNvPicPr>
          <p:nvPr/>
        </p:nvPicPr>
        <p:blipFill>
          <a:blip r:embed="rId2"/>
          <a:stretch>
            <a:fillRect/>
          </a:stretch>
        </p:blipFill>
        <p:spPr>
          <a:xfrm>
            <a:off x="4812030" y="2480310"/>
            <a:ext cx="388620" cy="388620"/>
          </a:xfrm>
          <a:prstGeom prst="rect">
            <a:avLst/>
          </a:prstGeom>
        </p:spPr>
      </p:pic>
      <p:sp>
        <p:nvSpPr>
          <p:cNvPr id="16" name="Text 12"/>
          <p:cNvSpPr/>
          <p:nvPr/>
        </p:nvSpPr>
        <p:spPr>
          <a:xfrm>
            <a:off x="5577840" y="2286000"/>
            <a:ext cx="2194560" cy="777240"/>
          </a:xfrm>
          <a:prstGeom prst="rect">
            <a:avLst/>
          </a:prstGeom>
          <a:noFill/>
          <a:ln/>
        </p:spPr>
        <p:txBody>
          <a:bodyPr wrap="square" lIns="0" tIns="0" rIns="0" bIns="0" rtlCol="0" anchor="ctr"/>
          <a:lstStyle/>
          <a:p>
            <a:pPr indent="0" marL="0">
              <a:buNone/>
            </a:pPr>
            <a:r>
              <a:rPr lang="en-US" sz="2100" b="1" dirty="0">
                <a:solidFill>
                  <a:srgbClr val="1E293B"/>
                </a:solidFill>
                <a:latin typeface="Georgia" pitchFamily="34" charset="0"/>
                <a:ea typeface="Georgia" pitchFamily="34" charset="-122"/>
                <a:cs typeface="Georgia" pitchFamily="34" charset="-120"/>
              </a:rPr>
              <a:t>Backend</a:t>
            </a:r>
            <a:endParaRPr lang="en-US" sz="2100" dirty="0"/>
          </a:p>
        </p:txBody>
      </p:sp>
      <p:sp>
        <p:nvSpPr>
          <p:cNvPr id="17" name="Text 13"/>
          <p:cNvSpPr/>
          <p:nvPr/>
        </p:nvSpPr>
        <p:spPr>
          <a:xfrm>
            <a:off x="4663440" y="3337560"/>
            <a:ext cx="2926080" cy="2011680"/>
          </a:xfrm>
          <a:prstGeom prst="rect">
            <a:avLst/>
          </a:prstGeom>
          <a:noFill/>
          <a:ln/>
        </p:spPr>
        <p:txBody>
          <a:bodyPr wrap="square" lIns="0" tIns="0" rIns="0" bIns="0" rtlCol="0" anchor="ctr"/>
          <a:lstStyle/>
          <a:p>
            <a:pPr marL="177800" indent="-1778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Java 17 + Spring Boot 3</a:t>
            </a:r>
            <a:endParaRPr lang="en-US" sz="1400" dirty="0"/>
          </a:p>
          <a:p>
            <a:pPr marL="177800" indent="-1778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Spring Data JPA</a:t>
            </a:r>
            <a:endParaRPr lang="en-US" sz="1400" dirty="0"/>
          </a:p>
          <a:p>
            <a:pPr marL="177800" indent="-1778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REST API + DTO pattern</a:t>
            </a:r>
            <a:endParaRPr lang="en-US" sz="1400" dirty="0"/>
          </a:p>
        </p:txBody>
      </p:sp>
      <p:sp>
        <p:nvSpPr>
          <p:cNvPr id="18" name="Shape 14"/>
          <p:cNvSpPr/>
          <p:nvPr/>
        </p:nvSpPr>
        <p:spPr>
          <a:xfrm>
            <a:off x="8046720" y="1965960"/>
            <a:ext cx="3566160" cy="3566160"/>
          </a:xfrm>
          <a:prstGeom prst="roundRect">
            <a:avLst>
              <a:gd name="adj" fmla="val 2564"/>
            </a:avLst>
          </a:prstGeom>
          <a:solidFill>
            <a:srgbClr val="FFFFFF"/>
          </a:solidFill>
          <a:ln w="12700">
            <a:solidFill>
              <a:srgbClr val="E2E8F0"/>
            </a:solidFill>
            <a:prstDash val="solid"/>
          </a:ln>
          <a:effectLst>
            <a:outerShdw sx="100000" sy="100000" kx="0" ky="0" algn="bl" rotWithShape="0" blurRad="101600" dist="38100" dir="8100000">
              <a:srgbClr val="0B2E33">
                <a:alpha val="12000"/>
              </a:srgbClr>
            </a:outerShdw>
          </a:effectLst>
        </p:spPr>
      </p:sp>
      <p:sp>
        <p:nvSpPr>
          <p:cNvPr id="19" name="Shape 15"/>
          <p:cNvSpPr/>
          <p:nvPr/>
        </p:nvSpPr>
        <p:spPr>
          <a:xfrm>
            <a:off x="8046720" y="1965960"/>
            <a:ext cx="3566160" cy="109728"/>
          </a:xfrm>
          <a:prstGeom prst="rect">
            <a:avLst/>
          </a:prstGeom>
          <a:solidFill>
            <a:srgbClr val="0D9488"/>
          </a:solidFill>
          <a:ln/>
        </p:spPr>
      </p:sp>
      <p:sp>
        <p:nvSpPr>
          <p:cNvPr id="20" name="Shape 16"/>
          <p:cNvSpPr/>
          <p:nvPr/>
        </p:nvSpPr>
        <p:spPr>
          <a:xfrm>
            <a:off x="8366760" y="2286000"/>
            <a:ext cx="777240" cy="777240"/>
          </a:xfrm>
          <a:prstGeom prst="ellipse">
            <a:avLst/>
          </a:prstGeom>
          <a:solidFill>
            <a:srgbClr val="0B2E33"/>
          </a:solidFill>
          <a:ln/>
          <a:effectLst>
            <a:outerShdw sx="100000" sy="100000" kx="0" ky="0" algn="bl" rotWithShape="0" blurRad="101600" dist="38100" dir="8100000">
              <a:srgbClr val="0B2E33">
                <a:alpha val="12000"/>
              </a:srgbClr>
            </a:outerShdw>
          </a:effectLst>
        </p:spPr>
      </p:sp>
      <p:pic>
        <p:nvPicPr>
          <p:cNvPr id="21" name="Image 2" descr="preencoded.png">    </p:cNvPr>
          <p:cNvPicPr>
            <a:picLocks noChangeAspect="1"/>
          </p:cNvPicPr>
          <p:nvPr/>
        </p:nvPicPr>
        <p:blipFill>
          <a:blip r:embed="rId3"/>
          <a:stretch>
            <a:fillRect/>
          </a:stretch>
        </p:blipFill>
        <p:spPr>
          <a:xfrm>
            <a:off x="8561070" y="2480310"/>
            <a:ext cx="388620" cy="388620"/>
          </a:xfrm>
          <a:prstGeom prst="rect">
            <a:avLst/>
          </a:prstGeom>
        </p:spPr>
      </p:pic>
      <p:sp>
        <p:nvSpPr>
          <p:cNvPr id="22" name="Text 17"/>
          <p:cNvSpPr/>
          <p:nvPr/>
        </p:nvSpPr>
        <p:spPr>
          <a:xfrm>
            <a:off x="9326880" y="2286000"/>
            <a:ext cx="2194560" cy="777240"/>
          </a:xfrm>
          <a:prstGeom prst="rect">
            <a:avLst/>
          </a:prstGeom>
          <a:noFill/>
          <a:ln/>
        </p:spPr>
        <p:txBody>
          <a:bodyPr wrap="square" lIns="0" tIns="0" rIns="0" bIns="0" rtlCol="0" anchor="ctr"/>
          <a:lstStyle/>
          <a:p>
            <a:pPr indent="0" marL="0">
              <a:buNone/>
            </a:pPr>
            <a:r>
              <a:rPr lang="en-US" sz="2100" b="1" dirty="0">
                <a:solidFill>
                  <a:srgbClr val="1E293B"/>
                </a:solidFill>
                <a:latin typeface="Georgia" pitchFamily="34" charset="0"/>
                <a:ea typeface="Georgia" pitchFamily="34" charset="-122"/>
                <a:cs typeface="Georgia" pitchFamily="34" charset="-120"/>
              </a:rPr>
              <a:t>Database</a:t>
            </a:r>
            <a:endParaRPr lang="en-US" sz="2100" dirty="0"/>
          </a:p>
        </p:txBody>
      </p:sp>
      <p:sp>
        <p:nvSpPr>
          <p:cNvPr id="23" name="Text 18"/>
          <p:cNvSpPr/>
          <p:nvPr/>
        </p:nvSpPr>
        <p:spPr>
          <a:xfrm>
            <a:off x="8412480" y="3337560"/>
            <a:ext cx="2926080" cy="2011680"/>
          </a:xfrm>
          <a:prstGeom prst="rect">
            <a:avLst/>
          </a:prstGeom>
          <a:noFill/>
          <a:ln/>
        </p:spPr>
        <p:txBody>
          <a:bodyPr wrap="square" lIns="0" tIns="0" rIns="0" bIns="0" rtlCol="0" anchor="ctr"/>
          <a:lstStyle/>
          <a:p>
            <a:pPr marL="177800" indent="-1778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MySQL</a:t>
            </a:r>
            <a:endParaRPr lang="en-US" sz="1400" dirty="0"/>
          </a:p>
          <a:p>
            <a:pPr marL="177800" indent="-1778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11 bảng dữ liệu</a:t>
            </a:r>
            <a:endParaRPr lang="en-US" sz="1400" dirty="0"/>
          </a:p>
          <a:p>
            <a:pPr marL="177800" indent="-1778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Khóa ngoại liên kết rõ ràng</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200" b="1" spc="300" kern="0" dirty="0">
                <a:solidFill>
                  <a:srgbClr val="0D9488"/>
                </a:solidFill>
                <a:latin typeface="Calibri" pitchFamily="34" charset="0"/>
                <a:ea typeface="Calibri" pitchFamily="34" charset="-122"/>
                <a:cs typeface="Calibri" pitchFamily="34" charset="-120"/>
              </a:rPr>
              <a:t>LỰA CHỌN CÔNG NGHỆ</a:t>
            </a:r>
            <a:endParaRPr lang="en-US" sz="1200" dirty="0"/>
          </a:p>
        </p:txBody>
      </p:sp>
      <p:sp>
        <p:nvSpPr>
          <p:cNvPr id="3" name="Text 1"/>
          <p:cNvSpPr/>
          <p:nvPr/>
        </p:nvSpPr>
        <p:spPr>
          <a:xfrm>
            <a:off x="548640" y="822960"/>
            <a:ext cx="10698480" cy="822960"/>
          </a:xfrm>
          <a:prstGeom prst="rect">
            <a:avLst/>
          </a:prstGeom>
          <a:noFill/>
          <a:ln/>
        </p:spPr>
        <p:txBody>
          <a:bodyPr wrap="square" lIns="0" tIns="0" rIns="0" bIns="0" rtlCol="0" anchor="ctr"/>
          <a:lstStyle/>
          <a:p>
            <a:pPr algn="l" indent="0" marL="0">
              <a:buNone/>
            </a:pPr>
            <a:r>
              <a:rPr lang="en-US" sz="3100" b="1" dirty="0">
                <a:solidFill>
                  <a:srgbClr val="1E293B"/>
                </a:solidFill>
                <a:latin typeface="Georgia" pitchFamily="34" charset="0"/>
                <a:ea typeface="Georgia" pitchFamily="34" charset="-122"/>
                <a:cs typeface="Georgia" pitchFamily="34" charset="-120"/>
              </a:rPr>
              <a:t>Vì sao chọn các công nghệ này?</a:t>
            </a:r>
            <a:endParaRPr lang="en-US" sz="31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Hệ thống học tập trực tuyến với AI</a:t>
            </a:r>
            <a:endParaRPr lang="en-US" sz="900" dirty="0"/>
          </a:p>
        </p:txBody>
      </p:sp>
      <p:sp>
        <p:nvSpPr>
          <p:cNvPr id="5" name="Text 3"/>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548640" y="1920240"/>
            <a:ext cx="5852160" cy="877824"/>
          </a:xfrm>
          <a:prstGeom prst="roundRect">
            <a:avLst>
              <a:gd name="adj" fmla="val 8333"/>
            </a:avLst>
          </a:prstGeom>
          <a:solidFill>
            <a:srgbClr val="E8F3F2"/>
          </a:solidFill>
          <a:ln/>
        </p:spPr>
      </p:sp>
      <p:sp>
        <p:nvSpPr>
          <p:cNvPr id="7" name="Shape 5"/>
          <p:cNvSpPr/>
          <p:nvPr/>
        </p:nvSpPr>
        <p:spPr>
          <a:xfrm>
            <a:off x="777240" y="2084832"/>
            <a:ext cx="548640" cy="54864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8" name="Image 0" descr="preencoded.png">    </p:cNvPr>
          <p:cNvPicPr>
            <a:picLocks noChangeAspect="1"/>
          </p:cNvPicPr>
          <p:nvPr/>
        </p:nvPicPr>
        <p:blipFill>
          <a:blip r:embed="rId1"/>
          <a:stretch>
            <a:fillRect/>
          </a:stretch>
        </p:blipFill>
        <p:spPr>
          <a:xfrm>
            <a:off x="914400" y="2221992"/>
            <a:ext cx="274320" cy="274320"/>
          </a:xfrm>
          <a:prstGeom prst="rect">
            <a:avLst/>
          </a:prstGeom>
        </p:spPr>
      </p:pic>
      <p:sp>
        <p:nvSpPr>
          <p:cNvPr id="9" name="Text 6"/>
          <p:cNvSpPr/>
          <p:nvPr/>
        </p:nvSpPr>
        <p:spPr>
          <a:xfrm>
            <a:off x="1508760" y="2029968"/>
            <a:ext cx="4663440" cy="365760"/>
          </a:xfrm>
          <a:prstGeom prst="rect">
            <a:avLst/>
          </a:prstGeom>
          <a:noFill/>
          <a:ln/>
        </p:spPr>
        <p:txBody>
          <a:bodyPr wrap="square" lIns="0" tIns="0" rIns="0" bIns="0" rtlCol="0" anchor="ctr"/>
          <a:lstStyle/>
          <a:p>
            <a:pPr indent="0" marL="0">
              <a:buNone/>
            </a:pPr>
            <a:r>
              <a:rPr lang="en-US" sz="1450" b="1" dirty="0">
                <a:solidFill>
                  <a:srgbClr val="1E293B"/>
                </a:solidFill>
                <a:latin typeface="Georgia" pitchFamily="34" charset="0"/>
                <a:ea typeface="Georgia" pitchFamily="34" charset="-122"/>
                <a:cs typeface="Georgia" pitchFamily="34" charset="-120"/>
              </a:rPr>
              <a:t>React + Vite</a:t>
            </a:r>
            <a:endParaRPr lang="en-US" sz="1450" dirty="0"/>
          </a:p>
        </p:txBody>
      </p:sp>
      <p:sp>
        <p:nvSpPr>
          <p:cNvPr id="10" name="Text 7"/>
          <p:cNvSpPr/>
          <p:nvPr/>
        </p:nvSpPr>
        <p:spPr>
          <a:xfrm>
            <a:off x="1508760" y="2368296"/>
            <a:ext cx="4663440" cy="3200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Component tái sử dụng, dev nhanh, cộng đồng lớn</a:t>
            </a:r>
            <a:endParaRPr lang="en-US" sz="1150" dirty="0"/>
          </a:p>
        </p:txBody>
      </p:sp>
      <p:sp>
        <p:nvSpPr>
          <p:cNvPr id="11" name="Shape 8"/>
          <p:cNvSpPr/>
          <p:nvPr/>
        </p:nvSpPr>
        <p:spPr>
          <a:xfrm>
            <a:off x="548640" y="2907792"/>
            <a:ext cx="5852160" cy="877824"/>
          </a:xfrm>
          <a:prstGeom prst="roundRect">
            <a:avLst>
              <a:gd name="adj" fmla="val 8333"/>
            </a:avLst>
          </a:prstGeom>
          <a:solidFill>
            <a:srgbClr val="F1F5F9"/>
          </a:solidFill>
          <a:ln/>
        </p:spPr>
      </p:sp>
      <p:sp>
        <p:nvSpPr>
          <p:cNvPr id="12" name="Shape 9"/>
          <p:cNvSpPr/>
          <p:nvPr/>
        </p:nvSpPr>
        <p:spPr>
          <a:xfrm>
            <a:off x="777240" y="3072384"/>
            <a:ext cx="548640" cy="54864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13" name="Image 1" descr="preencoded.png">    </p:cNvPr>
          <p:cNvPicPr>
            <a:picLocks noChangeAspect="1"/>
          </p:cNvPicPr>
          <p:nvPr/>
        </p:nvPicPr>
        <p:blipFill>
          <a:blip r:embed="rId2"/>
          <a:stretch>
            <a:fillRect/>
          </a:stretch>
        </p:blipFill>
        <p:spPr>
          <a:xfrm>
            <a:off x="914400" y="3209544"/>
            <a:ext cx="274320" cy="274320"/>
          </a:xfrm>
          <a:prstGeom prst="rect">
            <a:avLst/>
          </a:prstGeom>
        </p:spPr>
      </p:pic>
      <p:sp>
        <p:nvSpPr>
          <p:cNvPr id="14" name="Text 10"/>
          <p:cNvSpPr/>
          <p:nvPr/>
        </p:nvSpPr>
        <p:spPr>
          <a:xfrm>
            <a:off x="1508760" y="3017520"/>
            <a:ext cx="4663440" cy="365760"/>
          </a:xfrm>
          <a:prstGeom prst="rect">
            <a:avLst/>
          </a:prstGeom>
          <a:noFill/>
          <a:ln/>
        </p:spPr>
        <p:txBody>
          <a:bodyPr wrap="square" lIns="0" tIns="0" rIns="0" bIns="0" rtlCol="0" anchor="ctr"/>
          <a:lstStyle/>
          <a:p>
            <a:pPr indent="0" marL="0">
              <a:buNone/>
            </a:pPr>
            <a:r>
              <a:rPr lang="en-US" sz="1450" b="1" dirty="0">
                <a:solidFill>
                  <a:srgbClr val="1E293B"/>
                </a:solidFill>
                <a:latin typeface="Georgia" pitchFamily="34" charset="0"/>
                <a:ea typeface="Georgia" pitchFamily="34" charset="-122"/>
                <a:cs typeface="Georgia" pitchFamily="34" charset="-120"/>
              </a:rPr>
              <a:t>face-api.js</a:t>
            </a:r>
            <a:endParaRPr lang="en-US" sz="1450" dirty="0"/>
          </a:p>
        </p:txBody>
      </p:sp>
      <p:sp>
        <p:nvSpPr>
          <p:cNvPr id="15" name="Text 11"/>
          <p:cNvSpPr/>
          <p:nvPr/>
        </p:nvSpPr>
        <p:spPr>
          <a:xfrm>
            <a:off x="1508760" y="3355848"/>
            <a:ext cx="4663440" cy="3200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Chạy ML ngay trên trình duyệt, không cần server AI</a:t>
            </a:r>
            <a:endParaRPr lang="en-US" sz="1150" dirty="0"/>
          </a:p>
        </p:txBody>
      </p:sp>
      <p:sp>
        <p:nvSpPr>
          <p:cNvPr id="16" name="Shape 12"/>
          <p:cNvSpPr/>
          <p:nvPr/>
        </p:nvSpPr>
        <p:spPr>
          <a:xfrm>
            <a:off x="548640" y="3895344"/>
            <a:ext cx="5852160" cy="877824"/>
          </a:xfrm>
          <a:prstGeom prst="roundRect">
            <a:avLst>
              <a:gd name="adj" fmla="val 8333"/>
            </a:avLst>
          </a:prstGeom>
          <a:solidFill>
            <a:srgbClr val="E8F3F2"/>
          </a:solidFill>
          <a:ln/>
        </p:spPr>
      </p:sp>
      <p:sp>
        <p:nvSpPr>
          <p:cNvPr id="17" name="Shape 13"/>
          <p:cNvSpPr/>
          <p:nvPr/>
        </p:nvSpPr>
        <p:spPr>
          <a:xfrm>
            <a:off x="777240" y="4059936"/>
            <a:ext cx="548640" cy="54864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18" name="Image 2" descr="preencoded.png">    </p:cNvPr>
          <p:cNvPicPr>
            <a:picLocks noChangeAspect="1"/>
          </p:cNvPicPr>
          <p:nvPr/>
        </p:nvPicPr>
        <p:blipFill>
          <a:blip r:embed="rId3"/>
          <a:stretch>
            <a:fillRect/>
          </a:stretch>
        </p:blipFill>
        <p:spPr>
          <a:xfrm>
            <a:off x="914400" y="4197096"/>
            <a:ext cx="274320" cy="274320"/>
          </a:xfrm>
          <a:prstGeom prst="rect">
            <a:avLst/>
          </a:prstGeom>
        </p:spPr>
      </p:pic>
      <p:sp>
        <p:nvSpPr>
          <p:cNvPr id="19" name="Text 14"/>
          <p:cNvSpPr/>
          <p:nvPr/>
        </p:nvSpPr>
        <p:spPr>
          <a:xfrm>
            <a:off x="1508760" y="4005072"/>
            <a:ext cx="4663440" cy="365760"/>
          </a:xfrm>
          <a:prstGeom prst="rect">
            <a:avLst/>
          </a:prstGeom>
          <a:noFill/>
          <a:ln/>
        </p:spPr>
        <p:txBody>
          <a:bodyPr wrap="square" lIns="0" tIns="0" rIns="0" bIns="0" rtlCol="0" anchor="ctr"/>
          <a:lstStyle/>
          <a:p>
            <a:pPr indent="0" marL="0">
              <a:buNone/>
            </a:pPr>
            <a:r>
              <a:rPr lang="en-US" sz="1450" b="1" dirty="0">
                <a:solidFill>
                  <a:srgbClr val="1E293B"/>
                </a:solidFill>
                <a:latin typeface="Georgia" pitchFamily="34" charset="0"/>
                <a:ea typeface="Georgia" pitchFamily="34" charset="-122"/>
                <a:cs typeface="Georgia" pitchFamily="34" charset="-120"/>
              </a:rPr>
              <a:t>Spring Boot</a:t>
            </a:r>
            <a:endParaRPr lang="en-US" sz="1450" dirty="0"/>
          </a:p>
        </p:txBody>
      </p:sp>
      <p:sp>
        <p:nvSpPr>
          <p:cNvPr id="20" name="Text 15"/>
          <p:cNvSpPr/>
          <p:nvPr/>
        </p:nvSpPr>
        <p:spPr>
          <a:xfrm>
            <a:off x="1508760" y="4343400"/>
            <a:ext cx="4663440" cy="3200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Khung backend trưởng thành, JPA giảm code thủ công</a:t>
            </a:r>
            <a:endParaRPr lang="en-US" sz="1150" dirty="0"/>
          </a:p>
        </p:txBody>
      </p:sp>
      <p:sp>
        <p:nvSpPr>
          <p:cNvPr id="21" name="Shape 16"/>
          <p:cNvSpPr/>
          <p:nvPr/>
        </p:nvSpPr>
        <p:spPr>
          <a:xfrm>
            <a:off x="548640" y="4882896"/>
            <a:ext cx="5852160" cy="877824"/>
          </a:xfrm>
          <a:prstGeom prst="roundRect">
            <a:avLst>
              <a:gd name="adj" fmla="val 8333"/>
            </a:avLst>
          </a:prstGeom>
          <a:solidFill>
            <a:srgbClr val="F1F5F9"/>
          </a:solidFill>
          <a:ln/>
        </p:spPr>
      </p:sp>
      <p:sp>
        <p:nvSpPr>
          <p:cNvPr id="22" name="Shape 17"/>
          <p:cNvSpPr/>
          <p:nvPr/>
        </p:nvSpPr>
        <p:spPr>
          <a:xfrm>
            <a:off x="777240" y="5047488"/>
            <a:ext cx="548640" cy="54864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23" name="Image 3" descr="preencoded.png">    </p:cNvPr>
          <p:cNvPicPr>
            <a:picLocks noChangeAspect="1"/>
          </p:cNvPicPr>
          <p:nvPr/>
        </p:nvPicPr>
        <p:blipFill>
          <a:blip r:embed="rId4"/>
          <a:stretch>
            <a:fillRect/>
          </a:stretch>
        </p:blipFill>
        <p:spPr>
          <a:xfrm>
            <a:off x="914400" y="5184648"/>
            <a:ext cx="274320" cy="274320"/>
          </a:xfrm>
          <a:prstGeom prst="rect">
            <a:avLst/>
          </a:prstGeom>
        </p:spPr>
      </p:pic>
      <p:sp>
        <p:nvSpPr>
          <p:cNvPr id="24" name="Text 18"/>
          <p:cNvSpPr/>
          <p:nvPr/>
        </p:nvSpPr>
        <p:spPr>
          <a:xfrm>
            <a:off x="1508760" y="4992624"/>
            <a:ext cx="4663440" cy="365760"/>
          </a:xfrm>
          <a:prstGeom prst="rect">
            <a:avLst/>
          </a:prstGeom>
          <a:noFill/>
          <a:ln/>
        </p:spPr>
        <p:txBody>
          <a:bodyPr wrap="square" lIns="0" tIns="0" rIns="0" bIns="0" rtlCol="0" anchor="ctr"/>
          <a:lstStyle/>
          <a:p>
            <a:pPr indent="0" marL="0">
              <a:buNone/>
            </a:pPr>
            <a:r>
              <a:rPr lang="en-US" sz="1450" b="1" dirty="0">
                <a:solidFill>
                  <a:srgbClr val="1E293B"/>
                </a:solidFill>
                <a:latin typeface="Georgia" pitchFamily="34" charset="0"/>
                <a:ea typeface="Georgia" pitchFamily="34" charset="-122"/>
                <a:cs typeface="Georgia" pitchFamily="34" charset="-120"/>
              </a:rPr>
              <a:t>MySQL</a:t>
            </a:r>
            <a:endParaRPr lang="en-US" sz="1450" dirty="0"/>
          </a:p>
        </p:txBody>
      </p:sp>
      <p:sp>
        <p:nvSpPr>
          <p:cNvPr id="25" name="Text 19"/>
          <p:cNvSpPr/>
          <p:nvPr/>
        </p:nvSpPr>
        <p:spPr>
          <a:xfrm>
            <a:off x="1508760" y="5330952"/>
            <a:ext cx="4663440" cy="3200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Quan hệ rõ ràng, phù hợp dữ liệu có cấu trúc</a:t>
            </a:r>
            <a:endParaRPr lang="en-US" sz="1150" dirty="0"/>
          </a:p>
        </p:txBody>
      </p:sp>
      <p:sp>
        <p:nvSpPr>
          <p:cNvPr id="26" name="Shape 20"/>
          <p:cNvSpPr/>
          <p:nvPr/>
        </p:nvSpPr>
        <p:spPr>
          <a:xfrm>
            <a:off x="6766560" y="1920240"/>
            <a:ext cx="4846320" cy="4069080"/>
          </a:xfrm>
          <a:prstGeom prst="roundRect">
            <a:avLst>
              <a:gd name="adj" fmla="val 2697"/>
            </a:avLst>
          </a:prstGeom>
          <a:solidFill>
            <a:srgbClr val="0B2E33"/>
          </a:solidFill>
          <a:ln/>
          <a:effectLst>
            <a:outerShdw sx="100000" sy="100000" kx="0" ky="0" algn="bl" rotWithShape="0" blurRad="101600" dist="38100" dir="8100000">
              <a:srgbClr val="0B2E33">
                <a:alpha val="12000"/>
              </a:srgbClr>
            </a:outerShdw>
          </a:effectLst>
        </p:spPr>
      </p:sp>
      <p:sp>
        <p:nvSpPr>
          <p:cNvPr id="27" name="Shape 21"/>
          <p:cNvSpPr/>
          <p:nvPr/>
        </p:nvSpPr>
        <p:spPr>
          <a:xfrm>
            <a:off x="7086600" y="2240280"/>
            <a:ext cx="731520" cy="731520"/>
          </a:xfrm>
          <a:prstGeom prst="ellipse">
            <a:avLst/>
          </a:prstGeom>
          <a:solidFill>
            <a:srgbClr val="F4A259"/>
          </a:solidFill>
          <a:ln/>
          <a:effectLst>
            <a:outerShdw sx="100000" sy="100000" kx="0" ky="0" algn="bl" rotWithShape="0" blurRad="101600" dist="38100" dir="8100000">
              <a:srgbClr val="0B2E33">
                <a:alpha val="12000"/>
              </a:srgbClr>
            </a:outerShdw>
          </a:effectLst>
        </p:spPr>
      </p:sp>
      <p:pic>
        <p:nvPicPr>
          <p:cNvPr id="28" name="Image 4" descr="preencoded.png">    </p:cNvPr>
          <p:cNvPicPr>
            <a:picLocks noChangeAspect="1"/>
          </p:cNvPicPr>
          <p:nvPr/>
        </p:nvPicPr>
        <p:blipFill>
          <a:blip r:embed="rId5"/>
          <a:stretch>
            <a:fillRect/>
          </a:stretch>
        </p:blipFill>
        <p:spPr>
          <a:xfrm>
            <a:off x="7269480" y="2423160"/>
            <a:ext cx="365760" cy="365760"/>
          </a:xfrm>
          <a:prstGeom prst="rect">
            <a:avLst/>
          </a:prstGeom>
        </p:spPr>
      </p:pic>
      <p:sp>
        <p:nvSpPr>
          <p:cNvPr id="29" name="Text 22"/>
          <p:cNvSpPr/>
          <p:nvPr/>
        </p:nvSpPr>
        <p:spPr>
          <a:xfrm>
            <a:off x="7955280" y="2240280"/>
            <a:ext cx="3383280" cy="731520"/>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Tiêu chí lựa chọn</a:t>
            </a:r>
            <a:endParaRPr lang="en-US" sz="1700" dirty="0"/>
          </a:p>
        </p:txBody>
      </p:sp>
      <p:sp>
        <p:nvSpPr>
          <p:cNvPr id="30" name="Text 23"/>
          <p:cNvSpPr/>
          <p:nvPr/>
        </p:nvSpPr>
        <p:spPr>
          <a:xfrm>
            <a:off x="7132320" y="3246120"/>
            <a:ext cx="4206240" cy="2468880"/>
          </a:xfrm>
          <a:prstGeom prst="rect">
            <a:avLst/>
          </a:prstGeom>
          <a:noFill/>
          <a:ln/>
        </p:spPr>
        <p:txBody>
          <a:bodyPr wrap="square" lIns="0" tIns="0" rIns="0" bIns="0" rtlCol="0" anchor="ctr"/>
          <a:lstStyle/>
          <a:p>
            <a:pPr marL="342900" indent="-342900">
              <a:spcAft>
                <a:spcPts val="1400"/>
              </a:spcAft>
              <a:buSzPct val="100000"/>
              <a:buChar char="•"/>
            </a:pPr>
            <a:r>
              <a:rPr lang="en-US" sz="1450" dirty="0">
                <a:solidFill>
                  <a:srgbClr val="E2E8F0"/>
                </a:solidFill>
                <a:latin typeface="Calibri" pitchFamily="34" charset="0"/>
                <a:ea typeface="Calibri" pitchFamily="34" charset="-122"/>
                <a:cs typeface="Calibri" pitchFamily="34" charset="-120"/>
              </a:rPr>
              <a:t>Miễn phí, mã nguồn mở</a:t>
            </a:r>
            <a:endParaRPr lang="en-US" sz="1450" dirty="0"/>
          </a:p>
          <a:p>
            <a:pPr marL="342900" indent="-342900">
              <a:spcAft>
                <a:spcPts val="1400"/>
              </a:spcAft>
              <a:buSzPct val="100000"/>
              <a:buChar char="•"/>
            </a:pPr>
            <a:r>
              <a:rPr lang="en-US" sz="1450" dirty="0">
                <a:solidFill>
                  <a:srgbClr val="E2E8F0"/>
                </a:solidFill>
                <a:latin typeface="Calibri" pitchFamily="34" charset="0"/>
                <a:ea typeface="Calibri" pitchFamily="34" charset="-122"/>
                <a:cs typeface="Calibri" pitchFamily="34" charset="-120"/>
              </a:rPr>
              <a:t>Tài liệu &amp; cộng đồng phong phú</a:t>
            </a:r>
            <a:endParaRPr lang="en-US" sz="1450" dirty="0"/>
          </a:p>
          <a:p>
            <a:pPr marL="342900" indent="-342900">
              <a:spcAft>
                <a:spcPts val="1400"/>
              </a:spcAft>
              <a:buSzPct val="100000"/>
              <a:buChar char="•"/>
            </a:pPr>
            <a:r>
              <a:rPr lang="en-US" sz="1450" dirty="0">
                <a:solidFill>
                  <a:srgbClr val="E2E8F0"/>
                </a:solidFill>
                <a:latin typeface="Calibri" pitchFamily="34" charset="0"/>
                <a:ea typeface="Calibri" pitchFamily="34" charset="-122"/>
                <a:cs typeface="Calibri" pitchFamily="34" charset="-120"/>
              </a:rPr>
              <a:t>Phù hợp năng lực nhóm</a:t>
            </a:r>
            <a:endParaRPr lang="en-US" sz="1450" dirty="0"/>
          </a:p>
          <a:p>
            <a:pPr marL="342900" indent="-342900">
              <a:spcAft>
                <a:spcPts val="1400"/>
              </a:spcAft>
              <a:buSzPct val="100000"/>
              <a:buChar char="•"/>
            </a:pPr>
            <a:r>
              <a:rPr lang="en-US" sz="1450" dirty="0">
                <a:solidFill>
                  <a:srgbClr val="E2E8F0"/>
                </a:solidFill>
                <a:latin typeface="Calibri" pitchFamily="34" charset="0"/>
                <a:ea typeface="Calibri" pitchFamily="34" charset="-122"/>
                <a:cs typeface="Calibri" pitchFamily="34" charset="-120"/>
              </a:rPr>
              <a:t>Dễ mở rộng về sau</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E33"/>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200" b="1" spc="300" kern="0" dirty="0">
                <a:solidFill>
                  <a:srgbClr val="5EEAD4"/>
                </a:solidFill>
                <a:latin typeface="Calibri" pitchFamily="34" charset="0"/>
                <a:ea typeface="Calibri" pitchFamily="34" charset="-122"/>
                <a:cs typeface="Calibri" pitchFamily="34" charset="-120"/>
              </a:rPr>
              <a:t>KIẾN TRÚC</a:t>
            </a:r>
            <a:endParaRPr lang="en-US" sz="1200" dirty="0"/>
          </a:p>
        </p:txBody>
      </p:sp>
      <p:sp>
        <p:nvSpPr>
          <p:cNvPr id="3" name="Text 1"/>
          <p:cNvSpPr/>
          <p:nvPr/>
        </p:nvSpPr>
        <p:spPr>
          <a:xfrm>
            <a:off x="548640" y="822960"/>
            <a:ext cx="10698480" cy="822960"/>
          </a:xfrm>
          <a:prstGeom prst="rect">
            <a:avLst/>
          </a:prstGeom>
          <a:noFill/>
          <a:ln/>
        </p:spPr>
        <p:txBody>
          <a:bodyPr wrap="square" lIns="0" tIns="0" rIns="0" bIns="0" rtlCol="0" anchor="ctr"/>
          <a:lstStyle/>
          <a:p>
            <a:pPr algn="l" indent="0" marL="0">
              <a:buNone/>
            </a:pPr>
            <a:r>
              <a:rPr lang="en-US" sz="3100" b="1" dirty="0">
                <a:solidFill>
                  <a:srgbClr val="FFFFFF"/>
                </a:solidFill>
                <a:latin typeface="Georgia" pitchFamily="34" charset="0"/>
                <a:ea typeface="Georgia" pitchFamily="34" charset="-122"/>
                <a:cs typeface="Georgia" pitchFamily="34" charset="-120"/>
              </a:rPr>
              <a:t>Kiến trúc tổng quan</a:t>
            </a:r>
            <a:endParaRPr lang="en-US" sz="31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Hệ thống học tập trực tuyến với AI</a:t>
            </a:r>
            <a:endParaRPr lang="en-US" sz="900" dirty="0"/>
          </a:p>
        </p:txBody>
      </p:sp>
      <p:sp>
        <p:nvSpPr>
          <p:cNvPr id="5" name="Text 3"/>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
        <p:nvSpPr>
          <p:cNvPr id="6" name="Shape 4"/>
          <p:cNvSpPr/>
          <p:nvPr/>
        </p:nvSpPr>
        <p:spPr>
          <a:xfrm>
            <a:off x="822960" y="2377440"/>
            <a:ext cx="3108960" cy="2286000"/>
          </a:xfrm>
          <a:prstGeom prst="roundRect">
            <a:avLst>
              <a:gd name="adj" fmla="val 4800"/>
            </a:avLst>
          </a:prstGeom>
          <a:solidFill>
            <a:srgbClr val="12393F"/>
          </a:solidFill>
          <a:ln w="19050">
            <a:solidFill>
              <a:srgbClr val="0D9488"/>
            </a:solidFill>
            <a:prstDash val="solid"/>
          </a:ln>
        </p:spPr>
      </p:sp>
      <p:sp>
        <p:nvSpPr>
          <p:cNvPr id="7" name="Shape 5"/>
          <p:cNvSpPr/>
          <p:nvPr/>
        </p:nvSpPr>
        <p:spPr>
          <a:xfrm>
            <a:off x="1143000" y="2697480"/>
            <a:ext cx="731520" cy="73152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8" name="Image 0" descr="preencoded.png">    </p:cNvPr>
          <p:cNvPicPr>
            <a:picLocks noChangeAspect="1"/>
          </p:cNvPicPr>
          <p:nvPr/>
        </p:nvPicPr>
        <p:blipFill>
          <a:blip r:embed="rId1"/>
          <a:stretch>
            <a:fillRect/>
          </a:stretch>
        </p:blipFill>
        <p:spPr>
          <a:xfrm>
            <a:off x="1325880" y="2880360"/>
            <a:ext cx="365760" cy="365760"/>
          </a:xfrm>
          <a:prstGeom prst="rect">
            <a:avLst/>
          </a:prstGeom>
        </p:spPr>
      </p:pic>
      <p:sp>
        <p:nvSpPr>
          <p:cNvPr id="9" name="Text 6"/>
          <p:cNvSpPr/>
          <p:nvPr/>
        </p:nvSpPr>
        <p:spPr>
          <a:xfrm>
            <a:off x="1097280" y="3566160"/>
            <a:ext cx="2651760" cy="45720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Frontend (React)</a:t>
            </a:r>
            <a:endParaRPr lang="en-US" sz="1600" dirty="0"/>
          </a:p>
        </p:txBody>
      </p:sp>
      <p:sp>
        <p:nvSpPr>
          <p:cNvPr id="10" name="Text 7"/>
          <p:cNvSpPr/>
          <p:nvPr/>
        </p:nvSpPr>
        <p:spPr>
          <a:xfrm>
            <a:off x="1097280" y="3977640"/>
            <a:ext cx="2651760" cy="640080"/>
          </a:xfrm>
          <a:prstGeom prst="rect">
            <a:avLst/>
          </a:prstGeom>
          <a:noFill/>
          <a:ln/>
        </p:spPr>
        <p:txBody>
          <a:bodyPr wrap="square" lIns="0" tIns="0" rIns="0" bIns="0" rtlCol="0" anchor="ctr"/>
          <a:lstStyle/>
          <a:p>
            <a:pPr indent="0" marL="0">
              <a:lnSpc>
                <a:spcPts val="1600"/>
              </a:lnSpc>
              <a:buNone/>
            </a:pPr>
            <a:r>
              <a:rPr lang="en-US" sz="1200" dirty="0">
                <a:solidFill>
                  <a:srgbClr val="B6CBCC"/>
                </a:solidFill>
                <a:latin typeface="Calibri" pitchFamily="34" charset="0"/>
                <a:ea typeface="Calibri" pitchFamily="34" charset="-122"/>
                <a:cs typeface="Calibri" pitchFamily="34" charset="-120"/>
              </a:rPr>
              <a:t>Giao diện học tập + AI webcam xử lý cục bộ</a:t>
            </a:r>
            <a:endParaRPr lang="en-US" sz="1200" dirty="0"/>
          </a:p>
        </p:txBody>
      </p:sp>
      <p:pic>
        <p:nvPicPr>
          <p:cNvPr id="11" name="Image 1" descr="preencoded.png">    </p:cNvPr>
          <p:cNvPicPr>
            <a:picLocks noChangeAspect="1"/>
          </p:cNvPicPr>
          <p:nvPr/>
        </p:nvPicPr>
        <p:blipFill>
          <a:blip r:embed="rId2"/>
          <a:stretch>
            <a:fillRect/>
          </a:stretch>
        </p:blipFill>
        <p:spPr>
          <a:xfrm>
            <a:off x="4023360" y="3246120"/>
            <a:ext cx="411480" cy="411480"/>
          </a:xfrm>
          <a:prstGeom prst="rect">
            <a:avLst/>
          </a:prstGeom>
        </p:spPr>
      </p:pic>
      <p:sp>
        <p:nvSpPr>
          <p:cNvPr id="12" name="Shape 8"/>
          <p:cNvSpPr/>
          <p:nvPr/>
        </p:nvSpPr>
        <p:spPr>
          <a:xfrm>
            <a:off x="4434840" y="2377440"/>
            <a:ext cx="3108960" cy="2286000"/>
          </a:xfrm>
          <a:prstGeom prst="roundRect">
            <a:avLst>
              <a:gd name="adj" fmla="val 4800"/>
            </a:avLst>
          </a:prstGeom>
          <a:solidFill>
            <a:srgbClr val="12393F"/>
          </a:solidFill>
          <a:ln w="19050">
            <a:solidFill>
              <a:srgbClr val="14B8A6"/>
            </a:solidFill>
            <a:prstDash val="solid"/>
          </a:ln>
        </p:spPr>
      </p:sp>
      <p:sp>
        <p:nvSpPr>
          <p:cNvPr id="13" name="Shape 9"/>
          <p:cNvSpPr/>
          <p:nvPr/>
        </p:nvSpPr>
        <p:spPr>
          <a:xfrm>
            <a:off x="4754880" y="2697480"/>
            <a:ext cx="731520" cy="731520"/>
          </a:xfrm>
          <a:prstGeom prst="ellipse">
            <a:avLst/>
          </a:prstGeom>
          <a:solidFill>
            <a:srgbClr val="14B8A6"/>
          </a:solidFill>
          <a:ln/>
          <a:effectLst>
            <a:outerShdw sx="100000" sy="100000" kx="0" ky="0" algn="bl" rotWithShape="0" blurRad="101600" dist="38100" dir="8100000">
              <a:srgbClr val="0B2E33">
                <a:alpha val="12000"/>
              </a:srgbClr>
            </a:outerShdw>
          </a:effectLst>
        </p:spPr>
      </p:sp>
      <p:pic>
        <p:nvPicPr>
          <p:cNvPr id="14" name="Image 2" descr="preencoded.png">    </p:cNvPr>
          <p:cNvPicPr>
            <a:picLocks noChangeAspect="1"/>
          </p:cNvPicPr>
          <p:nvPr/>
        </p:nvPicPr>
        <p:blipFill>
          <a:blip r:embed="rId3"/>
          <a:stretch>
            <a:fillRect/>
          </a:stretch>
        </p:blipFill>
        <p:spPr>
          <a:xfrm>
            <a:off x="4937760" y="2880360"/>
            <a:ext cx="365760" cy="365760"/>
          </a:xfrm>
          <a:prstGeom prst="rect">
            <a:avLst/>
          </a:prstGeom>
        </p:spPr>
      </p:pic>
      <p:sp>
        <p:nvSpPr>
          <p:cNvPr id="15" name="Text 10"/>
          <p:cNvSpPr/>
          <p:nvPr/>
        </p:nvSpPr>
        <p:spPr>
          <a:xfrm>
            <a:off x="4709160" y="3566160"/>
            <a:ext cx="2651760" cy="45720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Backend (Spring Boot)</a:t>
            </a:r>
            <a:endParaRPr lang="en-US" sz="1600" dirty="0"/>
          </a:p>
        </p:txBody>
      </p:sp>
      <p:sp>
        <p:nvSpPr>
          <p:cNvPr id="16" name="Text 11"/>
          <p:cNvSpPr/>
          <p:nvPr/>
        </p:nvSpPr>
        <p:spPr>
          <a:xfrm>
            <a:off x="4709160" y="3977640"/>
            <a:ext cx="2651760" cy="640080"/>
          </a:xfrm>
          <a:prstGeom prst="rect">
            <a:avLst/>
          </a:prstGeom>
          <a:noFill/>
          <a:ln/>
        </p:spPr>
        <p:txBody>
          <a:bodyPr wrap="square" lIns="0" tIns="0" rIns="0" bIns="0" rtlCol="0" anchor="ctr"/>
          <a:lstStyle/>
          <a:p>
            <a:pPr indent="0" marL="0">
              <a:lnSpc>
                <a:spcPts val="1600"/>
              </a:lnSpc>
              <a:buNone/>
            </a:pPr>
            <a:r>
              <a:rPr lang="en-US" sz="1200" dirty="0">
                <a:solidFill>
                  <a:srgbClr val="B6CBCC"/>
                </a:solidFill>
                <a:latin typeface="Calibri" pitchFamily="34" charset="0"/>
                <a:ea typeface="Calibri" pitchFamily="34" charset="-122"/>
                <a:cs typeface="Calibri" pitchFamily="34" charset="-120"/>
              </a:rPr>
              <a:t>REST API · Service · Repository</a:t>
            </a:r>
            <a:endParaRPr lang="en-US" sz="1200" dirty="0"/>
          </a:p>
        </p:txBody>
      </p:sp>
      <p:pic>
        <p:nvPicPr>
          <p:cNvPr id="17" name="Image 3" descr="preencoded.png">    </p:cNvPr>
          <p:cNvPicPr>
            <a:picLocks noChangeAspect="1"/>
          </p:cNvPicPr>
          <p:nvPr/>
        </p:nvPicPr>
        <p:blipFill>
          <a:blip r:embed="rId4"/>
          <a:stretch>
            <a:fillRect/>
          </a:stretch>
        </p:blipFill>
        <p:spPr>
          <a:xfrm>
            <a:off x="7635240" y="3246120"/>
            <a:ext cx="411480" cy="411480"/>
          </a:xfrm>
          <a:prstGeom prst="rect">
            <a:avLst/>
          </a:prstGeom>
        </p:spPr>
      </p:pic>
      <p:sp>
        <p:nvSpPr>
          <p:cNvPr id="18" name="Shape 12"/>
          <p:cNvSpPr/>
          <p:nvPr/>
        </p:nvSpPr>
        <p:spPr>
          <a:xfrm>
            <a:off x="8046720" y="2377440"/>
            <a:ext cx="3108960" cy="2286000"/>
          </a:xfrm>
          <a:prstGeom prst="roundRect">
            <a:avLst>
              <a:gd name="adj" fmla="val 4800"/>
            </a:avLst>
          </a:prstGeom>
          <a:solidFill>
            <a:srgbClr val="12393F"/>
          </a:solidFill>
          <a:ln w="19050">
            <a:solidFill>
              <a:srgbClr val="F4A259"/>
            </a:solidFill>
            <a:prstDash val="solid"/>
          </a:ln>
        </p:spPr>
      </p:sp>
      <p:sp>
        <p:nvSpPr>
          <p:cNvPr id="19" name="Shape 13"/>
          <p:cNvSpPr/>
          <p:nvPr/>
        </p:nvSpPr>
        <p:spPr>
          <a:xfrm>
            <a:off x="8366760" y="2697480"/>
            <a:ext cx="731520" cy="731520"/>
          </a:xfrm>
          <a:prstGeom prst="ellipse">
            <a:avLst/>
          </a:prstGeom>
          <a:solidFill>
            <a:srgbClr val="F4A259"/>
          </a:solidFill>
          <a:ln/>
          <a:effectLst>
            <a:outerShdw sx="100000" sy="100000" kx="0" ky="0" algn="bl" rotWithShape="0" blurRad="101600" dist="38100" dir="8100000">
              <a:srgbClr val="0B2E33">
                <a:alpha val="12000"/>
              </a:srgbClr>
            </a:outerShdw>
          </a:effectLst>
        </p:spPr>
      </p:sp>
      <p:pic>
        <p:nvPicPr>
          <p:cNvPr id="20" name="Image 4" descr="preencoded.png">    </p:cNvPr>
          <p:cNvPicPr>
            <a:picLocks noChangeAspect="1"/>
          </p:cNvPicPr>
          <p:nvPr/>
        </p:nvPicPr>
        <p:blipFill>
          <a:blip r:embed="rId5"/>
          <a:stretch>
            <a:fillRect/>
          </a:stretch>
        </p:blipFill>
        <p:spPr>
          <a:xfrm>
            <a:off x="8549640" y="2880360"/>
            <a:ext cx="365760" cy="365760"/>
          </a:xfrm>
          <a:prstGeom prst="rect">
            <a:avLst/>
          </a:prstGeom>
        </p:spPr>
      </p:pic>
      <p:sp>
        <p:nvSpPr>
          <p:cNvPr id="21" name="Text 14"/>
          <p:cNvSpPr/>
          <p:nvPr/>
        </p:nvSpPr>
        <p:spPr>
          <a:xfrm>
            <a:off x="8321040" y="3566160"/>
            <a:ext cx="2651760" cy="45720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Database (MySQL)</a:t>
            </a:r>
            <a:endParaRPr lang="en-US" sz="1600" dirty="0"/>
          </a:p>
        </p:txBody>
      </p:sp>
      <p:sp>
        <p:nvSpPr>
          <p:cNvPr id="22" name="Text 15"/>
          <p:cNvSpPr/>
          <p:nvPr/>
        </p:nvSpPr>
        <p:spPr>
          <a:xfrm>
            <a:off x="8321040" y="3977640"/>
            <a:ext cx="2651760" cy="640080"/>
          </a:xfrm>
          <a:prstGeom prst="rect">
            <a:avLst/>
          </a:prstGeom>
          <a:noFill/>
          <a:ln/>
        </p:spPr>
        <p:txBody>
          <a:bodyPr wrap="square" lIns="0" tIns="0" rIns="0" bIns="0" rtlCol="0" anchor="ctr"/>
          <a:lstStyle/>
          <a:p>
            <a:pPr indent="0" marL="0">
              <a:lnSpc>
                <a:spcPts val="1600"/>
              </a:lnSpc>
              <a:buNone/>
            </a:pPr>
            <a:r>
              <a:rPr lang="en-US" sz="1200" dirty="0">
                <a:solidFill>
                  <a:srgbClr val="B6CBCC"/>
                </a:solidFill>
                <a:latin typeface="Calibri" pitchFamily="34" charset="0"/>
                <a:ea typeface="Calibri" pitchFamily="34" charset="-122"/>
                <a:cs typeface="Calibri" pitchFamily="34" charset="-120"/>
              </a:rPr>
              <a:t>Lưu user, khóa học, quiz, focus logs</a:t>
            </a:r>
            <a:endParaRPr lang="en-US" sz="1200" dirty="0"/>
          </a:p>
        </p:txBody>
      </p:sp>
      <p:sp>
        <p:nvSpPr>
          <p:cNvPr id="23" name="Shape 16"/>
          <p:cNvSpPr/>
          <p:nvPr/>
        </p:nvSpPr>
        <p:spPr>
          <a:xfrm>
            <a:off x="822960" y="4983480"/>
            <a:ext cx="10424160" cy="914400"/>
          </a:xfrm>
          <a:prstGeom prst="roundRect">
            <a:avLst>
              <a:gd name="adj" fmla="val 10000"/>
            </a:avLst>
          </a:prstGeom>
          <a:solidFill>
            <a:srgbClr val="0D9488">
              <a:alpha val="20000"/>
            </a:srgbClr>
          </a:solidFill>
          <a:ln/>
        </p:spPr>
      </p:sp>
      <p:sp>
        <p:nvSpPr>
          <p:cNvPr id="24" name="Text 17"/>
          <p:cNvSpPr/>
          <p:nvPr/>
        </p:nvSpPr>
        <p:spPr>
          <a:xfrm>
            <a:off x="1097280" y="5074920"/>
            <a:ext cx="9875520" cy="731520"/>
          </a:xfrm>
          <a:prstGeom prst="rect">
            <a:avLst/>
          </a:prstGeom>
          <a:noFill/>
          <a:ln/>
        </p:spPr>
        <p:txBody>
          <a:bodyPr wrap="square" lIns="0" tIns="0" rIns="0" bIns="0" rtlCol="0" anchor="ctr"/>
          <a:lstStyle/>
          <a:p>
            <a:pPr indent="0" marL="0">
              <a:buNone/>
            </a:pPr>
            <a:r>
              <a:rPr lang="en-US" sz="1400" b="1" dirty="0">
                <a:solidFill>
                  <a:srgbClr val="5EEAD4"/>
                </a:solidFill>
                <a:latin typeface="Calibri" pitchFamily="34" charset="0"/>
                <a:ea typeface="Calibri" pitchFamily="34" charset="-122"/>
                <a:cs typeface="Calibri" pitchFamily="34" charset="-120"/>
              </a:rPr>
              <a:t>Luồng dữ liệu:  </a:t>
            </a:r>
            <a:pPr indent="0" marL="0">
              <a:buNone/>
            </a:pPr>
            <a:r>
              <a:rPr lang="en-US" sz="1400" dirty="0">
                <a:solidFill>
                  <a:srgbClr val="E2E8F0"/>
                </a:solidFill>
                <a:latin typeface="Calibri" pitchFamily="34" charset="0"/>
                <a:ea typeface="Calibri" pitchFamily="34" charset="-122"/>
                <a:cs typeface="Calibri" pitchFamily="34" charset="-120"/>
              </a:rPr>
              <a:t>Người học thao tác → React gọi REST API → Spring Boot xử lý → MySQL lưu trữ → trả JSON về giao diện.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200" b="1" spc="300" kern="0" dirty="0">
                <a:solidFill>
                  <a:srgbClr val="0D9488"/>
                </a:solidFill>
                <a:latin typeface="Calibri" pitchFamily="34" charset="0"/>
                <a:ea typeface="Calibri" pitchFamily="34" charset="-122"/>
                <a:cs typeface="Calibri" pitchFamily="34" charset="-120"/>
              </a:rPr>
              <a:t>BACKEND</a:t>
            </a:r>
            <a:endParaRPr lang="en-US" sz="1200" dirty="0"/>
          </a:p>
        </p:txBody>
      </p:sp>
      <p:sp>
        <p:nvSpPr>
          <p:cNvPr id="3" name="Text 1"/>
          <p:cNvSpPr/>
          <p:nvPr/>
        </p:nvSpPr>
        <p:spPr>
          <a:xfrm>
            <a:off x="548640" y="822960"/>
            <a:ext cx="10698480" cy="822960"/>
          </a:xfrm>
          <a:prstGeom prst="rect">
            <a:avLst/>
          </a:prstGeom>
          <a:noFill/>
          <a:ln/>
        </p:spPr>
        <p:txBody>
          <a:bodyPr wrap="square" lIns="0" tIns="0" rIns="0" bIns="0" rtlCol="0" anchor="ctr"/>
          <a:lstStyle/>
          <a:p>
            <a:pPr algn="l" indent="0" marL="0">
              <a:buNone/>
            </a:pPr>
            <a:r>
              <a:rPr lang="en-US" sz="3100" b="1" dirty="0">
                <a:solidFill>
                  <a:srgbClr val="1E293B"/>
                </a:solidFill>
                <a:latin typeface="Georgia" pitchFamily="34" charset="0"/>
                <a:ea typeface="Georgia" pitchFamily="34" charset="-122"/>
                <a:cs typeface="Georgia" pitchFamily="34" charset="-120"/>
              </a:rPr>
              <a:t>Kiến trúc phân tầng backend</a:t>
            </a:r>
            <a:endParaRPr lang="en-US" sz="31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Hệ thống học tập trực tuyến với AI</a:t>
            </a:r>
            <a:endParaRPr lang="en-US" sz="900" dirty="0"/>
          </a:p>
        </p:txBody>
      </p:sp>
      <p:sp>
        <p:nvSpPr>
          <p:cNvPr id="5" name="Text 3"/>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548640" y="1965960"/>
            <a:ext cx="7498080" cy="822960"/>
          </a:xfrm>
          <a:prstGeom prst="roundRect">
            <a:avLst>
              <a:gd name="adj" fmla="val 8889"/>
            </a:avLst>
          </a:prstGeom>
          <a:solidFill>
            <a:srgbClr val="E8F3F2"/>
          </a:solidFill>
          <a:ln/>
        </p:spPr>
      </p:sp>
      <p:sp>
        <p:nvSpPr>
          <p:cNvPr id="7" name="Shape 5"/>
          <p:cNvSpPr/>
          <p:nvPr/>
        </p:nvSpPr>
        <p:spPr>
          <a:xfrm>
            <a:off x="777240" y="2103120"/>
            <a:ext cx="548640" cy="54864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8" name="Image 0" descr="preencoded.png">    </p:cNvPr>
          <p:cNvPicPr>
            <a:picLocks noChangeAspect="1"/>
          </p:cNvPicPr>
          <p:nvPr/>
        </p:nvPicPr>
        <p:blipFill>
          <a:blip r:embed="rId1"/>
          <a:stretch>
            <a:fillRect/>
          </a:stretch>
        </p:blipFill>
        <p:spPr>
          <a:xfrm>
            <a:off x="914400" y="2240280"/>
            <a:ext cx="274320" cy="274320"/>
          </a:xfrm>
          <a:prstGeom prst="rect">
            <a:avLst/>
          </a:prstGeom>
        </p:spPr>
      </p:pic>
      <p:sp>
        <p:nvSpPr>
          <p:cNvPr id="9" name="Text 6"/>
          <p:cNvSpPr/>
          <p:nvPr/>
        </p:nvSpPr>
        <p:spPr>
          <a:xfrm>
            <a:off x="1508760" y="2075688"/>
            <a:ext cx="2194560" cy="594360"/>
          </a:xfrm>
          <a:prstGeom prst="rect">
            <a:avLst/>
          </a:prstGeom>
          <a:noFill/>
          <a:ln/>
        </p:spPr>
        <p:txBody>
          <a:bodyPr wrap="square" lIns="0" tIns="0" rIns="0" bIns="0" rtlCol="0" anchor="ctr"/>
          <a:lstStyle/>
          <a:p>
            <a:pPr indent="0" marL="0">
              <a:buNone/>
            </a:pPr>
            <a:r>
              <a:rPr lang="en-US" sz="1600" b="1" dirty="0">
                <a:solidFill>
                  <a:srgbClr val="1E293B"/>
                </a:solidFill>
                <a:latin typeface="Georgia" pitchFamily="34" charset="0"/>
                <a:ea typeface="Georgia" pitchFamily="34" charset="-122"/>
                <a:cs typeface="Georgia" pitchFamily="34" charset="-120"/>
              </a:rPr>
              <a:t>Controller</a:t>
            </a:r>
            <a:endParaRPr lang="en-US" sz="1600" dirty="0"/>
          </a:p>
        </p:txBody>
      </p:sp>
      <p:sp>
        <p:nvSpPr>
          <p:cNvPr id="10" name="Text 7"/>
          <p:cNvSpPr/>
          <p:nvPr/>
        </p:nvSpPr>
        <p:spPr>
          <a:xfrm>
            <a:off x="3657600" y="2075688"/>
            <a:ext cx="4206240" cy="59436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Nhận request, định nghĩa REST API endpoints</a:t>
            </a:r>
            <a:endParaRPr lang="en-US" sz="1250" dirty="0"/>
          </a:p>
        </p:txBody>
      </p:sp>
      <p:pic>
        <p:nvPicPr>
          <p:cNvPr id="11" name="Image 1" descr="preencoded.png">    </p:cNvPr>
          <p:cNvPicPr>
            <a:picLocks noChangeAspect="1"/>
          </p:cNvPicPr>
          <p:nvPr/>
        </p:nvPicPr>
        <p:blipFill>
          <a:blip r:embed="rId2"/>
          <a:stretch>
            <a:fillRect/>
          </a:stretch>
        </p:blipFill>
        <p:spPr>
          <a:xfrm rot="5400000">
            <a:off x="914400" y="2807208"/>
            <a:ext cx="237744" cy="237744"/>
          </a:xfrm>
          <a:prstGeom prst="rect">
            <a:avLst/>
          </a:prstGeom>
        </p:spPr>
      </p:pic>
      <p:sp>
        <p:nvSpPr>
          <p:cNvPr id="12" name="Shape 8"/>
          <p:cNvSpPr/>
          <p:nvPr/>
        </p:nvSpPr>
        <p:spPr>
          <a:xfrm>
            <a:off x="548640" y="2926080"/>
            <a:ext cx="7498080" cy="822960"/>
          </a:xfrm>
          <a:prstGeom prst="roundRect">
            <a:avLst>
              <a:gd name="adj" fmla="val 8889"/>
            </a:avLst>
          </a:prstGeom>
          <a:solidFill>
            <a:srgbClr val="F1F5F9"/>
          </a:solidFill>
          <a:ln/>
        </p:spPr>
      </p:sp>
      <p:sp>
        <p:nvSpPr>
          <p:cNvPr id="13" name="Shape 9"/>
          <p:cNvSpPr/>
          <p:nvPr/>
        </p:nvSpPr>
        <p:spPr>
          <a:xfrm>
            <a:off x="777240" y="3063240"/>
            <a:ext cx="548640" cy="548640"/>
          </a:xfrm>
          <a:prstGeom prst="ellipse">
            <a:avLst/>
          </a:prstGeom>
          <a:solidFill>
            <a:srgbClr val="14B8A6"/>
          </a:solidFill>
          <a:ln/>
          <a:effectLst>
            <a:outerShdw sx="100000" sy="100000" kx="0" ky="0" algn="bl" rotWithShape="0" blurRad="101600" dist="38100" dir="8100000">
              <a:srgbClr val="0B2E33">
                <a:alpha val="12000"/>
              </a:srgbClr>
            </a:outerShdw>
          </a:effectLst>
        </p:spPr>
      </p:sp>
      <p:pic>
        <p:nvPicPr>
          <p:cNvPr id="14" name="Image 2" descr="preencoded.png">    </p:cNvPr>
          <p:cNvPicPr>
            <a:picLocks noChangeAspect="1"/>
          </p:cNvPicPr>
          <p:nvPr/>
        </p:nvPicPr>
        <p:blipFill>
          <a:blip r:embed="rId3"/>
          <a:stretch>
            <a:fillRect/>
          </a:stretch>
        </p:blipFill>
        <p:spPr>
          <a:xfrm>
            <a:off x="914400" y="3200400"/>
            <a:ext cx="274320" cy="274320"/>
          </a:xfrm>
          <a:prstGeom prst="rect">
            <a:avLst/>
          </a:prstGeom>
        </p:spPr>
      </p:pic>
      <p:sp>
        <p:nvSpPr>
          <p:cNvPr id="15" name="Text 10"/>
          <p:cNvSpPr/>
          <p:nvPr/>
        </p:nvSpPr>
        <p:spPr>
          <a:xfrm>
            <a:off x="1508760" y="3035808"/>
            <a:ext cx="2194560" cy="594360"/>
          </a:xfrm>
          <a:prstGeom prst="rect">
            <a:avLst/>
          </a:prstGeom>
          <a:noFill/>
          <a:ln/>
        </p:spPr>
        <p:txBody>
          <a:bodyPr wrap="square" lIns="0" tIns="0" rIns="0" bIns="0" rtlCol="0" anchor="ctr"/>
          <a:lstStyle/>
          <a:p>
            <a:pPr indent="0" marL="0">
              <a:buNone/>
            </a:pPr>
            <a:r>
              <a:rPr lang="en-US" sz="1600" b="1" dirty="0">
                <a:solidFill>
                  <a:srgbClr val="1E293B"/>
                </a:solidFill>
                <a:latin typeface="Georgia" pitchFamily="34" charset="0"/>
                <a:ea typeface="Georgia" pitchFamily="34" charset="-122"/>
                <a:cs typeface="Georgia" pitchFamily="34" charset="-120"/>
              </a:rPr>
              <a:t>Service</a:t>
            </a:r>
            <a:endParaRPr lang="en-US" sz="1600" dirty="0"/>
          </a:p>
        </p:txBody>
      </p:sp>
      <p:sp>
        <p:nvSpPr>
          <p:cNvPr id="16" name="Text 11"/>
          <p:cNvSpPr/>
          <p:nvPr/>
        </p:nvSpPr>
        <p:spPr>
          <a:xfrm>
            <a:off x="3657600" y="3035808"/>
            <a:ext cx="4206240" cy="59436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Xử lý nghiệp vụ: quiz thích ứng, tính điểm, feedback</a:t>
            </a:r>
            <a:endParaRPr lang="en-US" sz="1250" dirty="0"/>
          </a:p>
        </p:txBody>
      </p:sp>
      <p:pic>
        <p:nvPicPr>
          <p:cNvPr id="17" name="Image 3" descr="preencoded.png">    </p:cNvPr>
          <p:cNvPicPr>
            <a:picLocks noChangeAspect="1"/>
          </p:cNvPicPr>
          <p:nvPr/>
        </p:nvPicPr>
        <p:blipFill>
          <a:blip r:embed="rId4"/>
          <a:stretch>
            <a:fillRect/>
          </a:stretch>
        </p:blipFill>
        <p:spPr>
          <a:xfrm rot="5400000">
            <a:off x="914400" y="3767328"/>
            <a:ext cx="237744" cy="237744"/>
          </a:xfrm>
          <a:prstGeom prst="rect">
            <a:avLst/>
          </a:prstGeom>
        </p:spPr>
      </p:pic>
      <p:sp>
        <p:nvSpPr>
          <p:cNvPr id="18" name="Shape 12"/>
          <p:cNvSpPr/>
          <p:nvPr/>
        </p:nvSpPr>
        <p:spPr>
          <a:xfrm>
            <a:off x="548640" y="3886200"/>
            <a:ext cx="7498080" cy="822960"/>
          </a:xfrm>
          <a:prstGeom prst="roundRect">
            <a:avLst>
              <a:gd name="adj" fmla="val 8889"/>
            </a:avLst>
          </a:prstGeom>
          <a:solidFill>
            <a:srgbClr val="E8F3F2"/>
          </a:solidFill>
          <a:ln/>
        </p:spPr>
      </p:sp>
      <p:sp>
        <p:nvSpPr>
          <p:cNvPr id="19" name="Shape 13"/>
          <p:cNvSpPr/>
          <p:nvPr/>
        </p:nvSpPr>
        <p:spPr>
          <a:xfrm>
            <a:off x="777240" y="4023360"/>
            <a:ext cx="548640" cy="548640"/>
          </a:xfrm>
          <a:prstGeom prst="ellipse">
            <a:avLst/>
          </a:prstGeom>
          <a:solidFill>
            <a:srgbClr val="F4A259"/>
          </a:solidFill>
          <a:ln/>
          <a:effectLst>
            <a:outerShdw sx="100000" sy="100000" kx="0" ky="0" algn="bl" rotWithShape="0" blurRad="101600" dist="38100" dir="8100000">
              <a:srgbClr val="0B2E33">
                <a:alpha val="12000"/>
              </a:srgbClr>
            </a:outerShdw>
          </a:effectLst>
        </p:spPr>
      </p:sp>
      <p:pic>
        <p:nvPicPr>
          <p:cNvPr id="20" name="Image 4" descr="preencoded.png">    </p:cNvPr>
          <p:cNvPicPr>
            <a:picLocks noChangeAspect="1"/>
          </p:cNvPicPr>
          <p:nvPr/>
        </p:nvPicPr>
        <p:blipFill>
          <a:blip r:embed="rId5"/>
          <a:stretch>
            <a:fillRect/>
          </a:stretch>
        </p:blipFill>
        <p:spPr>
          <a:xfrm>
            <a:off x="914400" y="4160520"/>
            <a:ext cx="274320" cy="274320"/>
          </a:xfrm>
          <a:prstGeom prst="rect">
            <a:avLst/>
          </a:prstGeom>
        </p:spPr>
      </p:pic>
      <p:sp>
        <p:nvSpPr>
          <p:cNvPr id="21" name="Text 14"/>
          <p:cNvSpPr/>
          <p:nvPr/>
        </p:nvSpPr>
        <p:spPr>
          <a:xfrm>
            <a:off x="1508760" y="3995928"/>
            <a:ext cx="2194560" cy="594360"/>
          </a:xfrm>
          <a:prstGeom prst="rect">
            <a:avLst/>
          </a:prstGeom>
          <a:noFill/>
          <a:ln/>
        </p:spPr>
        <p:txBody>
          <a:bodyPr wrap="square" lIns="0" tIns="0" rIns="0" bIns="0" rtlCol="0" anchor="ctr"/>
          <a:lstStyle/>
          <a:p>
            <a:pPr indent="0" marL="0">
              <a:buNone/>
            </a:pPr>
            <a:r>
              <a:rPr lang="en-US" sz="1600" b="1" dirty="0">
                <a:solidFill>
                  <a:srgbClr val="1E293B"/>
                </a:solidFill>
                <a:latin typeface="Georgia" pitchFamily="34" charset="0"/>
                <a:ea typeface="Georgia" pitchFamily="34" charset="-122"/>
                <a:cs typeface="Georgia" pitchFamily="34" charset="-120"/>
              </a:rPr>
              <a:t>Repository</a:t>
            </a:r>
            <a:endParaRPr lang="en-US" sz="1600" dirty="0"/>
          </a:p>
        </p:txBody>
      </p:sp>
      <p:sp>
        <p:nvSpPr>
          <p:cNvPr id="22" name="Text 15"/>
          <p:cNvSpPr/>
          <p:nvPr/>
        </p:nvSpPr>
        <p:spPr>
          <a:xfrm>
            <a:off x="3657600" y="3995928"/>
            <a:ext cx="4206240" cy="59436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Truy vấn dữ liệu qua Spring Data JPA</a:t>
            </a:r>
            <a:endParaRPr lang="en-US" sz="1250" dirty="0"/>
          </a:p>
        </p:txBody>
      </p:sp>
      <p:pic>
        <p:nvPicPr>
          <p:cNvPr id="23" name="Image 5" descr="preencoded.png">    </p:cNvPr>
          <p:cNvPicPr>
            <a:picLocks noChangeAspect="1"/>
          </p:cNvPicPr>
          <p:nvPr/>
        </p:nvPicPr>
        <p:blipFill>
          <a:blip r:embed="rId6"/>
          <a:stretch>
            <a:fillRect/>
          </a:stretch>
        </p:blipFill>
        <p:spPr>
          <a:xfrm rot="5400000">
            <a:off x="914400" y="4727448"/>
            <a:ext cx="237744" cy="237744"/>
          </a:xfrm>
          <a:prstGeom prst="rect">
            <a:avLst/>
          </a:prstGeom>
        </p:spPr>
      </p:pic>
      <p:sp>
        <p:nvSpPr>
          <p:cNvPr id="24" name="Shape 16"/>
          <p:cNvSpPr/>
          <p:nvPr/>
        </p:nvSpPr>
        <p:spPr>
          <a:xfrm>
            <a:off x="548640" y="4846320"/>
            <a:ext cx="7498080" cy="822960"/>
          </a:xfrm>
          <a:prstGeom prst="roundRect">
            <a:avLst>
              <a:gd name="adj" fmla="val 8889"/>
            </a:avLst>
          </a:prstGeom>
          <a:solidFill>
            <a:srgbClr val="F1F5F9"/>
          </a:solidFill>
          <a:ln/>
        </p:spPr>
      </p:sp>
      <p:sp>
        <p:nvSpPr>
          <p:cNvPr id="25" name="Shape 17"/>
          <p:cNvSpPr/>
          <p:nvPr/>
        </p:nvSpPr>
        <p:spPr>
          <a:xfrm>
            <a:off x="777240" y="4983480"/>
            <a:ext cx="548640" cy="548640"/>
          </a:xfrm>
          <a:prstGeom prst="ellipse">
            <a:avLst/>
          </a:prstGeom>
          <a:solidFill>
            <a:srgbClr val="0B2E33"/>
          </a:solidFill>
          <a:ln/>
          <a:effectLst>
            <a:outerShdw sx="100000" sy="100000" kx="0" ky="0" algn="bl" rotWithShape="0" blurRad="101600" dist="38100" dir="8100000">
              <a:srgbClr val="0B2E33">
                <a:alpha val="12000"/>
              </a:srgbClr>
            </a:outerShdw>
          </a:effectLst>
        </p:spPr>
      </p:sp>
      <p:pic>
        <p:nvPicPr>
          <p:cNvPr id="26" name="Image 6" descr="preencoded.png">    </p:cNvPr>
          <p:cNvPicPr>
            <a:picLocks noChangeAspect="1"/>
          </p:cNvPicPr>
          <p:nvPr/>
        </p:nvPicPr>
        <p:blipFill>
          <a:blip r:embed="rId7"/>
          <a:stretch>
            <a:fillRect/>
          </a:stretch>
        </p:blipFill>
        <p:spPr>
          <a:xfrm>
            <a:off x="914400" y="5120640"/>
            <a:ext cx="274320" cy="274320"/>
          </a:xfrm>
          <a:prstGeom prst="rect">
            <a:avLst/>
          </a:prstGeom>
        </p:spPr>
      </p:pic>
      <p:sp>
        <p:nvSpPr>
          <p:cNvPr id="27" name="Text 18"/>
          <p:cNvSpPr/>
          <p:nvPr/>
        </p:nvSpPr>
        <p:spPr>
          <a:xfrm>
            <a:off x="1508760" y="4956048"/>
            <a:ext cx="2194560" cy="594360"/>
          </a:xfrm>
          <a:prstGeom prst="rect">
            <a:avLst/>
          </a:prstGeom>
          <a:noFill/>
          <a:ln/>
        </p:spPr>
        <p:txBody>
          <a:bodyPr wrap="square" lIns="0" tIns="0" rIns="0" bIns="0" rtlCol="0" anchor="ctr"/>
          <a:lstStyle/>
          <a:p>
            <a:pPr indent="0" marL="0">
              <a:buNone/>
            </a:pPr>
            <a:r>
              <a:rPr lang="en-US" sz="1600" b="1" dirty="0">
                <a:solidFill>
                  <a:srgbClr val="1E293B"/>
                </a:solidFill>
                <a:latin typeface="Georgia" pitchFamily="34" charset="0"/>
                <a:ea typeface="Georgia" pitchFamily="34" charset="-122"/>
                <a:cs typeface="Georgia" pitchFamily="34" charset="-120"/>
              </a:rPr>
              <a:t>Entity / DTO</a:t>
            </a:r>
            <a:endParaRPr lang="en-US" sz="1600" dirty="0"/>
          </a:p>
        </p:txBody>
      </p:sp>
      <p:sp>
        <p:nvSpPr>
          <p:cNvPr id="28" name="Text 19"/>
          <p:cNvSpPr/>
          <p:nvPr/>
        </p:nvSpPr>
        <p:spPr>
          <a:xfrm>
            <a:off x="3657600" y="4956048"/>
            <a:ext cx="4206240" cy="59436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Ánh xạ bảng &amp; truyền dữ liệu giữa các tầng</a:t>
            </a:r>
            <a:endParaRPr lang="en-US" sz="1250" dirty="0"/>
          </a:p>
        </p:txBody>
      </p:sp>
      <p:sp>
        <p:nvSpPr>
          <p:cNvPr id="29" name="Shape 20"/>
          <p:cNvSpPr/>
          <p:nvPr/>
        </p:nvSpPr>
        <p:spPr>
          <a:xfrm>
            <a:off x="8321040" y="1965960"/>
            <a:ext cx="3291840" cy="3931920"/>
          </a:xfrm>
          <a:prstGeom prst="roundRect">
            <a:avLst>
              <a:gd name="adj" fmla="val 3333"/>
            </a:avLst>
          </a:prstGeom>
          <a:solidFill>
            <a:srgbClr val="0B2E33"/>
          </a:solidFill>
          <a:ln/>
        </p:spPr>
      </p:sp>
      <p:sp>
        <p:nvSpPr>
          <p:cNvPr id="30" name="Shape 21"/>
          <p:cNvSpPr/>
          <p:nvPr/>
        </p:nvSpPr>
        <p:spPr>
          <a:xfrm>
            <a:off x="8641080" y="2286000"/>
            <a:ext cx="685800" cy="68580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31" name="Image 7" descr="preencoded.png">    </p:cNvPr>
          <p:cNvPicPr>
            <a:picLocks noChangeAspect="1"/>
          </p:cNvPicPr>
          <p:nvPr/>
        </p:nvPicPr>
        <p:blipFill>
          <a:blip r:embed="rId8"/>
          <a:stretch>
            <a:fillRect/>
          </a:stretch>
        </p:blipFill>
        <p:spPr>
          <a:xfrm>
            <a:off x="8812530" y="2457450"/>
            <a:ext cx="342900" cy="342900"/>
          </a:xfrm>
          <a:prstGeom prst="rect">
            <a:avLst/>
          </a:prstGeom>
        </p:spPr>
      </p:pic>
      <p:sp>
        <p:nvSpPr>
          <p:cNvPr id="32" name="Text 22"/>
          <p:cNvSpPr/>
          <p:nvPr/>
        </p:nvSpPr>
        <p:spPr>
          <a:xfrm>
            <a:off x="8641080" y="3154680"/>
            <a:ext cx="2743200" cy="45720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Tách lớp rõ ràng</a:t>
            </a:r>
            <a:endParaRPr lang="en-US" sz="1600" dirty="0"/>
          </a:p>
        </p:txBody>
      </p:sp>
      <p:sp>
        <p:nvSpPr>
          <p:cNvPr id="33" name="Text 23"/>
          <p:cNvSpPr/>
          <p:nvPr/>
        </p:nvSpPr>
        <p:spPr>
          <a:xfrm>
            <a:off x="8641080" y="3657600"/>
            <a:ext cx="2743200" cy="1828800"/>
          </a:xfrm>
          <a:prstGeom prst="rect">
            <a:avLst/>
          </a:prstGeom>
          <a:noFill/>
          <a:ln/>
        </p:spPr>
        <p:txBody>
          <a:bodyPr wrap="square" lIns="0" tIns="0" rIns="0" bIns="0" rtlCol="0" anchor="ctr"/>
          <a:lstStyle/>
          <a:p>
            <a:pPr indent="0" marL="0">
              <a:lnSpc>
                <a:spcPts val="1900"/>
              </a:lnSpc>
              <a:buNone/>
            </a:pPr>
            <a:r>
              <a:rPr lang="en-US" sz="1300" dirty="0">
                <a:solidFill>
                  <a:srgbClr val="B6CBCC"/>
                </a:solidFill>
                <a:latin typeface="Calibri" pitchFamily="34" charset="0"/>
                <a:ea typeface="Calibri" pitchFamily="34" charset="-122"/>
                <a:cs typeface="Calibri" pitchFamily="34" charset="-120"/>
              </a:rPr>
              <a:t>Mỗi tầng một trách nhiệm → dễ bảo trì, dễ kiểm thử và mở rộng từng phần độc lập.</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200" b="1" spc="300" kern="0" dirty="0">
                <a:solidFill>
                  <a:srgbClr val="0D9488"/>
                </a:solidFill>
                <a:latin typeface="Calibri" pitchFamily="34" charset="0"/>
                <a:ea typeface="Calibri" pitchFamily="34" charset="-122"/>
                <a:cs typeface="Calibri" pitchFamily="34" charset="-120"/>
              </a:rPr>
              <a:t>DỮ LIỆU</a:t>
            </a:r>
            <a:endParaRPr lang="en-US" sz="1200" dirty="0"/>
          </a:p>
        </p:txBody>
      </p:sp>
      <p:sp>
        <p:nvSpPr>
          <p:cNvPr id="3" name="Text 1"/>
          <p:cNvSpPr/>
          <p:nvPr/>
        </p:nvSpPr>
        <p:spPr>
          <a:xfrm>
            <a:off x="548640" y="822960"/>
            <a:ext cx="10698480" cy="822960"/>
          </a:xfrm>
          <a:prstGeom prst="rect">
            <a:avLst/>
          </a:prstGeom>
          <a:noFill/>
          <a:ln/>
        </p:spPr>
        <p:txBody>
          <a:bodyPr wrap="square" lIns="0" tIns="0" rIns="0" bIns="0" rtlCol="0" anchor="ctr"/>
          <a:lstStyle/>
          <a:p>
            <a:pPr algn="l" indent="0" marL="0">
              <a:buNone/>
            </a:pPr>
            <a:r>
              <a:rPr lang="en-US" sz="3100" b="1" dirty="0">
                <a:solidFill>
                  <a:srgbClr val="1E293B"/>
                </a:solidFill>
                <a:latin typeface="Georgia" pitchFamily="34" charset="0"/>
                <a:ea typeface="Georgia" pitchFamily="34" charset="-122"/>
                <a:cs typeface="Georgia" pitchFamily="34" charset="-120"/>
              </a:rPr>
              <a:t>Cơ sở dữ liệu — 11 bảng chính</a:t>
            </a:r>
            <a:endParaRPr lang="en-US" sz="31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Hệ thống học tập trực tuyến với AI</a:t>
            </a:r>
            <a:endParaRPr lang="en-US" sz="900" dirty="0"/>
          </a:p>
        </p:txBody>
      </p:sp>
      <p:sp>
        <p:nvSpPr>
          <p:cNvPr id="5" name="Text 3"/>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7315200" cy="914400"/>
        </p:xfrm>
        <a:graphic>
          <a:graphicData uri="http://schemas.openxmlformats.org/drawingml/2006/table">
            <a:tbl>
              <a:tblPr/>
              <a:tblGrid>
                <a:gridCol w="2834640"/>
                <a:gridCol w="4480560"/>
              </a:tblGrid>
              <a:tr h="475488">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Bảng</a:t>
                      </a:r>
                      <a:endParaRPr lang="en-US" sz="13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Vai trò chính</a:t>
                      </a:r>
                      <a:endParaRPr lang="en-US" sz="13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475488">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users</a:t>
                      </a:r>
                      <a:endParaRPr lang="en-US" sz="13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Người dùng, vai trò, current_level</a:t>
                      </a:r>
                      <a:endParaRPr lang="en-US" sz="13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475488">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courses / lessons</a:t>
                      </a:r>
                      <a:endParaRPr lang="en-US" sz="13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Khóa học và bài giảng (kèm video)</a:t>
                      </a:r>
                      <a:endParaRPr lang="en-US" sz="13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475488">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questions</a:t>
                      </a:r>
                      <a:endParaRPr lang="en-US" sz="13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Câu hỏi quiz phân theo độ khó</a:t>
                      </a:r>
                      <a:endParaRPr lang="en-US" sz="13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475488">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quiz_attempts / quiz_answers</a:t>
                      </a:r>
                      <a:endParaRPr lang="en-US" sz="13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Lượt làm bài và từng câu trả lời</a:t>
                      </a:r>
                      <a:endParaRPr lang="en-US" sz="13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475488">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focus_logs</a:t>
                      </a:r>
                      <a:endParaRPr lang="en-US" sz="13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Trạng thái &amp; điểm tập trung qua webcam</a:t>
                      </a:r>
                      <a:endParaRPr lang="en-US" sz="13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475488">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learning_progress</a:t>
                      </a:r>
                      <a:endParaRPr lang="en-US" sz="13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Tiến trình hoàn thành từng bài học</a:t>
                      </a:r>
                      <a:endParaRPr lang="en-US" sz="13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475488">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feedbacks</a:t>
                      </a:r>
                      <a:endParaRPr lang="en-US" sz="13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E293B"/>
                          </a:solidFill>
                          <a:latin typeface="Calibri" pitchFamily="34" charset="0"/>
                          <a:ea typeface="Calibri" pitchFamily="34" charset="-122"/>
                          <a:cs typeface="Calibri" pitchFamily="34" charset="-120"/>
                        </a:rPr>
                        <a:t>Phản hồi sinh từ điểm quiz + tập trung</a:t>
                      </a:r>
                      <a:endParaRPr lang="en-US" sz="13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1920240"/>
            <a:ext cx="7315200" cy="475488"/>
          </a:xfrm>
          <a:prstGeom prst="rect">
            <a:avLst/>
          </a:prstGeom>
          <a:solidFill>
            <a:srgbClr val="0B2E33"/>
          </a:solidFill>
          <a:ln/>
        </p:spPr>
      </p:sp>
      <p:sp>
        <p:nvSpPr>
          <p:cNvPr id="8" name="Text 5"/>
          <p:cNvSpPr/>
          <p:nvPr/>
        </p:nvSpPr>
        <p:spPr>
          <a:xfrm>
            <a:off x="640080" y="1920240"/>
            <a:ext cx="2743200" cy="47548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Bảng</a:t>
            </a:r>
            <a:endParaRPr lang="en-US" sz="1350" dirty="0"/>
          </a:p>
        </p:txBody>
      </p:sp>
      <p:sp>
        <p:nvSpPr>
          <p:cNvPr id="9" name="Text 6"/>
          <p:cNvSpPr/>
          <p:nvPr/>
        </p:nvSpPr>
        <p:spPr>
          <a:xfrm>
            <a:off x="3474720" y="1920240"/>
            <a:ext cx="4297680" cy="47548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Vai trò chính</a:t>
            </a:r>
            <a:endParaRPr lang="en-US" sz="1350" dirty="0"/>
          </a:p>
        </p:txBody>
      </p:sp>
      <p:sp>
        <p:nvSpPr>
          <p:cNvPr id="10" name="Shape 7"/>
          <p:cNvSpPr/>
          <p:nvPr/>
        </p:nvSpPr>
        <p:spPr>
          <a:xfrm>
            <a:off x="8183880" y="1920240"/>
            <a:ext cx="3429000" cy="3886200"/>
          </a:xfrm>
          <a:prstGeom prst="roundRect">
            <a:avLst>
              <a:gd name="adj" fmla="val 3200"/>
            </a:avLst>
          </a:prstGeom>
          <a:solidFill>
            <a:srgbClr val="E8F3F2"/>
          </a:solidFill>
          <a:ln/>
        </p:spPr>
      </p:sp>
      <p:sp>
        <p:nvSpPr>
          <p:cNvPr id="11" name="Shape 8"/>
          <p:cNvSpPr/>
          <p:nvPr/>
        </p:nvSpPr>
        <p:spPr>
          <a:xfrm>
            <a:off x="8503920" y="2240280"/>
            <a:ext cx="731520" cy="73152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12" name="Image 0" descr="preencoded.png">    </p:cNvPr>
          <p:cNvPicPr>
            <a:picLocks noChangeAspect="1"/>
          </p:cNvPicPr>
          <p:nvPr/>
        </p:nvPicPr>
        <p:blipFill>
          <a:blip r:embed="rId1"/>
          <a:stretch>
            <a:fillRect/>
          </a:stretch>
        </p:blipFill>
        <p:spPr>
          <a:xfrm>
            <a:off x="8686800" y="2423160"/>
            <a:ext cx="365760" cy="365760"/>
          </a:xfrm>
          <a:prstGeom prst="rect">
            <a:avLst/>
          </a:prstGeom>
        </p:spPr>
      </p:pic>
      <p:sp>
        <p:nvSpPr>
          <p:cNvPr id="13" name="Text 9"/>
          <p:cNvSpPr/>
          <p:nvPr/>
        </p:nvSpPr>
        <p:spPr>
          <a:xfrm>
            <a:off x="8503920" y="3154680"/>
            <a:ext cx="2834640" cy="457200"/>
          </a:xfrm>
          <a:prstGeom prst="rect">
            <a:avLst/>
          </a:prstGeom>
          <a:noFill/>
          <a:ln/>
        </p:spPr>
        <p:txBody>
          <a:bodyPr wrap="square" lIns="0" tIns="0" rIns="0" bIns="0" rtlCol="0" anchor="ctr"/>
          <a:lstStyle/>
          <a:p>
            <a:pPr indent="0" marL="0">
              <a:buNone/>
            </a:pPr>
            <a:r>
              <a:rPr lang="en-US" sz="1700" b="1" dirty="0">
                <a:solidFill>
                  <a:srgbClr val="1E293B"/>
                </a:solidFill>
                <a:latin typeface="Georgia" pitchFamily="34" charset="0"/>
                <a:ea typeface="Georgia" pitchFamily="34" charset="-122"/>
                <a:cs typeface="Georgia" pitchFamily="34" charset="-120"/>
              </a:rPr>
              <a:t>Thiết kế chuẩn hóa</a:t>
            </a:r>
            <a:endParaRPr lang="en-US" sz="1700" dirty="0"/>
          </a:p>
        </p:txBody>
      </p:sp>
      <p:sp>
        <p:nvSpPr>
          <p:cNvPr id="14" name="Text 10"/>
          <p:cNvSpPr/>
          <p:nvPr/>
        </p:nvSpPr>
        <p:spPr>
          <a:xfrm>
            <a:off x="8503920" y="3657600"/>
            <a:ext cx="2834640" cy="1828800"/>
          </a:xfrm>
          <a:prstGeom prst="rect">
            <a:avLst/>
          </a:prstGeom>
          <a:noFill/>
          <a:ln/>
        </p:spPr>
        <p:txBody>
          <a:bodyPr wrap="square" lIns="0" tIns="0" rIns="0" bIns="0" rtlCol="0" anchor="ctr"/>
          <a:lstStyle/>
          <a:p>
            <a:pPr indent="0" marL="0">
              <a:lnSpc>
                <a:spcPts val="1900"/>
              </a:lnSpc>
              <a:buNone/>
            </a:pPr>
            <a:r>
              <a:rPr lang="en-US" sz="1300" dirty="0">
                <a:solidFill>
                  <a:srgbClr val="64748B"/>
                </a:solidFill>
                <a:latin typeface="Calibri" pitchFamily="34" charset="0"/>
                <a:ea typeface="Calibri" pitchFamily="34" charset="-122"/>
                <a:cs typeface="Calibri" pitchFamily="34" charset="-120"/>
              </a:rPr>
              <a:t>Các bảng liên kết bằng khóa ngoại rõ ràng, áp dụng JPA Entity mapping và pattern Repository – Service – Controller.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2E33"/>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200" b="1" spc="300" kern="0" dirty="0">
                <a:solidFill>
                  <a:srgbClr val="5EEAD4"/>
                </a:solidFill>
                <a:latin typeface="Calibri" pitchFamily="34" charset="0"/>
                <a:ea typeface="Calibri" pitchFamily="34" charset="-122"/>
                <a:cs typeface="Calibri" pitchFamily="34" charset="-120"/>
              </a:rPr>
              <a:t>DỮ LIỆU</a:t>
            </a:r>
            <a:endParaRPr lang="en-US" sz="1200" dirty="0"/>
          </a:p>
        </p:txBody>
      </p:sp>
      <p:sp>
        <p:nvSpPr>
          <p:cNvPr id="3" name="Text 1"/>
          <p:cNvSpPr/>
          <p:nvPr/>
        </p:nvSpPr>
        <p:spPr>
          <a:xfrm>
            <a:off x="548640" y="822960"/>
            <a:ext cx="10698480" cy="822960"/>
          </a:xfrm>
          <a:prstGeom prst="rect">
            <a:avLst/>
          </a:prstGeom>
          <a:noFill/>
          <a:ln/>
        </p:spPr>
        <p:txBody>
          <a:bodyPr wrap="square" lIns="0" tIns="0" rIns="0" bIns="0" rtlCol="0" anchor="ctr"/>
          <a:lstStyle/>
          <a:p>
            <a:pPr algn="l" indent="0" marL="0">
              <a:buNone/>
            </a:pPr>
            <a:r>
              <a:rPr lang="en-US" sz="3100" b="1" dirty="0">
                <a:solidFill>
                  <a:srgbClr val="FFFFFF"/>
                </a:solidFill>
                <a:latin typeface="Georgia" pitchFamily="34" charset="0"/>
                <a:ea typeface="Georgia" pitchFamily="34" charset="-122"/>
                <a:cs typeface="Georgia" pitchFamily="34" charset="-120"/>
              </a:rPr>
              <a:t>Quan hệ dữ liệu chính</a:t>
            </a:r>
            <a:endParaRPr lang="en-US" sz="31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Hệ thống học tập trực tuyến với AI</a:t>
            </a:r>
            <a:endParaRPr lang="en-US" sz="900" dirty="0"/>
          </a:p>
        </p:txBody>
      </p:sp>
      <p:sp>
        <p:nvSpPr>
          <p:cNvPr id="5" name="Text 3"/>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
        <p:nvSpPr>
          <p:cNvPr id="6" name="Shape 4"/>
          <p:cNvSpPr/>
          <p:nvPr/>
        </p:nvSpPr>
        <p:spPr>
          <a:xfrm>
            <a:off x="822960" y="3017520"/>
            <a:ext cx="2011680" cy="685800"/>
          </a:xfrm>
          <a:prstGeom prst="roundRect">
            <a:avLst>
              <a:gd name="adj" fmla="val 10667"/>
            </a:avLst>
          </a:prstGeom>
          <a:solidFill>
            <a:srgbClr val="0D9488"/>
          </a:solidFill>
          <a:ln/>
          <a:effectLst>
            <a:outerShdw sx="100000" sy="100000" kx="0" ky="0" algn="bl" rotWithShape="0" blurRad="101600" dist="38100" dir="8100000">
              <a:srgbClr val="0B2E33">
                <a:alpha val="12000"/>
              </a:srgbClr>
            </a:outerShdw>
          </a:effectLst>
        </p:spPr>
      </p:sp>
      <p:sp>
        <p:nvSpPr>
          <p:cNvPr id="7" name="Text 5"/>
          <p:cNvSpPr/>
          <p:nvPr/>
        </p:nvSpPr>
        <p:spPr>
          <a:xfrm>
            <a:off x="822960" y="3017520"/>
            <a:ext cx="2011680" cy="68580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users</a:t>
            </a:r>
            <a:endParaRPr lang="en-US" sz="1350" dirty="0"/>
          </a:p>
        </p:txBody>
      </p:sp>
      <p:sp>
        <p:nvSpPr>
          <p:cNvPr id="8" name="Shape 6"/>
          <p:cNvSpPr/>
          <p:nvPr/>
        </p:nvSpPr>
        <p:spPr>
          <a:xfrm>
            <a:off x="3657600" y="2011680"/>
            <a:ext cx="2011680" cy="685800"/>
          </a:xfrm>
          <a:prstGeom prst="roundRect">
            <a:avLst>
              <a:gd name="adj" fmla="val 10667"/>
            </a:avLst>
          </a:prstGeom>
          <a:solidFill>
            <a:srgbClr val="14B8A6"/>
          </a:solidFill>
          <a:ln/>
          <a:effectLst>
            <a:outerShdw sx="100000" sy="100000" kx="0" ky="0" algn="bl" rotWithShape="0" blurRad="101600" dist="38100" dir="8100000">
              <a:srgbClr val="0B2E33">
                <a:alpha val="12000"/>
              </a:srgbClr>
            </a:outerShdw>
          </a:effectLst>
        </p:spPr>
      </p:sp>
      <p:sp>
        <p:nvSpPr>
          <p:cNvPr id="9" name="Text 7"/>
          <p:cNvSpPr/>
          <p:nvPr/>
        </p:nvSpPr>
        <p:spPr>
          <a:xfrm>
            <a:off x="3657600" y="2011680"/>
            <a:ext cx="2011680" cy="68580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courses</a:t>
            </a:r>
            <a:endParaRPr lang="en-US" sz="1350" dirty="0"/>
          </a:p>
        </p:txBody>
      </p:sp>
      <p:sp>
        <p:nvSpPr>
          <p:cNvPr id="10" name="Shape 8"/>
          <p:cNvSpPr/>
          <p:nvPr/>
        </p:nvSpPr>
        <p:spPr>
          <a:xfrm>
            <a:off x="3657600" y="4023360"/>
            <a:ext cx="2011680" cy="685800"/>
          </a:xfrm>
          <a:prstGeom prst="roundRect">
            <a:avLst>
              <a:gd name="adj" fmla="val 10667"/>
            </a:avLst>
          </a:prstGeom>
          <a:solidFill>
            <a:srgbClr val="F4A259"/>
          </a:solidFill>
          <a:ln/>
          <a:effectLst>
            <a:outerShdw sx="100000" sy="100000" kx="0" ky="0" algn="bl" rotWithShape="0" blurRad="101600" dist="38100" dir="8100000">
              <a:srgbClr val="0B2E33">
                <a:alpha val="12000"/>
              </a:srgbClr>
            </a:outerShdw>
          </a:effectLst>
        </p:spPr>
      </p:sp>
      <p:sp>
        <p:nvSpPr>
          <p:cNvPr id="11" name="Text 9"/>
          <p:cNvSpPr/>
          <p:nvPr/>
        </p:nvSpPr>
        <p:spPr>
          <a:xfrm>
            <a:off x="3657600" y="4023360"/>
            <a:ext cx="2011680" cy="68580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focus_logs</a:t>
            </a:r>
            <a:endParaRPr lang="en-US" sz="1350" dirty="0"/>
          </a:p>
        </p:txBody>
      </p:sp>
      <p:sp>
        <p:nvSpPr>
          <p:cNvPr id="12" name="Shape 10"/>
          <p:cNvSpPr/>
          <p:nvPr/>
        </p:nvSpPr>
        <p:spPr>
          <a:xfrm>
            <a:off x="6492240" y="2011680"/>
            <a:ext cx="2011680" cy="685800"/>
          </a:xfrm>
          <a:prstGeom prst="roundRect">
            <a:avLst>
              <a:gd name="adj" fmla="val 10667"/>
            </a:avLst>
          </a:prstGeom>
          <a:solidFill>
            <a:srgbClr val="14B8A6"/>
          </a:solidFill>
          <a:ln/>
          <a:effectLst>
            <a:outerShdw sx="100000" sy="100000" kx="0" ky="0" algn="bl" rotWithShape="0" blurRad="101600" dist="38100" dir="8100000">
              <a:srgbClr val="0B2E33">
                <a:alpha val="12000"/>
              </a:srgbClr>
            </a:outerShdw>
          </a:effectLst>
        </p:spPr>
      </p:sp>
      <p:sp>
        <p:nvSpPr>
          <p:cNvPr id="13" name="Text 11"/>
          <p:cNvSpPr/>
          <p:nvPr/>
        </p:nvSpPr>
        <p:spPr>
          <a:xfrm>
            <a:off x="6492240" y="2011680"/>
            <a:ext cx="2011680" cy="68580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lessons</a:t>
            </a:r>
            <a:endParaRPr lang="en-US" sz="1350" dirty="0"/>
          </a:p>
        </p:txBody>
      </p:sp>
      <p:sp>
        <p:nvSpPr>
          <p:cNvPr id="14" name="Shape 12"/>
          <p:cNvSpPr/>
          <p:nvPr/>
        </p:nvSpPr>
        <p:spPr>
          <a:xfrm>
            <a:off x="6492240" y="4023360"/>
            <a:ext cx="2011680" cy="685800"/>
          </a:xfrm>
          <a:prstGeom prst="roundRect">
            <a:avLst>
              <a:gd name="adj" fmla="val 10667"/>
            </a:avLst>
          </a:prstGeom>
          <a:solidFill>
            <a:srgbClr val="F4A259"/>
          </a:solidFill>
          <a:ln/>
          <a:effectLst>
            <a:outerShdw sx="100000" sy="100000" kx="0" ky="0" algn="bl" rotWithShape="0" blurRad="101600" dist="38100" dir="8100000">
              <a:srgbClr val="0B2E33">
                <a:alpha val="12000"/>
              </a:srgbClr>
            </a:outerShdw>
          </a:effectLst>
        </p:spPr>
      </p:sp>
      <p:sp>
        <p:nvSpPr>
          <p:cNvPr id="15" name="Text 13"/>
          <p:cNvSpPr/>
          <p:nvPr/>
        </p:nvSpPr>
        <p:spPr>
          <a:xfrm>
            <a:off x="6492240" y="4023360"/>
            <a:ext cx="2011680" cy="68580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quiz_attempts</a:t>
            </a:r>
            <a:endParaRPr lang="en-US" sz="1350" dirty="0"/>
          </a:p>
        </p:txBody>
      </p:sp>
      <p:sp>
        <p:nvSpPr>
          <p:cNvPr id="16" name="Shape 14"/>
          <p:cNvSpPr/>
          <p:nvPr/>
        </p:nvSpPr>
        <p:spPr>
          <a:xfrm>
            <a:off x="9326880" y="2011680"/>
            <a:ext cx="2011680" cy="685800"/>
          </a:xfrm>
          <a:prstGeom prst="roundRect">
            <a:avLst>
              <a:gd name="adj" fmla="val 10667"/>
            </a:avLst>
          </a:prstGeom>
          <a:solidFill>
            <a:srgbClr val="12393F"/>
          </a:solidFill>
          <a:ln/>
          <a:effectLst>
            <a:outerShdw sx="100000" sy="100000" kx="0" ky="0" algn="bl" rotWithShape="0" blurRad="101600" dist="38100" dir="8100000">
              <a:srgbClr val="0B2E33">
                <a:alpha val="12000"/>
              </a:srgbClr>
            </a:outerShdw>
          </a:effectLst>
        </p:spPr>
      </p:sp>
      <p:sp>
        <p:nvSpPr>
          <p:cNvPr id="17" name="Text 15"/>
          <p:cNvSpPr/>
          <p:nvPr/>
        </p:nvSpPr>
        <p:spPr>
          <a:xfrm>
            <a:off x="9326880" y="2011680"/>
            <a:ext cx="2011680" cy="68580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questions</a:t>
            </a:r>
            <a:endParaRPr lang="en-US" sz="1350" dirty="0"/>
          </a:p>
        </p:txBody>
      </p:sp>
      <p:sp>
        <p:nvSpPr>
          <p:cNvPr id="18" name="Shape 16"/>
          <p:cNvSpPr/>
          <p:nvPr/>
        </p:nvSpPr>
        <p:spPr>
          <a:xfrm>
            <a:off x="9326880" y="4023360"/>
            <a:ext cx="2011680" cy="685800"/>
          </a:xfrm>
          <a:prstGeom prst="roundRect">
            <a:avLst>
              <a:gd name="adj" fmla="val 10667"/>
            </a:avLst>
          </a:prstGeom>
          <a:solidFill>
            <a:srgbClr val="12393F"/>
          </a:solidFill>
          <a:ln/>
          <a:effectLst>
            <a:outerShdw sx="100000" sy="100000" kx="0" ky="0" algn="bl" rotWithShape="0" blurRad="101600" dist="38100" dir="8100000">
              <a:srgbClr val="0B2E33">
                <a:alpha val="12000"/>
              </a:srgbClr>
            </a:outerShdw>
          </a:effectLst>
        </p:spPr>
      </p:sp>
      <p:sp>
        <p:nvSpPr>
          <p:cNvPr id="19" name="Text 17"/>
          <p:cNvSpPr/>
          <p:nvPr/>
        </p:nvSpPr>
        <p:spPr>
          <a:xfrm>
            <a:off x="9326880" y="4023360"/>
            <a:ext cx="2011680" cy="68580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quiz_answers</a:t>
            </a:r>
            <a:endParaRPr lang="en-US" sz="1350" dirty="0"/>
          </a:p>
        </p:txBody>
      </p:sp>
      <p:sp>
        <p:nvSpPr>
          <p:cNvPr id="20" name="Shape 18"/>
          <p:cNvSpPr/>
          <p:nvPr/>
        </p:nvSpPr>
        <p:spPr>
          <a:xfrm flipV="1">
            <a:off x="2834640" y="2377440"/>
            <a:ext cx="822960" cy="914400"/>
          </a:xfrm>
          <a:prstGeom prst="line">
            <a:avLst/>
          </a:prstGeom>
          <a:noFill/>
          <a:ln w="19050">
            <a:solidFill>
              <a:srgbClr val="5EEAD4"/>
            </a:solidFill>
            <a:prstDash val="solid"/>
          </a:ln>
        </p:spPr>
      </p:sp>
      <p:sp>
        <p:nvSpPr>
          <p:cNvPr id="21" name="Shape 19"/>
          <p:cNvSpPr/>
          <p:nvPr/>
        </p:nvSpPr>
        <p:spPr>
          <a:xfrm>
            <a:off x="2834640" y="3383280"/>
            <a:ext cx="822960" cy="914400"/>
          </a:xfrm>
          <a:prstGeom prst="line">
            <a:avLst/>
          </a:prstGeom>
          <a:noFill/>
          <a:ln w="19050">
            <a:solidFill>
              <a:srgbClr val="5EEAD4"/>
            </a:solidFill>
            <a:prstDash val="solid"/>
          </a:ln>
        </p:spPr>
      </p:sp>
      <p:sp>
        <p:nvSpPr>
          <p:cNvPr id="22" name="Shape 20"/>
          <p:cNvSpPr/>
          <p:nvPr/>
        </p:nvSpPr>
        <p:spPr>
          <a:xfrm>
            <a:off x="5669280" y="2331720"/>
            <a:ext cx="822960" cy="0"/>
          </a:xfrm>
          <a:prstGeom prst="line">
            <a:avLst/>
          </a:prstGeom>
          <a:noFill/>
          <a:ln w="19050">
            <a:solidFill>
              <a:srgbClr val="5EEAD4"/>
            </a:solidFill>
            <a:prstDash val="solid"/>
          </a:ln>
        </p:spPr>
      </p:sp>
      <p:sp>
        <p:nvSpPr>
          <p:cNvPr id="23" name="Shape 21"/>
          <p:cNvSpPr/>
          <p:nvPr/>
        </p:nvSpPr>
        <p:spPr>
          <a:xfrm>
            <a:off x="5669280" y="4343400"/>
            <a:ext cx="822960" cy="0"/>
          </a:xfrm>
          <a:prstGeom prst="line">
            <a:avLst/>
          </a:prstGeom>
          <a:noFill/>
          <a:ln w="19050">
            <a:solidFill>
              <a:srgbClr val="5EEAD4"/>
            </a:solidFill>
            <a:prstDash val="solid"/>
          </a:ln>
        </p:spPr>
      </p:sp>
      <p:sp>
        <p:nvSpPr>
          <p:cNvPr id="24" name="Shape 22"/>
          <p:cNvSpPr/>
          <p:nvPr/>
        </p:nvSpPr>
        <p:spPr>
          <a:xfrm>
            <a:off x="8503920" y="2331720"/>
            <a:ext cx="822960" cy="0"/>
          </a:xfrm>
          <a:prstGeom prst="line">
            <a:avLst/>
          </a:prstGeom>
          <a:noFill/>
          <a:ln w="19050">
            <a:solidFill>
              <a:srgbClr val="5EEAD4"/>
            </a:solidFill>
            <a:prstDash val="solid"/>
          </a:ln>
        </p:spPr>
      </p:sp>
      <p:sp>
        <p:nvSpPr>
          <p:cNvPr id="25" name="Shape 23"/>
          <p:cNvSpPr/>
          <p:nvPr/>
        </p:nvSpPr>
        <p:spPr>
          <a:xfrm>
            <a:off x="8503920" y="4343400"/>
            <a:ext cx="822960" cy="0"/>
          </a:xfrm>
          <a:prstGeom prst="line">
            <a:avLst/>
          </a:prstGeom>
          <a:noFill/>
          <a:ln w="19050">
            <a:solidFill>
              <a:srgbClr val="5EEAD4"/>
            </a:solidFill>
            <a:prstDash val="solid"/>
          </a:ln>
        </p:spPr>
      </p:sp>
      <p:sp>
        <p:nvSpPr>
          <p:cNvPr id="26" name="Shape 24"/>
          <p:cNvSpPr/>
          <p:nvPr/>
        </p:nvSpPr>
        <p:spPr>
          <a:xfrm>
            <a:off x="7498080" y="2697480"/>
            <a:ext cx="0" cy="1325880"/>
          </a:xfrm>
          <a:prstGeom prst="line">
            <a:avLst/>
          </a:prstGeom>
          <a:noFill/>
          <a:ln w="19050">
            <a:solidFill>
              <a:srgbClr val="5EEAD4"/>
            </a:solidFill>
            <a:prstDash val="solid"/>
          </a:ln>
        </p:spPr>
      </p:sp>
      <p:sp>
        <p:nvSpPr>
          <p:cNvPr id="27" name="Text 25"/>
          <p:cNvSpPr/>
          <p:nvPr/>
        </p:nvSpPr>
        <p:spPr>
          <a:xfrm>
            <a:off x="822960" y="5212080"/>
            <a:ext cx="10515600" cy="548640"/>
          </a:xfrm>
          <a:prstGeom prst="rect">
            <a:avLst/>
          </a:prstGeom>
          <a:noFill/>
          <a:ln/>
        </p:spPr>
        <p:txBody>
          <a:bodyPr wrap="square" lIns="0" tIns="0" rIns="0" bIns="0" rtlCol="0" anchor="ctr"/>
          <a:lstStyle/>
          <a:p>
            <a:pPr algn="ctr" indent="0" marL="0">
              <a:buNone/>
            </a:pPr>
            <a:r>
              <a:rPr lang="en-US" sz="1350" i="1" dirty="0">
                <a:solidFill>
                  <a:srgbClr val="CBD5E1"/>
                </a:solidFill>
                <a:latin typeface="Calibri" pitchFamily="34" charset="0"/>
                <a:ea typeface="Calibri" pitchFamily="34" charset="-122"/>
                <a:cs typeface="Calibri" pitchFamily="34" charset="-120"/>
              </a:rPr>
              <a:t>Một người học → nhiều khóa học, bài học, lượt quiz và bản ghi tập trung. Tất cả ràng buộc bằng khóa ngoại.</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200" b="1" spc="300" kern="0" dirty="0">
                <a:solidFill>
                  <a:srgbClr val="0D9488"/>
                </a:solidFill>
                <a:latin typeface="Calibri" pitchFamily="34" charset="0"/>
                <a:ea typeface="Calibri" pitchFamily="34" charset="-122"/>
                <a:cs typeface="Calibri" pitchFamily="34" charset="-120"/>
              </a:rPr>
              <a:t>CHỨC NĂNG · NGƯỜI HỌC</a:t>
            </a:r>
            <a:endParaRPr lang="en-US" sz="1200" dirty="0"/>
          </a:p>
        </p:txBody>
      </p:sp>
      <p:sp>
        <p:nvSpPr>
          <p:cNvPr id="3" name="Text 1"/>
          <p:cNvSpPr/>
          <p:nvPr/>
        </p:nvSpPr>
        <p:spPr>
          <a:xfrm>
            <a:off x="548640" y="822960"/>
            <a:ext cx="10698480" cy="822960"/>
          </a:xfrm>
          <a:prstGeom prst="rect">
            <a:avLst/>
          </a:prstGeom>
          <a:noFill/>
          <a:ln/>
        </p:spPr>
        <p:txBody>
          <a:bodyPr wrap="square" lIns="0" tIns="0" rIns="0" bIns="0" rtlCol="0" anchor="ctr"/>
          <a:lstStyle/>
          <a:p>
            <a:pPr algn="l" indent="0" marL="0">
              <a:buNone/>
            </a:pPr>
            <a:r>
              <a:rPr lang="en-US" sz="3100" b="1" dirty="0">
                <a:solidFill>
                  <a:srgbClr val="1E293B"/>
                </a:solidFill>
                <a:latin typeface="Georgia" pitchFamily="34" charset="0"/>
                <a:ea typeface="Georgia" pitchFamily="34" charset="-122"/>
                <a:cs typeface="Georgia" pitchFamily="34" charset="-120"/>
              </a:rPr>
              <a:t>Trải nghiệm của người học</a:t>
            </a:r>
            <a:endParaRPr lang="en-US" sz="31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Hệ thống học tập trực tuyến với AI</a:t>
            </a:r>
            <a:endParaRPr lang="en-US" sz="900" dirty="0"/>
          </a:p>
        </p:txBody>
      </p:sp>
      <p:sp>
        <p:nvSpPr>
          <p:cNvPr id="5" name="Text 3"/>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548640" y="1874520"/>
            <a:ext cx="11064240" cy="758952"/>
          </a:xfrm>
          <a:prstGeom prst="roundRect">
            <a:avLst>
              <a:gd name="adj" fmla="val 9639"/>
            </a:avLst>
          </a:prstGeom>
          <a:solidFill>
            <a:srgbClr val="E8F3F2"/>
          </a:solidFill>
          <a:ln/>
        </p:spPr>
      </p:sp>
      <p:sp>
        <p:nvSpPr>
          <p:cNvPr id="7" name="Shape 5"/>
          <p:cNvSpPr/>
          <p:nvPr/>
        </p:nvSpPr>
        <p:spPr>
          <a:xfrm>
            <a:off x="777240" y="1979676"/>
            <a:ext cx="548640" cy="54864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8" name="Image 0" descr="preencoded.png">    </p:cNvPr>
          <p:cNvPicPr>
            <a:picLocks noChangeAspect="1"/>
          </p:cNvPicPr>
          <p:nvPr/>
        </p:nvPicPr>
        <p:blipFill>
          <a:blip r:embed="rId1"/>
          <a:stretch>
            <a:fillRect/>
          </a:stretch>
        </p:blipFill>
        <p:spPr>
          <a:xfrm>
            <a:off x="914400" y="2116836"/>
            <a:ext cx="274320" cy="274320"/>
          </a:xfrm>
          <a:prstGeom prst="rect">
            <a:avLst/>
          </a:prstGeom>
        </p:spPr>
      </p:pic>
      <p:sp>
        <p:nvSpPr>
          <p:cNvPr id="9" name="Text 6"/>
          <p:cNvSpPr/>
          <p:nvPr/>
        </p:nvSpPr>
        <p:spPr>
          <a:xfrm>
            <a:off x="1508760" y="1984248"/>
            <a:ext cx="9875520" cy="365760"/>
          </a:xfrm>
          <a:prstGeom prst="rect">
            <a:avLst/>
          </a:prstGeom>
          <a:noFill/>
          <a:ln/>
        </p:spPr>
        <p:txBody>
          <a:bodyPr wrap="square" lIns="0" tIns="0" rIns="0" bIns="0" rtlCol="0" anchor="ctr"/>
          <a:lstStyle/>
          <a:p>
            <a:pPr indent="0" marL="0">
              <a:buNone/>
            </a:pPr>
            <a:r>
              <a:rPr lang="en-US" sz="1450" b="1" dirty="0">
                <a:solidFill>
                  <a:srgbClr val="1E293B"/>
                </a:solidFill>
                <a:latin typeface="Georgia" pitchFamily="34" charset="0"/>
                <a:ea typeface="Georgia" pitchFamily="34" charset="-122"/>
                <a:cs typeface="Georgia" pitchFamily="34" charset="-120"/>
              </a:rPr>
              <a:t>Tài khoản</a:t>
            </a:r>
            <a:endParaRPr lang="en-US" sz="1450" dirty="0"/>
          </a:p>
        </p:txBody>
      </p:sp>
      <p:sp>
        <p:nvSpPr>
          <p:cNvPr id="10" name="Text 7"/>
          <p:cNvSpPr/>
          <p:nvPr/>
        </p:nvSpPr>
        <p:spPr>
          <a:xfrm>
            <a:off x="1508760" y="2322576"/>
            <a:ext cx="9875520" cy="3200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Đăng ký, đăng nhập, quản lý hồ sơ cá nhân</a:t>
            </a:r>
            <a:endParaRPr lang="en-US" sz="1150" dirty="0"/>
          </a:p>
        </p:txBody>
      </p:sp>
      <p:sp>
        <p:nvSpPr>
          <p:cNvPr id="11" name="Shape 8"/>
          <p:cNvSpPr/>
          <p:nvPr/>
        </p:nvSpPr>
        <p:spPr>
          <a:xfrm>
            <a:off x="548640" y="2743200"/>
            <a:ext cx="11064240" cy="758952"/>
          </a:xfrm>
          <a:prstGeom prst="roundRect">
            <a:avLst>
              <a:gd name="adj" fmla="val 9639"/>
            </a:avLst>
          </a:prstGeom>
          <a:solidFill>
            <a:srgbClr val="F1F5F9"/>
          </a:solidFill>
          <a:ln/>
        </p:spPr>
      </p:sp>
      <p:sp>
        <p:nvSpPr>
          <p:cNvPr id="12" name="Shape 9"/>
          <p:cNvSpPr/>
          <p:nvPr/>
        </p:nvSpPr>
        <p:spPr>
          <a:xfrm>
            <a:off x="777240" y="2848356"/>
            <a:ext cx="548640" cy="54864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13" name="Image 1" descr="preencoded.png">    </p:cNvPr>
          <p:cNvPicPr>
            <a:picLocks noChangeAspect="1"/>
          </p:cNvPicPr>
          <p:nvPr/>
        </p:nvPicPr>
        <p:blipFill>
          <a:blip r:embed="rId2"/>
          <a:stretch>
            <a:fillRect/>
          </a:stretch>
        </p:blipFill>
        <p:spPr>
          <a:xfrm>
            <a:off x="914400" y="2985516"/>
            <a:ext cx="274320" cy="274320"/>
          </a:xfrm>
          <a:prstGeom prst="rect">
            <a:avLst/>
          </a:prstGeom>
        </p:spPr>
      </p:pic>
      <p:sp>
        <p:nvSpPr>
          <p:cNvPr id="14" name="Text 10"/>
          <p:cNvSpPr/>
          <p:nvPr/>
        </p:nvSpPr>
        <p:spPr>
          <a:xfrm>
            <a:off x="1508760" y="2852928"/>
            <a:ext cx="9875520" cy="365760"/>
          </a:xfrm>
          <a:prstGeom prst="rect">
            <a:avLst/>
          </a:prstGeom>
          <a:noFill/>
          <a:ln/>
        </p:spPr>
        <p:txBody>
          <a:bodyPr wrap="square" lIns="0" tIns="0" rIns="0" bIns="0" rtlCol="0" anchor="ctr"/>
          <a:lstStyle/>
          <a:p>
            <a:pPr indent="0" marL="0">
              <a:buNone/>
            </a:pPr>
            <a:r>
              <a:rPr lang="en-US" sz="1450" b="1" dirty="0">
                <a:solidFill>
                  <a:srgbClr val="1E293B"/>
                </a:solidFill>
                <a:latin typeface="Georgia" pitchFamily="34" charset="0"/>
                <a:ea typeface="Georgia" pitchFamily="34" charset="-122"/>
                <a:cs typeface="Georgia" pitchFamily="34" charset="-120"/>
              </a:rPr>
              <a:t>Học bài giảng</a:t>
            </a:r>
            <a:endParaRPr lang="en-US" sz="1450" dirty="0"/>
          </a:p>
        </p:txBody>
      </p:sp>
      <p:sp>
        <p:nvSpPr>
          <p:cNvPr id="15" name="Text 11"/>
          <p:cNvSpPr/>
          <p:nvPr/>
        </p:nvSpPr>
        <p:spPr>
          <a:xfrm>
            <a:off x="1508760" y="3191256"/>
            <a:ext cx="9875520" cy="3200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Xem video, ghi chú, theo dõi tiến trình hoàn thành</a:t>
            </a:r>
            <a:endParaRPr lang="en-US" sz="1150" dirty="0"/>
          </a:p>
        </p:txBody>
      </p:sp>
      <p:sp>
        <p:nvSpPr>
          <p:cNvPr id="16" name="Shape 12"/>
          <p:cNvSpPr/>
          <p:nvPr/>
        </p:nvSpPr>
        <p:spPr>
          <a:xfrm>
            <a:off x="548640" y="3611880"/>
            <a:ext cx="11064240" cy="758952"/>
          </a:xfrm>
          <a:prstGeom prst="roundRect">
            <a:avLst>
              <a:gd name="adj" fmla="val 9639"/>
            </a:avLst>
          </a:prstGeom>
          <a:solidFill>
            <a:srgbClr val="E8F3F2"/>
          </a:solidFill>
          <a:ln/>
        </p:spPr>
      </p:sp>
      <p:sp>
        <p:nvSpPr>
          <p:cNvPr id="17" name="Shape 13"/>
          <p:cNvSpPr/>
          <p:nvPr/>
        </p:nvSpPr>
        <p:spPr>
          <a:xfrm>
            <a:off x="777240" y="3717036"/>
            <a:ext cx="548640" cy="54864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18" name="Image 2" descr="preencoded.png">    </p:cNvPr>
          <p:cNvPicPr>
            <a:picLocks noChangeAspect="1"/>
          </p:cNvPicPr>
          <p:nvPr/>
        </p:nvPicPr>
        <p:blipFill>
          <a:blip r:embed="rId3"/>
          <a:stretch>
            <a:fillRect/>
          </a:stretch>
        </p:blipFill>
        <p:spPr>
          <a:xfrm>
            <a:off x="914400" y="3854196"/>
            <a:ext cx="274320" cy="274320"/>
          </a:xfrm>
          <a:prstGeom prst="rect">
            <a:avLst/>
          </a:prstGeom>
        </p:spPr>
      </p:pic>
      <p:sp>
        <p:nvSpPr>
          <p:cNvPr id="19" name="Text 14"/>
          <p:cNvSpPr/>
          <p:nvPr/>
        </p:nvSpPr>
        <p:spPr>
          <a:xfrm>
            <a:off x="1508760" y="3721608"/>
            <a:ext cx="9875520" cy="365760"/>
          </a:xfrm>
          <a:prstGeom prst="rect">
            <a:avLst/>
          </a:prstGeom>
          <a:noFill/>
          <a:ln/>
        </p:spPr>
        <p:txBody>
          <a:bodyPr wrap="square" lIns="0" tIns="0" rIns="0" bIns="0" rtlCol="0" anchor="ctr"/>
          <a:lstStyle/>
          <a:p>
            <a:pPr indent="0" marL="0">
              <a:buNone/>
            </a:pPr>
            <a:r>
              <a:rPr lang="en-US" sz="1450" b="1" dirty="0">
                <a:solidFill>
                  <a:srgbClr val="1E293B"/>
                </a:solidFill>
                <a:latin typeface="Georgia" pitchFamily="34" charset="0"/>
                <a:ea typeface="Georgia" pitchFamily="34" charset="-122"/>
                <a:cs typeface="Georgia" pitchFamily="34" charset="-120"/>
              </a:rPr>
              <a:t>Giám sát tập trung</a:t>
            </a:r>
            <a:endParaRPr lang="en-US" sz="1450" dirty="0"/>
          </a:p>
        </p:txBody>
      </p:sp>
      <p:sp>
        <p:nvSpPr>
          <p:cNvPr id="20" name="Text 15"/>
          <p:cNvSpPr/>
          <p:nvPr/>
        </p:nvSpPr>
        <p:spPr>
          <a:xfrm>
            <a:off x="1508760" y="4059936"/>
            <a:ext cx="9875520" cy="3200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Bật webcam, AI cảnh báo khi mất tập trung / buồn ngủ</a:t>
            </a:r>
            <a:endParaRPr lang="en-US" sz="1150" dirty="0"/>
          </a:p>
        </p:txBody>
      </p:sp>
      <p:sp>
        <p:nvSpPr>
          <p:cNvPr id="21" name="Shape 16"/>
          <p:cNvSpPr/>
          <p:nvPr/>
        </p:nvSpPr>
        <p:spPr>
          <a:xfrm>
            <a:off x="548640" y="4480560"/>
            <a:ext cx="11064240" cy="758952"/>
          </a:xfrm>
          <a:prstGeom prst="roundRect">
            <a:avLst>
              <a:gd name="adj" fmla="val 9639"/>
            </a:avLst>
          </a:prstGeom>
          <a:solidFill>
            <a:srgbClr val="F1F5F9"/>
          </a:solidFill>
          <a:ln/>
        </p:spPr>
      </p:sp>
      <p:sp>
        <p:nvSpPr>
          <p:cNvPr id="22" name="Shape 17"/>
          <p:cNvSpPr/>
          <p:nvPr/>
        </p:nvSpPr>
        <p:spPr>
          <a:xfrm>
            <a:off x="777240" y="4585716"/>
            <a:ext cx="548640" cy="54864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23" name="Image 3" descr="preencoded.png">    </p:cNvPr>
          <p:cNvPicPr>
            <a:picLocks noChangeAspect="1"/>
          </p:cNvPicPr>
          <p:nvPr/>
        </p:nvPicPr>
        <p:blipFill>
          <a:blip r:embed="rId4"/>
          <a:stretch>
            <a:fillRect/>
          </a:stretch>
        </p:blipFill>
        <p:spPr>
          <a:xfrm>
            <a:off x="914400" y="4722876"/>
            <a:ext cx="274320" cy="274320"/>
          </a:xfrm>
          <a:prstGeom prst="rect">
            <a:avLst/>
          </a:prstGeom>
        </p:spPr>
      </p:pic>
      <p:sp>
        <p:nvSpPr>
          <p:cNvPr id="24" name="Text 18"/>
          <p:cNvSpPr/>
          <p:nvPr/>
        </p:nvSpPr>
        <p:spPr>
          <a:xfrm>
            <a:off x="1508760" y="4590288"/>
            <a:ext cx="9875520" cy="365760"/>
          </a:xfrm>
          <a:prstGeom prst="rect">
            <a:avLst/>
          </a:prstGeom>
          <a:noFill/>
          <a:ln/>
        </p:spPr>
        <p:txBody>
          <a:bodyPr wrap="square" lIns="0" tIns="0" rIns="0" bIns="0" rtlCol="0" anchor="ctr"/>
          <a:lstStyle/>
          <a:p>
            <a:pPr indent="0" marL="0">
              <a:buNone/>
            </a:pPr>
            <a:r>
              <a:rPr lang="en-US" sz="1450" b="1" dirty="0">
                <a:solidFill>
                  <a:srgbClr val="1E293B"/>
                </a:solidFill>
                <a:latin typeface="Georgia" pitchFamily="34" charset="0"/>
                <a:ea typeface="Georgia" pitchFamily="34" charset="-122"/>
                <a:cs typeface="Georgia" pitchFamily="34" charset="-120"/>
              </a:rPr>
              <a:t>Quiz thích ứng</a:t>
            </a:r>
            <a:endParaRPr lang="en-US" sz="1450" dirty="0"/>
          </a:p>
        </p:txBody>
      </p:sp>
      <p:sp>
        <p:nvSpPr>
          <p:cNvPr id="25" name="Text 19"/>
          <p:cNvSpPr/>
          <p:nvPr/>
        </p:nvSpPr>
        <p:spPr>
          <a:xfrm>
            <a:off x="1508760" y="4928616"/>
            <a:ext cx="9875520" cy="3200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Làm bài, độ khó tự điều chỉnh theo năng lực</a:t>
            </a:r>
            <a:endParaRPr lang="en-US" sz="1150" dirty="0"/>
          </a:p>
        </p:txBody>
      </p:sp>
      <p:sp>
        <p:nvSpPr>
          <p:cNvPr id="26" name="Shape 20"/>
          <p:cNvSpPr/>
          <p:nvPr/>
        </p:nvSpPr>
        <p:spPr>
          <a:xfrm>
            <a:off x="548640" y="5349240"/>
            <a:ext cx="11064240" cy="758952"/>
          </a:xfrm>
          <a:prstGeom prst="roundRect">
            <a:avLst>
              <a:gd name="adj" fmla="val 9639"/>
            </a:avLst>
          </a:prstGeom>
          <a:solidFill>
            <a:srgbClr val="E8F3F2"/>
          </a:solidFill>
          <a:ln/>
        </p:spPr>
      </p:sp>
      <p:sp>
        <p:nvSpPr>
          <p:cNvPr id="27" name="Shape 21"/>
          <p:cNvSpPr/>
          <p:nvPr/>
        </p:nvSpPr>
        <p:spPr>
          <a:xfrm>
            <a:off x="777240" y="5454396"/>
            <a:ext cx="548640" cy="54864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28" name="Image 4" descr="preencoded.png">    </p:cNvPr>
          <p:cNvPicPr>
            <a:picLocks noChangeAspect="1"/>
          </p:cNvPicPr>
          <p:nvPr/>
        </p:nvPicPr>
        <p:blipFill>
          <a:blip r:embed="rId5"/>
          <a:stretch>
            <a:fillRect/>
          </a:stretch>
        </p:blipFill>
        <p:spPr>
          <a:xfrm>
            <a:off x="914400" y="5591556"/>
            <a:ext cx="274320" cy="274320"/>
          </a:xfrm>
          <a:prstGeom prst="rect">
            <a:avLst/>
          </a:prstGeom>
        </p:spPr>
      </p:pic>
      <p:sp>
        <p:nvSpPr>
          <p:cNvPr id="29" name="Text 22"/>
          <p:cNvSpPr/>
          <p:nvPr/>
        </p:nvSpPr>
        <p:spPr>
          <a:xfrm>
            <a:off x="1508760" y="5458968"/>
            <a:ext cx="9875520" cy="365760"/>
          </a:xfrm>
          <a:prstGeom prst="rect">
            <a:avLst/>
          </a:prstGeom>
          <a:noFill/>
          <a:ln/>
        </p:spPr>
        <p:txBody>
          <a:bodyPr wrap="square" lIns="0" tIns="0" rIns="0" bIns="0" rtlCol="0" anchor="ctr"/>
          <a:lstStyle/>
          <a:p>
            <a:pPr indent="0" marL="0">
              <a:buNone/>
            </a:pPr>
            <a:r>
              <a:rPr lang="en-US" sz="1450" b="1" dirty="0">
                <a:solidFill>
                  <a:srgbClr val="1E293B"/>
                </a:solidFill>
                <a:latin typeface="Georgia" pitchFamily="34" charset="0"/>
                <a:ea typeface="Georgia" pitchFamily="34" charset="-122"/>
                <a:cs typeface="Georgia" pitchFamily="34" charset="-120"/>
              </a:rPr>
              <a:t>Nhận phản hồi</a:t>
            </a:r>
            <a:endParaRPr lang="en-US" sz="1450" dirty="0"/>
          </a:p>
        </p:txBody>
      </p:sp>
      <p:sp>
        <p:nvSpPr>
          <p:cNvPr id="30" name="Text 23"/>
          <p:cNvSpPr/>
          <p:nvPr/>
        </p:nvSpPr>
        <p:spPr>
          <a:xfrm>
            <a:off x="1508760" y="5797296"/>
            <a:ext cx="9875520" cy="3200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Xem feedback và gợi ý cải thiện sau mỗi bài</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200" b="1" spc="300" kern="0" dirty="0">
                <a:solidFill>
                  <a:srgbClr val="0D9488"/>
                </a:solidFill>
                <a:latin typeface="Calibri" pitchFamily="34" charset="0"/>
                <a:ea typeface="Calibri" pitchFamily="34" charset="-122"/>
                <a:cs typeface="Calibri" pitchFamily="34" charset="-120"/>
              </a:rPr>
              <a:t>CHỨC NĂNG · QUẢN TRỊ</a:t>
            </a:r>
            <a:endParaRPr lang="en-US" sz="1200" dirty="0"/>
          </a:p>
        </p:txBody>
      </p:sp>
      <p:sp>
        <p:nvSpPr>
          <p:cNvPr id="3" name="Text 1"/>
          <p:cNvSpPr/>
          <p:nvPr/>
        </p:nvSpPr>
        <p:spPr>
          <a:xfrm>
            <a:off x="548640" y="822960"/>
            <a:ext cx="10698480" cy="822960"/>
          </a:xfrm>
          <a:prstGeom prst="rect">
            <a:avLst/>
          </a:prstGeom>
          <a:noFill/>
          <a:ln/>
        </p:spPr>
        <p:txBody>
          <a:bodyPr wrap="square" lIns="0" tIns="0" rIns="0" bIns="0" rtlCol="0" anchor="ctr"/>
          <a:lstStyle/>
          <a:p>
            <a:pPr algn="l" indent="0" marL="0">
              <a:buNone/>
            </a:pPr>
            <a:r>
              <a:rPr lang="en-US" sz="3100" b="1" dirty="0">
                <a:solidFill>
                  <a:srgbClr val="1E293B"/>
                </a:solidFill>
                <a:latin typeface="Georgia" pitchFamily="34" charset="0"/>
                <a:ea typeface="Georgia" pitchFamily="34" charset="-122"/>
                <a:cs typeface="Georgia" pitchFamily="34" charset="-120"/>
              </a:rPr>
              <a:t>Công cụ cho quản trị viên</a:t>
            </a:r>
            <a:endParaRPr lang="en-US" sz="31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Hệ thống học tập trực tuyến với AI</a:t>
            </a:r>
            <a:endParaRPr lang="en-US" sz="900" dirty="0"/>
          </a:p>
        </p:txBody>
      </p:sp>
      <p:sp>
        <p:nvSpPr>
          <p:cNvPr id="5" name="Text 3"/>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
        <p:nvSpPr>
          <p:cNvPr id="6" name="Shape 4"/>
          <p:cNvSpPr/>
          <p:nvPr/>
        </p:nvSpPr>
        <p:spPr>
          <a:xfrm>
            <a:off x="548640" y="1965960"/>
            <a:ext cx="5394960" cy="1737360"/>
          </a:xfrm>
          <a:prstGeom prst="roundRect">
            <a:avLst>
              <a:gd name="adj" fmla="val 6316"/>
            </a:avLst>
          </a:prstGeom>
          <a:solidFill>
            <a:srgbClr val="E8F3F2"/>
          </a:solidFill>
          <a:ln/>
          <a:effectLst>
            <a:outerShdw sx="100000" sy="100000" kx="0" ky="0" algn="bl" rotWithShape="0" blurRad="101600" dist="38100" dir="8100000">
              <a:srgbClr val="0B2E33">
                <a:alpha val="12000"/>
              </a:srgbClr>
            </a:outerShdw>
          </a:effectLst>
        </p:spPr>
      </p:sp>
      <p:sp>
        <p:nvSpPr>
          <p:cNvPr id="7" name="Shape 5"/>
          <p:cNvSpPr/>
          <p:nvPr/>
        </p:nvSpPr>
        <p:spPr>
          <a:xfrm>
            <a:off x="868680" y="2286000"/>
            <a:ext cx="731520" cy="73152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8" name="Image 0" descr="preencoded.png">    </p:cNvPr>
          <p:cNvPicPr>
            <a:picLocks noChangeAspect="1"/>
          </p:cNvPicPr>
          <p:nvPr/>
        </p:nvPicPr>
        <p:blipFill>
          <a:blip r:embed="rId1"/>
          <a:stretch>
            <a:fillRect/>
          </a:stretch>
        </p:blipFill>
        <p:spPr>
          <a:xfrm>
            <a:off x="1051560" y="2468880"/>
            <a:ext cx="365760" cy="365760"/>
          </a:xfrm>
          <a:prstGeom prst="rect">
            <a:avLst/>
          </a:prstGeom>
        </p:spPr>
      </p:pic>
      <p:sp>
        <p:nvSpPr>
          <p:cNvPr id="9" name="Text 6"/>
          <p:cNvSpPr/>
          <p:nvPr/>
        </p:nvSpPr>
        <p:spPr>
          <a:xfrm>
            <a:off x="1874520" y="2331720"/>
            <a:ext cx="3840480" cy="548640"/>
          </a:xfrm>
          <a:prstGeom prst="rect">
            <a:avLst/>
          </a:prstGeom>
          <a:noFill/>
          <a:ln/>
        </p:spPr>
        <p:txBody>
          <a:bodyPr wrap="square" lIns="0" tIns="0" rIns="0" bIns="0" rtlCol="0" anchor="ctr"/>
          <a:lstStyle/>
          <a:p>
            <a:pPr indent="0" marL="0">
              <a:buNone/>
            </a:pPr>
            <a:r>
              <a:rPr lang="en-US" sz="1700" b="1" dirty="0">
                <a:solidFill>
                  <a:srgbClr val="1E293B"/>
                </a:solidFill>
                <a:latin typeface="Georgia" pitchFamily="34" charset="0"/>
                <a:ea typeface="Georgia" pitchFamily="34" charset="-122"/>
                <a:cs typeface="Georgia" pitchFamily="34" charset="-120"/>
              </a:rPr>
              <a:t>Quản lý khóa học</a:t>
            </a:r>
            <a:endParaRPr lang="en-US" sz="1700" dirty="0"/>
          </a:p>
        </p:txBody>
      </p:sp>
      <p:sp>
        <p:nvSpPr>
          <p:cNvPr id="10" name="Text 7"/>
          <p:cNvSpPr/>
          <p:nvPr/>
        </p:nvSpPr>
        <p:spPr>
          <a:xfrm>
            <a:off x="1874520" y="2880360"/>
            <a:ext cx="3840480" cy="685800"/>
          </a:xfrm>
          <a:prstGeom prst="rect">
            <a:avLst/>
          </a:prstGeom>
          <a:noFill/>
          <a:ln/>
        </p:spPr>
        <p:txBody>
          <a:bodyPr wrap="square" lIns="0" tIns="0" rIns="0" bIns="0" rtlCol="0" anchor="ctr"/>
          <a:lstStyle/>
          <a:p>
            <a:pPr indent="0" marL="0">
              <a:lnSpc>
                <a:spcPts val="1700"/>
              </a:lnSpc>
              <a:buNone/>
            </a:pPr>
            <a:r>
              <a:rPr lang="en-US" sz="1300" dirty="0">
                <a:solidFill>
                  <a:srgbClr val="64748B"/>
                </a:solidFill>
                <a:latin typeface="Calibri" pitchFamily="34" charset="0"/>
                <a:ea typeface="Calibri" pitchFamily="34" charset="-122"/>
                <a:cs typeface="Calibri" pitchFamily="34" charset="-120"/>
              </a:rPr>
              <a:t>Tạo, sửa, xóa và xuất bản khóa học</a:t>
            </a:r>
            <a:endParaRPr lang="en-US" sz="1300" dirty="0"/>
          </a:p>
        </p:txBody>
      </p:sp>
      <p:sp>
        <p:nvSpPr>
          <p:cNvPr id="11" name="Shape 8"/>
          <p:cNvSpPr/>
          <p:nvPr/>
        </p:nvSpPr>
        <p:spPr>
          <a:xfrm>
            <a:off x="6172200" y="1965960"/>
            <a:ext cx="5394960" cy="1737360"/>
          </a:xfrm>
          <a:prstGeom prst="roundRect">
            <a:avLst>
              <a:gd name="adj" fmla="val 6316"/>
            </a:avLst>
          </a:prstGeom>
          <a:solidFill>
            <a:srgbClr val="F1F5F9"/>
          </a:solidFill>
          <a:ln/>
          <a:effectLst>
            <a:outerShdw sx="100000" sy="100000" kx="0" ky="0" algn="bl" rotWithShape="0" blurRad="101600" dist="38100" dir="8100000">
              <a:srgbClr val="0B2E33">
                <a:alpha val="12000"/>
              </a:srgbClr>
            </a:outerShdw>
          </a:effectLst>
        </p:spPr>
      </p:sp>
      <p:sp>
        <p:nvSpPr>
          <p:cNvPr id="12" name="Shape 9"/>
          <p:cNvSpPr/>
          <p:nvPr/>
        </p:nvSpPr>
        <p:spPr>
          <a:xfrm>
            <a:off x="6492240" y="2286000"/>
            <a:ext cx="731520" cy="73152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13" name="Image 1" descr="preencoded.png">    </p:cNvPr>
          <p:cNvPicPr>
            <a:picLocks noChangeAspect="1"/>
          </p:cNvPicPr>
          <p:nvPr/>
        </p:nvPicPr>
        <p:blipFill>
          <a:blip r:embed="rId2"/>
          <a:stretch>
            <a:fillRect/>
          </a:stretch>
        </p:blipFill>
        <p:spPr>
          <a:xfrm>
            <a:off x="6675120" y="2468880"/>
            <a:ext cx="365760" cy="365760"/>
          </a:xfrm>
          <a:prstGeom prst="rect">
            <a:avLst/>
          </a:prstGeom>
        </p:spPr>
      </p:pic>
      <p:sp>
        <p:nvSpPr>
          <p:cNvPr id="14" name="Text 10"/>
          <p:cNvSpPr/>
          <p:nvPr/>
        </p:nvSpPr>
        <p:spPr>
          <a:xfrm>
            <a:off x="7498080" y="2331720"/>
            <a:ext cx="3840480" cy="548640"/>
          </a:xfrm>
          <a:prstGeom prst="rect">
            <a:avLst/>
          </a:prstGeom>
          <a:noFill/>
          <a:ln/>
        </p:spPr>
        <p:txBody>
          <a:bodyPr wrap="square" lIns="0" tIns="0" rIns="0" bIns="0" rtlCol="0" anchor="ctr"/>
          <a:lstStyle/>
          <a:p>
            <a:pPr indent="0" marL="0">
              <a:buNone/>
            </a:pPr>
            <a:r>
              <a:rPr lang="en-US" sz="1700" b="1" dirty="0">
                <a:solidFill>
                  <a:srgbClr val="1E293B"/>
                </a:solidFill>
                <a:latin typeface="Georgia" pitchFamily="34" charset="0"/>
                <a:ea typeface="Georgia" pitchFamily="34" charset="-122"/>
                <a:cs typeface="Georgia" pitchFamily="34" charset="-120"/>
              </a:rPr>
              <a:t>Quản lý bài giảng</a:t>
            </a:r>
            <a:endParaRPr lang="en-US" sz="1700" dirty="0"/>
          </a:p>
        </p:txBody>
      </p:sp>
      <p:sp>
        <p:nvSpPr>
          <p:cNvPr id="15" name="Text 11"/>
          <p:cNvSpPr/>
          <p:nvPr/>
        </p:nvSpPr>
        <p:spPr>
          <a:xfrm>
            <a:off x="7498080" y="2880360"/>
            <a:ext cx="3840480" cy="685800"/>
          </a:xfrm>
          <a:prstGeom prst="rect">
            <a:avLst/>
          </a:prstGeom>
          <a:noFill/>
          <a:ln/>
        </p:spPr>
        <p:txBody>
          <a:bodyPr wrap="square" lIns="0" tIns="0" rIns="0" bIns="0" rtlCol="0" anchor="ctr"/>
          <a:lstStyle/>
          <a:p>
            <a:pPr indent="0" marL="0">
              <a:lnSpc>
                <a:spcPts val="1700"/>
              </a:lnSpc>
              <a:buNone/>
            </a:pPr>
            <a:r>
              <a:rPr lang="en-US" sz="1300" dirty="0">
                <a:solidFill>
                  <a:srgbClr val="64748B"/>
                </a:solidFill>
                <a:latin typeface="Calibri" pitchFamily="34" charset="0"/>
                <a:ea typeface="Calibri" pitchFamily="34" charset="-122"/>
                <a:cs typeface="Calibri" pitchFamily="34" charset="-120"/>
              </a:rPr>
              <a:t>Thêm bài học, upload video, sắp xếp thứ tự</a:t>
            </a:r>
            <a:endParaRPr lang="en-US" sz="1300" dirty="0"/>
          </a:p>
        </p:txBody>
      </p:sp>
      <p:sp>
        <p:nvSpPr>
          <p:cNvPr id="16" name="Shape 12"/>
          <p:cNvSpPr/>
          <p:nvPr/>
        </p:nvSpPr>
        <p:spPr>
          <a:xfrm>
            <a:off x="548640" y="3931920"/>
            <a:ext cx="5394960" cy="1737360"/>
          </a:xfrm>
          <a:prstGeom prst="roundRect">
            <a:avLst>
              <a:gd name="adj" fmla="val 6316"/>
            </a:avLst>
          </a:prstGeom>
          <a:solidFill>
            <a:srgbClr val="E8F3F2"/>
          </a:solidFill>
          <a:ln/>
          <a:effectLst>
            <a:outerShdw sx="100000" sy="100000" kx="0" ky="0" algn="bl" rotWithShape="0" blurRad="101600" dist="38100" dir="8100000">
              <a:srgbClr val="0B2E33">
                <a:alpha val="12000"/>
              </a:srgbClr>
            </a:outerShdw>
          </a:effectLst>
        </p:spPr>
      </p:sp>
      <p:sp>
        <p:nvSpPr>
          <p:cNvPr id="17" name="Shape 13"/>
          <p:cNvSpPr/>
          <p:nvPr/>
        </p:nvSpPr>
        <p:spPr>
          <a:xfrm>
            <a:off x="868680" y="4251960"/>
            <a:ext cx="731520" cy="73152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18" name="Image 2" descr="preencoded.png">    </p:cNvPr>
          <p:cNvPicPr>
            <a:picLocks noChangeAspect="1"/>
          </p:cNvPicPr>
          <p:nvPr/>
        </p:nvPicPr>
        <p:blipFill>
          <a:blip r:embed="rId3"/>
          <a:stretch>
            <a:fillRect/>
          </a:stretch>
        </p:blipFill>
        <p:spPr>
          <a:xfrm>
            <a:off x="1051560" y="4434840"/>
            <a:ext cx="365760" cy="365760"/>
          </a:xfrm>
          <a:prstGeom prst="rect">
            <a:avLst/>
          </a:prstGeom>
        </p:spPr>
      </p:pic>
      <p:sp>
        <p:nvSpPr>
          <p:cNvPr id="19" name="Text 14"/>
          <p:cNvSpPr/>
          <p:nvPr/>
        </p:nvSpPr>
        <p:spPr>
          <a:xfrm>
            <a:off x="1874520" y="4297680"/>
            <a:ext cx="3840480" cy="548640"/>
          </a:xfrm>
          <a:prstGeom prst="rect">
            <a:avLst/>
          </a:prstGeom>
          <a:noFill/>
          <a:ln/>
        </p:spPr>
        <p:txBody>
          <a:bodyPr wrap="square" lIns="0" tIns="0" rIns="0" bIns="0" rtlCol="0" anchor="ctr"/>
          <a:lstStyle/>
          <a:p>
            <a:pPr indent="0" marL="0">
              <a:buNone/>
            </a:pPr>
            <a:r>
              <a:rPr lang="en-US" sz="1700" b="1" dirty="0">
                <a:solidFill>
                  <a:srgbClr val="1E293B"/>
                </a:solidFill>
                <a:latin typeface="Georgia" pitchFamily="34" charset="0"/>
                <a:ea typeface="Georgia" pitchFamily="34" charset="-122"/>
                <a:cs typeface="Georgia" pitchFamily="34" charset="-120"/>
              </a:rPr>
              <a:t>Quản lý câu hỏi</a:t>
            </a:r>
            <a:endParaRPr lang="en-US" sz="1700" dirty="0"/>
          </a:p>
        </p:txBody>
      </p:sp>
      <p:sp>
        <p:nvSpPr>
          <p:cNvPr id="20" name="Text 15"/>
          <p:cNvSpPr/>
          <p:nvPr/>
        </p:nvSpPr>
        <p:spPr>
          <a:xfrm>
            <a:off x="1874520" y="4846320"/>
            <a:ext cx="3840480" cy="685800"/>
          </a:xfrm>
          <a:prstGeom prst="rect">
            <a:avLst/>
          </a:prstGeom>
          <a:noFill/>
          <a:ln/>
        </p:spPr>
        <p:txBody>
          <a:bodyPr wrap="square" lIns="0" tIns="0" rIns="0" bIns="0" rtlCol="0" anchor="ctr"/>
          <a:lstStyle/>
          <a:p>
            <a:pPr indent="0" marL="0">
              <a:lnSpc>
                <a:spcPts val="1700"/>
              </a:lnSpc>
              <a:buNone/>
            </a:pPr>
            <a:r>
              <a:rPr lang="en-US" sz="1300" dirty="0">
                <a:solidFill>
                  <a:srgbClr val="64748B"/>
                </a:solidFill>
                <a:latin typeface="Calibri" pitchFamily="34" charset="0"/>
                <a:ea typeface="Calibri" pitchFamily="34" charset="-122"/>
                <a:cs typeface="Calibri" pitchFamily="34" charset="-120"/>
              </a:rPr>
              <a:t>Soạn câu hỏi, phân loại theo độ khó</a:t>
            </a:r>
            <a:endParaRPr lang="en-US" sz="1300" dirty="0"/>
          </a:p>
        </p:txBody>
      </p:sp>
      <p:sp>
        <p:nvSpPr>
          <p:cNvPr id="21" name="Shape 16"/>
          <p:cNvSpPr/>
          <p:nvPr/>
        </p:nvSpPr>
        <p:spPr>
          <a:xfrm>
            <a:off x="6172200" y="3931920"/>
            <a:ext cx="5394960" cy="1737360"/>
          </a:xfrm>
          <a:prstGeom prst="roundRect">
            <a:avLst>
              <a:gd name="adj" fmla="val 6316"/>
            </a:avLst>
          </a:prstGeom>
          <a:solidFill>
            <a:srgbClr val="F1F5F9"/>
          </a:solidFill>
          <a:ln/>
          <a:effectLst>
            <a:outerShdw sx="100000" sy="100000" kx="0" ky="0" algn="bl" rotWithShape="0" blurRad="101600" dist="38100" dir="8100000">
              <a:srgbClr val="0B2E33">
                <a:alpha val="12000"/>
              </a:srgbClr>
            </a:outerShdw>
          </a:effectLst>
        </p:spPr>
      </p:sp>
      <p:sp>
        <p:nvSpPr>
          <p:cNvPr id="22" name="Shape 17"/>
          <p:cNvSpPr/>
          <p:nvPr/>
        </p:nvSpPr>
        <p:spPr>
          <a:xfrm>
            <a:off x="6492240" y="4251960"/>
            <a:ext cx="731520" cy="73152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23" name="Image 3" descr="preencoded.png">    </p:cNvPr>
          <p:cNvPicPr>
            <a:picLocks noChangeAspect="1"/>
          </p:cNvPicPr>
          <p:nvPr/>
        </p:nvPicPr>
        <p:blipFill>
          <a:blip r:embed="rId4"/>
          <a:stretch>
            <a:fillRect/>
          </a:stretch>
        </p:blipFill>
        <p:spPr>
          <a:xfrm>
            <a:off x="6675120" y="4434840"/>
            <a:ext cx="365760" cy="365760"/>
          </a:xfrm>
          <a:prstGeom prst="rect">
            <a:avLst/>
          </a:prstGeom>
        </p:spPr>
      </p:pic>
      <p:sp>
        <p:nvSpPr>
          <p:cNvPr id="24" name="Text 18"/>
          <p:cNvSpPr/>
          <p:nvPr/>
        </p:nvSpPr>
        <p:spPr>
          <a:xfrm>
            <a:off x="7498080" y="4297680"/>
            <a:ext cx="3840480" cy="548640"/>
          </a:xfrm>
          <a:prstGeom prst="rect">
            <a:avLst/>
          </a:prstGeom>
          <a:noFill/>
          <a:ln/>
        </p:spPr>
        <p:txBody>
          <a:bodyPr wrap="square" lIns="0" tIns="0" rIns="0" bIns="0" rtlCol="0" anchor="ctr"/>
          <a:lstStyle/>
          <a:p>
            <a:pPr indent="0" marL="0">
              <a:buNone/>
            </a:pPr>
            <a:r>
              <a:rPr lang="en-US" sz="1700" b="1" dirty="0">
                <a:solidFill>
                  <a:srgbClr val="1E293B"/>
                </a:solidFill>
                <a:latin typeface="Georgia" pitchFamily="34" charset="0"/>
                <a:ea typeface="Georgia" pitchFamily="34" charset="-122"/>
                <a:cs typeface="Georgia" pitchFamily="34" charset="-120"/>
              </a:rPr>
              <a:t>Dashboard thống kê</a:t>
            </a:r>
            <a:endParaRPr lang="en-US" sz="1700" dirty="0"/>
          </a:p>
        </p:txBody>
      </p:sp>
      <p:sp>
        <p:nvSpPr>
          <p:cNvPr id="25" name="Text 19"/>
          <p:cNvSpPr/>
          <p:nvPr/>
        </p:nvSpPr>
        <p:spPr>
          <a:xfrm>
            <a:off x="7498080" y="4846320"/>
            <a:ext cx="3840480" cy="685800"/>
          </a:xfrm>
          <a:prstGeom prst="rect">
            <a:avLst/>
          </a:prstGeom>
          <a:noFill/>
          <a:ln/>
        </p:spPr>
        <p:txBody>
          <a:bodyPr wrap="square" lIns="0" tIns="0" rIns="0" bIns="0" rtlCol="0" anchor="ctr"/>
          <a:lstStyle/>
          <a:p>
            <a:pPr indent="0" marL="0">
              <a:lnSpc>
                <a:spcPts val="1700"/>
              </a:lnSpc>
              <a:buNone/>
            </a:pPr>
            <a:r>
              <a:rPr lang="en-US" sz="1300" dirty="0">
                <a:solidFill>
                  <a:srgbClr val="64748B"/>
                </a:solidFill>
                <a:latin typeface="Calibri" pitchFamily="34" charset="0"/>
                <a:ea typeface="Calibri" pitchFamily="34" charset="-122"/>
                <a:cs typeface="Calibri" pitchFamily="34" charset="-120"/>
              </a:rPr>
              <a:t>Số học viên, điểm quiz, focus score, lượt xem</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200" b="1" spc="300" kern="0" dirty="0">
                <a:solidFill>
                  <a:srgbClr val="0D9488"/>
                </a:solidFill>
                <a:latin typeface="Calibri" pitchFamily="34" charset="0"/>
                <a:ea typeface="Calibri" pitchFamily="34" charset="-122"/>
                <a:cs typeface="Calibri" pitchFamily="34" charset="-120"/>
              </a:rPr>
              <a:t>TÍNH NĂNG NỔI BẬT 01</a:t>
            </a:r>
            <a:endParaRPr lang="en-US" sz="1200" dirty="0"/>
          </a:p>
        </p:txBody>
      </p:sp>
      <p:sp>
        <p:nvSpPr>
          <p:cNvPr id="3" name="Text 1"/>
          <p:cNvSpPr/>
          <p:nvPr/>
        </p:nvSpPr>
        <p:spPr>
          <a:xfrm>
            <a:off x="548640" y="822960"/>
            <a:ext cx="10698480" cy="822960"/>
          </a:xfrm>
          <a:prstGeom prst="rect">
            <a:avLst/>
          </a:prstGeom>
          <a:noFill/>
          <a:ln/>
        </p:spPr>
        <p:txBody>
          <a:bodyPr wrap="square" lIns="0" tIns="0" rIns="0" bIns="0" rtlCol="0" anchor="ctr"/>
          <a:lstStyle/>
          <a:p>
            <a:pPr algn="l" indent="0" marL="0">
              <a:buNone/>
            </a:pPr>
            <a:r>
              <a:rPr lang="en-US" sz="3100" b="1" dirty="0">
                <a:solidFill>
                  <a:srgbClr val="1E293B"/>
                </a:solidFill>
                <a:latin typeface="Georgia" pitchFamily="34" charset="0"/>
                <a:ea typeface="Georgia" pitchFamily="34" charset="-122"/>
                <a:cs typeface="Georgia" pitchFamily="34" charset="-120"/>
              </a:rPr>
              <a:t>AI giám sát tập trung qua webcam</a:t>
            </a:r>
            <a:endParaRPr lang="en-US" sz="31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Hệ thống học tập trực tuyến với AI</a:t>
            </a:r>
            <a:endParaRPr lang="en-US" sz="900" dirty="0"/>
          </a:p>
        </p:txBody>
      </p:sp>
      <p:sp>
        <p:nvSpPr>
          <p:cNvPr id="5" name="Text 3"/>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548640" y="1965960"/>
            <a:ext cx="5852160" cy="868680"/>
          </a:xfrm>
          <a:prstGeom prst="roundRect">
            <a:avLst>
              <a:gd name="adj" fmla="val 8421"/>
            </a:avLst>
          </a:prstGeom>
          <a:solidFill>
            <a:srgbClr val="E8F3F2"/>
          </a:solidFill>
          <a:ln/>
        </p:spPr>
      </p:sp>
      <p:sp>
        <p:nvSpPr>
          <p:cNvPr id="7" name="Shape 5"/>
          <p:cNvSpPr/>
          <p:nvPr/>
        </p:nvSpPr>
        <p:spPr>
          <a:xfrm>
            <a:off x="777240" y="2121408"/>
            <a:ext cx="548640" cy="54864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8" name="Image 0" descr="preencoded.png">    </p:cNvPr>
          <p:cNvPicPr>
            <a:picLocks noChangeAspect="1"/>
          </p:cNvPicPr>
          <p:nvPr/>
        </p:nvPicPr>
        <p:blipFill>
          <a:blip r:embed="rId1"/>
          <a:stretch>
            <a:fillRect/>
          </a:stretch>
        </p:blipFill>
        <p:spPr>
          <a:xfrm>
            <a:off x="914400" y="2258568"/>
            <a:ext cx="274320" cy="274320"/>
          </a:xfrm>
          <a:prstGeom prst="rect">
            <a:avLst/>
          </a:prstGeom>
        </p:spPr>
      </p:pic>
      <p:sp>
        <p:nvSpPr>
          <p:cNvPr id="9" name="Text 6"/>
          <p:cNvSpPr/>
          <p:nvPr/>
        </p:nvSpPr>
        <p:spPr>
          <a:xfrm>
            <a:off x="1508760" y="2075688"/>
            <a:ext cx="4754880" cy="36576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1. Bật webcam</a:t>
            </a:r>
            <a:endParaRPr lang="en-US" sz="1500" dirty="0"/>
          </a:p>
        </p:txBody>
      </p:sp>
      <p:sp>
        <p:nvSpPr>
          <p:cNvPr id="10" name="Text 7"/>
          <p:cNvSpPr/>
          <p:nvPr/>
        </p:nvSpPr>
        <p:spPr>
          <a:xfrm>
            <a:off x="1508760" y="2423160"/>
            <a:ext cx="4754880" cy="3200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Xin quyền camera, xử lý ngay trên trình duyệt</a:t>
            </a:r>
            <a:endParaRPr lang="en-US" sz="1150" dirty="0"/>
          </a:p>
        </p:txBody>
      </p:sp>
      <p:sp>
        <p:nvSpPr>
          <p:cNvPr id="11" name="Shape 8"/>
          <p:cNvSpPr/>
          <p:nvPr/>
        </p:nvSpPr>
        <p:spPr>
          <a:xfrm>
            <a:off x="548640" y="2990088"/>
            <a:ext cx="5852160" cy="868680"/>
          </a:xfrm>
          <a:prstGeom prst="roundRect">
            <a:avLst>
              <a:gd name="adj" fmla="val 8421"/>
            </a:avLst>
          </a:prstGeom>
          <a:solidFill>
            <a:srgbClr val="F1F5F9"/>
          </a:solidFill>
          <a:ln/>
        </p:spPr>
      </p:sp>
      <p:sp>
        <p:nvSpPr>
          <p:cNvPr id="12" name="Shape 9"/>
          <p:cNvSpPr/>
          <p:nvPr/>
        </p:nvSpPr>
        <p:spPr>
          <a:xfrm>
            <a:off x="777240" y="3145536"/>
            <a:ext cx="548640" cy="54864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13" name="Image 1" descr="preencoded.png">    </p:cNvPr>
          <p:cNvPicPr>
            <a:picLocks noChangeAspect="1"/>
          </p:cNvPicPr>
          <p:nvPr/>
        </p:nvPicPr>
        <p:blipFill>
          <a:blip r:embed="rId2"/>
          <a:stretch>
            <a:fillRect/>
          </a:stretch>
        </p:blipFill>
        <p:spPr>
          <a:xfrm>
            <a:off x="914400" y="3282696"/>
            <a:ext cx="274320" cy="274320"/>
          </a:xfrm>
          <a:prstGeom prst="rect">
            <a:avLst/>
          </a:prstGeom>
        </p:spPr>
      </p:pic>
      <p:sp>
        <p:nvSpPr>
          <p:cNvPr id="14" name="Text 10"/>
          <p:cNvSpPr/>
          <p:nvPr/>
        </p:nvSpPr>
        <p:spPr>
          <a:xfrm>
            <a:off x="1508760" y="3099816"/>
            <a:ext cx="4754880" cy="36576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2. Nhận diện khuôn mặt</a:t>
            </a:r>
            <a:endParaRPr lang="en-US" sz="1500" dirty="0"/>
          </a:p>
        </p:txBody>
      </p:sp>
      <p:sp>
        <p:nvSpPr>
          <p:cNvPr id="15" name="Text 11"/>
          <p:cNvSpPr/>
          <p:nvPr/>
        </p:nvSpPr>
        <p:spPr>
          <a:xfrm>
            <a:off x="1508760" y="3447288"/>
            <a:ext cx="4754880" cy="3200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face-api.js detect mỗi 2 giây</a:t>
            </a:r>
            <a:endParaRPr lang="en-US" sz="1150" dirty="0"/>
          </a:p>
        </p:txBody>
      </p:sp>
      <p:sp>
        <p:nvSpPr>
          <p:cNvPr id="16" name="Shape 12"/>
          <p:cNvSpPr/>
          <p:nvPr/>
        </p:nvSpPr>
        <p:spPr>
          <a:xfrm>
            <a:off x="548640" y="4014216"/>
            <a:ext cx="5852160" cy="868680"/>
          </a:xfrm>
          <a:prstGeom prst="roundRect">
            <a:avLst>
              <a:gd name="adj" fmla="val 8421"/>
            </a:avLst>
          </a:prstGeom>
          <a:solidFill>
            <a:srgbClr val="E8F3F2"/>
          </a:solidFill>
          <a:ln/>
        </p:spPr>
      </p:sp>
      <p:sp>
        <p:nvSpPr>
          <p:cNvPr id="17" name="Shape 13"/>
          <p:cNvSpPr/>
          <p:nvPr/>
        </p:nvSpPr>
        <p:spPr>
          <a:xfrm>
            <a:off x="777240" y="4169664"/>
            <a:ext cx="548640" cy="54864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18" name="Image 2" descr="preencoded.png">    </p:cNvPr>
          <p:cNvPicPr>
            <a:picLocks noChangeAspect="1"/>
          </p:cNvPicPr>
          <p:nvPr/>
        </p:nvPicPr>
        <p:blipFill>
          <a:blip r:embed="rId3"/>
          <a:stretch>
            <a:fillRect/>
          </a:stretch>
        </p:blipFill>
        <p:spPr>
          <a:xfrm>
            <a:off x="914400" y="4306824"/>
            <a:ext cx="274320" cy="274320"/>
          </a:xfrm>
          <a:prstGeom prst="rect">
            <a:avLst/>
          </a:prstGeom>
        </p:spPr>
      </p:pic>
      <p:sp>
        <p:nvSpPr>
          <p:cNvPr id="19" name="Text 14"/>
          <p:cNvSpPr/>
          <p:nvPr/>
        </p:nvSpPr>
        <p:spPr>
          <a:xfrm>
            <a:off x="1508760" y="4123944"/>
            <a:ext cx="4754880" cy="36576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3. Phân tích trạng thái</a:t>
            </a:r>
            <a:endParaRPr lang="en-US" sz="1500" dirty="0"/>
          </a:p>
        </p:txBody>
      </p:sp>
      <p:sp>
        <p:nvSpPr>
          <p:cNvPr id="20" name="Text 15"/>
          <p:cNvSpPr/>
          <p:nvPr/>
        </p:nvSpPr>
        <p:spPr>
          <a:xfrm>
            <a:off x="1508760" y="4471416"/>
            <a:ext cx="4754880" cy="3200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Mắt nhắm → buồn ngủ · Quay đầu → mất tập trung</a:t>
            </a:r>
            <a:endParaRPr lang="en-US" sz="1150" dirty="0"/>
          </a:p>
        </p:txBody>
      </p:sp>
      <p:sp>
        <p:nvSpPr>
          <p:cNvPr id="21" name="Shape 16"/>
          <p:cNvSpPr/>
          <p:nvPr/>
        </p:nvSpPr>
        <p:spPr>
          <a:xfrm>
            <a:off x="548640" y="5038344"/>
            <a:ext cx="5852160" cy="868680"/>
          </a:xfrm>
          <a:prstGeom prst="roundRect">
            <a:avLst>
              <a:gd name="adj" fmla="val 8421"/>
            </a:avLst>
          </a:prstGeom>
          <a:solidFill>
            <a:srgbClr val="F1F5F9"/>
          </a:solidFill>
          <a:ln/>
        </p:spPr>
      </p:sp>
      <p:sp>
        <p:nvSpPr>
          <p:cNvPr id="22" name="Shape 17"/>
          <p:cNvSpPr/>
          <p:nvPr/>
        </p:nvSpPr>
        <p:spPr>
          <a:xfrm>
            <a:off x="777240" y="5193792"/>
            <a:ext cx="548640" cy="54864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23" name="Image 3" descr="preencoded.png">    </p:cNvPr>
          <p:cNvPicPr>
            <a:picLocks noChangeAspect="1"/>
          </p:cNvPicPr>
          <p:nvPr/>
        </p:nvPicPr>
        <p:blipFill>
          <a:blip r:embed="rId4"/>
          <a:stretch>
            <a:fillRect/>
          </a:stretch>
        </p:blipFill>
        <p:spPr>
          <a:xfrm>
            <a:off x="914400" y="5330952"/>
            <a:ext cx="274320" cy="274320"/>
          </a:xfrm>
          <a:prstGeom prst="rect">
            <a:avLst/>
          </a:prstGeom>
        </p:spPr>
      </p:pic>
      <p:sp>
        <p:nvSpPr>
          <p:cNvPr id="24" name="Text 18"/>
          <p:cNvSpPr/>
          <p:nvPr/>
        </p:nvSpPr>
        <p:spPr>
          <a:xfrm>
            <a:off x="1508760" y="5148072"/>
            <a:ext cx="4754880" cy="36576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4. Ghi điểm tập trung</a:t>
            </a:r>
            <a:endParaRPr lang="en-US" sz="1500" dirty="0"/>
          </a:p>
        </p:txBody>
      </p:sp>
      <p:sp>
        <p:nvSpPr>
          <p:cNvPr id="25" name="Text 19"/>
          <p:cNvSpPr/>
          <p:nvPr/>
        </p:nvSpPr>
        <p:spPr>
          <a:xfrm>
            <a:off x="1508760" y="5495544"/>
            <a:ext cx="4754880" cy="3200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Lưu focus log mỗi 15 giây về backend</a:t>
            </a:r>
            <a:endParaRPr lang="en-US" sz="1150" dirty="0"/>
          </a:p>
        </p:txBody>
      </p:sp>
      <p:sp>
        <p:nvSpPr>
          <p:cNvPr id="26" name="Shape 20"/>
          <p:cNvSpPr/>
          <p:nvPr/>
        </p:nvSpPr>
        <p:spPr>
          <a:xfrm>
            <a:off x="6766560" y="1965960"/>
            <a:ext cx="4846320" cy="4114800"/>
          </a:xfrm>
          <a:prstGeom prst="roundRect">
            <a:avLst>
              <a:gd name="adj" fmla="val 2667"/>
            </a:avLst>
          </a:prstGeom>
          <a:solidFill>
            <a:srgbClr val="0B2E33"/>
          </a:solidFill>
          <a:ln/>
          <a:effectLst>
            <a:outerShdw sx="100000" sy="100000" kx="0" ky="0" algn="bl" rotWithShape="0" blurRad="101600" dist="38100" dir="8100000">
              <a:srgbClr val="0B2E33">
                <a:alpha val="12000"/>
              </a:srgbClr>
            </a:outerShdw>
          </a:effectLst>
        </p:spPr>
      </p:sp>
      <p:sp>
        <p:nvSpPr>
          <p:cNvPr id="27" name="Text 21"/>
          <p:cNvSpPr/>
          <p:nvPr/>
        </p:nvSpPr>
        <p:spPr>
          <a:xfrm>
            <a:off x="7040880" y="2194560"/>
            <a:ext cx="4389120" cy="457200"/>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4 trạng thái phát hiện</a:t>
            </a:r>
            <a:endParaRPr lang="en-US" sz="1700" dirty="0"/>
          </a:p>
        </p:txBody>
      </p:sp>
      <p:sp>
        <p:nvSpPr>
          <p:cNvPr id="28" name="Shape 22"/>
          <p:cNvSpPr/>
          <p:nvPr/>
        </p:nvSpPr>
        <p:spPr>
          <a:xfrm>
            <a:off x="7086600" y="2889504"/>
            <a:ext cx="256032" cy="256032"/>
          </a:xfrm>
          <a:prstGeom prst="ellipse">
            <a:avLst/>
          </a:prstGeom>
          <a:solidFill>
            <a:srgbClr val="14B8A6"/>
          </a:solidFill>
          <a:ln/>
        </p:spPr>
      </p:sp>
      <p:sp>
        <p:nvSpPr>
          <p:cNvPr id="29" name="Text 23"/>
          <p:cNvSpPr/>
          <p:nvPr/>
        </p:nvSpPr>
        <p:spPr>
          <a:xfrm>
            <a:off x="7498080" y="2834640"/>
            <a:ext cx="3840480" cy="411480"/>
          </a:xfrm>
          <a:prstGeom prst="rect">
            <a:avLst/>
          </a:prstGeom>
          <a:noFill/>
          <a:ln/>
        </p:spPr>
        <p:txBody>
          <a:bodyPr wrap="square" lIns="0" tIns="0" rIns="0" bIns="0" rtlCol="0" anchor="ctr"/>
          <a:lstStyle/>
          <a:p>
            <a:pPr indent="0" marL="0">
              <a:buNone/>
            </a:pPr>
            <a:r>
              <a:rPr lang="en-US" sz="1450" dirty="0">
                <a:solidFill>
                  <a:srgbClr val="E2E8F0"/>
                </a:solidFill>
                <a:latin typeface="Calibri" pitchFamily="34" charset="0"/>
                <a:ea typeface="Calibri" pitchFamily="34" charset="-122"/>
                <a:cs typeface="Calibri" pitchFamily="34" charset="-120"/>
              </a:rPr>
              <a:t>Focused — Tập trung</a:t>
            </a:r>
            <a:endParaRPr lang="en-US" sz="1450" dirty="0"/>
          </a:p>
        </p:txBody>
      </p:sp>
      <p:sp>
        <p:nvSpPr>
          <p:cNvPr id="30" name="Shape 24"/>
          <p:cNvSpPr/>
          <p:nvPr/>
        </p:nvSpPr>
        <p:spPr>
          <a:xfrm>
            <a:off x="7086600" y="3639312"/>
            <a:ext cx="256032" cy="256032"/>
          </a:xfrm>
          <a:prstGeom prst="ellipse">
            <a:avLst/>
          </a:prstGeom>
          <a:solidFill>
            <a:srgbClr val="F4A259"/>
          </a:solidFill>
          <a:ln/>
        </p:spPr>
      </p:sp>
      <p:sp>
        <p:nvSpPr>
          <p:cNvPr id="31" name="Text 25"/>
          <p:cNvSpPr/>
          <p:nvPr/>
        </p:nvSpPr>
        <p:spPr>
          <a:xfrm>
            <a:off x="7498080" y="3584448"/>
            <a:ext cx="3840480" cy="411480"/>
          </a:xfrm>
          <a:prstGeom prst="rect">
            <a:avLst/>
          </a:prstGeom>
          <a:noFill/>
          <a:ln/>
        </p:spPr>
        <p:txBody>
          <a:bodyPr wrap="square" lIns="0" tIns="0" rIns="0" bIns="0" rtlCol="0" anchor="ctr"/>
          <a:lstStyle/>
          <a:p>
            <a:pPr indent="0" marL="0">
              <a:buNone/>
            </a:pPr>
            <a:r>
              <a:rPr lang="en-US" sz="1450" dirty="0">
                <a:solidFill>
                  <a:srgbClr val="E2E8F0"/>
                </a:solidFill>
                <a:latin typeface="Calibri" pitchFamily="34" charset="0"/>
                <a:ea typeface="Calibri" pitchFamily="34" charset="-122"/>
                <a:cs typeface="Calibri" pitchFamily="34" charset="-120"/>
              </a:rPr>
              <a:t>Distracted — Mất tập trung</a:t>
            </a:r>
            <a:endParaRPr lang="en-US" sz="1450" dirty="0"/>
          </a:p>
        </p:txBody>
      </p:sp>
      <p:sp>
        <p:nvSpPr>
          <p:cNvPr id="32" name="Shape 26"/>
          <p:cNvSpPr/>
          <p:nvPr/>
        </p:nvSpPr>
        <p:spPr>
          <a:xfrm>
            <a:off x="7086600" y="4389120"/>
            <a:ext cx="256032" cy="256032"/>
          </a:xfrm>
          <a:prstGeom prst="ellipse">
            <a:avLst/>
          </a:prstGeom>
          <a:solidFill>
            <a:srgbClr val="F97362"/>
          </a:solidFill>
          <a:ln/>
        </p:spPr>
      </p:sp>
      <p:sp>
        <p:nvSpPr>
          <p:cNvPr id="33" name="Text 27"/>
          <p:cNvSpPr/>
          <p:nvPr/>
        </p:nvSpPr>
        <p:spPr>
          <a:xfrm>
            <a:off x="7498080" y="4334256"/>
            <a:ext cx="3840480" cy="411480"/>
          </a:xfrm>
          <a:prstGeom prst="rect">
            <a:avLst/>
          </a:prstGeom>
          <a:noFill/>
          <a:ln/>
        </p:spPr>
        <p:txBody>
          <a:bodyPr wrap="square" lIns="0" tIns="0" rIns="0" bIns="0" rtlCol="0" anchor="ctr"/>
          <a:lstStyle/>
          <a:p>
            <a:pPr indent="0" marL="0">
              <a:buNone/>
            </a:pPr>
            <a:r>
              <a:rPr lang="en-US" sz="1450" dirty="0">
                <a:solidFill>
                  <a:srgbClr val="E2E8F0"/>
                </a:solidFill>
                <a:latin typeface="Calibri" pitchFamily="34" charset="0"/>
                <a:ea typeface="Calibri" pitchFamily="34" charset="-122"/>
                <a:cs typeface="Calibri" pitchFamily="34" charset="-120"/>
              </a:rPr>
              <a:t>Drowsy — Buồn ngủ</a:t>
            </a:r>
            <a:endParaRPr lang="en-US" sz="1450" dirty="0"/>
          </a:p>
        </p:txBody>
      </p:sp>
      <p:sp>
        <p:nvSpPr>
          <p:cNvPr id="34" name="Shape 28"/>
          <p:cNvSpPr/>
          <p:nvPr/>
        </p:nvSpPr>
        <p:spPr>
          <a:xfrm>
            <a:off x="7086600" y="5138928"/>
            <a:ext cx="256032" cy="256032"/>
          </a:xfrm>
          <a:prstGeom prst="ellipse">
            <a:avLst/>
          </a:prstGeom>
          <a:solidFill>
            <a:srgbClr val="94A3B8"/>
          </a:solidFill>
          <a:ln/>
        </p:spPr>
      </p:sp>
      <p:sp>
        <p:nvSpPr>
          <p:cNvPr id="35" name="Text 29"/>
          <p:cNvSpPr/>
          <p:nvPr/>
        </p:nvSpPr>
        <p:spPr>
          <a:xfrm>
            <a:off x="7498080" y="5084064"/>
            <a:ext cx="3840480" cy="411480"/>
          </a:xfrm>
          <a:prstGeom prst="rect">
            <a:avLst/>
          </a:prstGeom>
          <a:noFill/>
          <a:ln/>
        </p:spPr>
        <p:txBody>
          <a:bodyPr wrap="square" lIns="0" tIns="0" rIns="0" bIns="0" rtlCol="0" anchor="ctr"/>
          <a:lstStyle/>
          <a:p>
            <a:pPr indent="0" marL="0">
              <a:buNone/>
            </a:pPr>
            <a:r>
              <a:rPr lang="en-US" sz="1450" dirty="0">
                <a:solidFill>
                  <a:srgbClr val="E2E8F0"/>
                </a:solidFill>
                <a:latin typeface="Calibri" pitchFamily="34" charset="0"/>
                <a:ea typeface="Calibri" pitchFamily="34" charset="-122"/>
                <a:cs typeface="Calibri" pitchFamily="34" charset="-120"/>
              </a:rPr>
              <a:t>No face — Không có mặt</a:t>
            </a:r>
            <a:endParaRPr lang="en-US" sz="1450" dirty="0"/>
          </a:p>
        </p:txBody>
      </p:sp>
      <p:sp>
        <p:nvSpPr>
          <p:cNvPr id="36" name="Text 30"/>
          <p:cNvSpPr/>
          <p:nvPr/>
        </p:nvSpPr>
        <p:spPr>
          <a:xfrm>
            <a:off x="7040880" y="5623560"/>
            <a:ext cx="4389120" cy="365760"/>
          </a:xfrm>
          <a:prstGeom prst="rect">
            <a:avLst/>
          </a:prstGeom>
          <a:noFill/>
          <a:ln/>
        </p:spPr>
        <p:txBody>
          <a:bodyPr wrap="square" lIns="0" tIns="0" rIns="0" bIns="0" rtlCol="0" anchor="ctr"/>
          <a:lstStyle/>
          <a:p>
            <a:pPr indent="0" marL="0">
              <a:buNone/>
            </a:pPr>
            <a:r>
              <a:rPr lang="en-US" sz="1150" i="1" dirty="0">
                <a:solidFill>
                  <a:srgbClr val="5EEAD4"/>
                </a:solidFill>
                <a:latin typeface="Calibri" pitchFamily="34" charset="0"/>
                <a:ea typeface="Calibri" pitchFamily="34" charset="-122"/>
                <a:cs typeface="Calibri" pitchFamily="34" charset="-120"/>
              </a:rPr>
              <a:t>Riêng tư: hình ảnh webcam KHÔNG gửi lên server</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2E33"/>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200" b="1" spc="300" kern="0" dirty="0">
                <a:solidFill>
                  <a:srgbClr val="5EEAD4"/>
                </a:solidFill>
                <a:latin typeface="Calibri" pitchFamily="34" charset="0"/>
                <a:ea typeface="Calibri" pitchFamily="34" charset="-122"/>
                <a:cs typeface="Calibri" pitchFamily="34" charset="-120"/>
              </a:rPr>
              <a:t>TÍNH NĂNG NỔI BẬT 01</a:t>
            </a:r>
            <a:endParaRPr lang="en-US" sz="1200" dirty="0"/>
          </a:p>
        </p:txBody>
      </p:sp>
      <p:sp>
        <p:nvSpPr>
          <p:cNvPr id="3" name="Text 1"/>
          <p:cNvSpPr/>
          <p:nvPr/>
        </p:nvSpPr>
        <p:spPr>
          <a:xfrm>
            <a:off x="548640" y="822960"/>
            <a:ext cx="10698480" cy="822960"/>
          </a:xfrm>
          <a:prstGeom prst="rect">
            <a:avLst/>
          </a:prstGeom>
          <a:noFill/>
          <a:ln/>
        </p:spPr>
        <p:txBody>
          <a:bodyPr wrap="square" lIns="0" tIns="0" rIns="0" bIns="0" rtlCol="0" anchor="ctr"/>
          <a:lstStyle/>
          <a:p>
            <a:pPr algn="l" indent="0" marL="0">
              <a:buNone/>
            </a:pPr>
            <a:r>
              <a:rPr lang="en-US" sz="3100" b="1" dirty="0">
                <a:solidFill>
                  <a:srgbClr val="FFFFFF"/>
                </a:solidFill>
                <a:latin typeface="Georgia" pitchFamily="34" charset="0"/>
                <a:ea typeface="Georgia" pitchFamily="34" charset="-122"/>
                <a:cs typeface="Georgia" pitchFamily="34" charset="-120"/>
              </a:rPr>
              <a:t>AI phân tích thế nào?</a:t>
            </a:r>
            <a:endParaRPr lang="en-US" sz="31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Hệ thống học tập trực tuyến với AI</a:t>
            </a:r>
            <a:endParaRPr lang="en-US" sz="900" dirty="0"/>
          </a:p>
        </p:txBody>
      </p:sp>
      <p:sp>
        <p:nvSpPr>
          <p:cNvPr id="5" name="Text 3"/>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17</a:t>
            </a:r>
            <a:endParaRPr lang="en-US" sz="900" dirty="0"/>
          </a:p>
        </p:txBody>
      </p:sp>
      <p:sp>
        <p:nvSpPr>
          <p:cNvPr id="6" name="Shape 4"/>
          <p:cNvSpPr/>
          <p:nvPr/>
        </p:nvSpPr>
        <p:spPr>
          <a:xfrm>
            <a:off x="822960" y="2011680"/>
            <a:ext cx="5120640" cy="3840480"/>
          </a:xfrm>
          <a:prstGeom prst="roundRect">
            <a:avLst>
              <a:gd name="adj" fmla="val 2857"/>
            </a:avLst>
          </a:prstGeom>
          <a:solidFill>
            <a:srgbClr val="12393F"/>
          </a:solidFill>
          <a:ln w="16510">
            <a:solidFill>
              <a:srgbClr val="0D9488"/>
            </a:solidFill>
            <a:prstDash val="solid"/>
          </a:ln>
        </p:spPr>
      </p:sp>
      <p:sp>
        <p:nvSpPr>
          <p:cNvPr id="7" name="Shape 5"/>
          <p:cNvSpPr/>
          <p:nvPr/>
        </p:nvSpPr>
        <p:spPr>
          <a:xfrm>
            <a:off x="1143000" y="2331720"/>
            <a:ext cx="685800" cy="68580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8" name="Image 0" descr="preencoded.png">    </p:cNvPr>
          <p:cNvPicPr>
            <a:picLocks noChangeAspect="1"/>
          </p:cNvPicPr>
          <p:nvPr/>
        </p:nvPicPr>
        <p:blipFill>
          <a:blip r:embed="rId1"/>
          <a:stretch>
            <a:fillRect/>
          </a:stretch>
        </p:blipFill>
        <p:spPr>
          <a:xfrm>
            <a:off x="1314450" y="2503170"/>
            <a:ext cx="342900" cy="342900"/>
          </a:xfrm>
          <a:prstGeom prst="rect">
            <a:avLst/>
          </a:prstGeom>
        </p:spPr>
      </p:pic>
      <p:sp>
        <p:nvSpPr>
          <p:cNvPr id="9" name="Text 6"/>
          <p:cNvSpPr/>
          <p:nvPr/>
        </p:nvSpPr>
        <p:spPr>
          <a:xfrm>
            <a:off x="1965960" y="2331720"/>
            <a:ext cx="3749040" cy="68580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Phát hiện buồn ngủ (EAR)</a:t>
            </a:r>
            <a:endParaRPr lang="en-US" sz="1600" dirty="0"/>
          </a:p>
        </p:txBody>
      </p:sp>
      <p:sp>
        <p:nvSpPr>
          <p:cNvPr id="10" name="Text 7"/>
          <p:cNvSpPr/>
          <p:nvPr/>
        </p:nvSpPr>
        <p:spPr>
          <a:xfrm>
            <a:off x="1188720" y="3246120"/>
            <a:ext cx="4572000" cy="2377440"/>
          </a:xfrm>
          <a:prstGeom prst="rect">
            <a:avLst/>
          </a:prstGeom>
          <a:noFill/>
          <a:ln/>
        </p:spPr>
        <p:txBody>
          <a:bodyPr wrap="square" lIns="0" tIns="0" rIns="0" bIns="0" rtlCol="0" anchor="ctr"/>
          <a:lstStyle/>
          <a:p>
            <a:pPr indent="0" marL="0">
              <a:lnSpc>
                <a:spcPts val="2100"/>
              </a:lnSpc>
              <a:buNone/>
            </a:pPr>
            <a:r>
              <a:rPr lang="en-US" sz="1400" b="1" dirty="0">
                <a:solidFill>
                  <a:srgbClr val="5EEAD4"/>
                </a:solidFill>
                <a:latin typeface="Calibri" pitchFamily="34" charset="0"/>
                <a:ea typeface="Calibri" pitchFamily="34" charset="-122"/>
                <a:cs typeface="Calibri" pitchFamily="34" charset="-120"/>
              </a:rPr>
              <a:t>Eye Aspect Ratio</a:t>
            </a:r>
            <a:endParaRPr lang="en-US" sz="1400" dirty="0"/>
          </a:p>
          <a:p>
            <a:pPr indent="0" marL="0">
              <a:lnSpc>
                <a:spcPts val="2100"/>
              </a:lnSpc>
              <a:spcAft>
                <a:spcPts val="800"/>
              </a:spcAft>
              <a:buNone/>
            </a:pPr>
            <a:r>
              <a:rPr lang="en-US" sz="1400" dirty="0">
                <a:solidFill>
                  <a:srgbClr val="CBD5E1"/>
                </a:solidFill>
                <a:latin typeface="Calibri" pitchFamily="34" charset="0"/>
                <a:ea typeface="Calibri" pitchFamily="34" charset="-122"/>
                <a:cs typeface="Calibri" pitchFamily="34" charset="-120"/>
              </a:rPr>
              <a:t>Đo tỉ lệ mở của mắt qua 6 điểm mốc.</a:t>
            </a:r>
            <a:endParaRPr lang="en-US" sz="1400" dirty="0"/>
          </a:p>
          <a:p>
            <a:pPr indent="0" marL="0">
              <a:lnSpc>
                <a:spcPts val="2100"/>
              </a:lnSpc>
              <a:buNone/>
            </a:pPr>
            <a:r>
              <a:rPr lang="en-US" sz="1400" b="1" dirty="0">
                <a:solidFill>
                  <a:srgbClr val="F4A259"/>
                </a:solidFill>
                <a:latin typeface="Calibri" pitchFamily="34" charset="0"/>
                <a:ea typeface="Calibri" pitchFamily="34" charset="-122"/>
                <a:cs typeface="Calibri" pitchFamily="34" charset="-120"/>
              </a:rPr>
              <a:t>EAR &lt; 0.22 </a:t>
            </a:r>
            <a:pPr indent="0" marL="0">
              <a:lnSpc>
                <a:spcPts val="2100"/>
              </a:lnSpc>
              <a:buNone/>
            </a:pPr>
            <a:r>
              <a:rPr lang="en-US" sz="1400" dirty="0">
                <a:solidFill>
                  <a:srgbClr val="CBD5E1"/>
                </a:solidFill>
                <a:latin typeface="Calibri" pitchFamily="34" charset="0"/>
                <a:ea typeface="Calibri" pitchFamily="34" charset="-122"/>
                <a:cs typeface="Calibri" pitchFamily="34" charset="-120"/>
              </a:rPr>
              <a:t>kéo dài → mắt nhắm → cảnh báo buồn ngủ.</a:t>
            </a:r>
            <a:endParaRPr lang="en-US" sz="1400" dirty="0"/>
          </a:p>
        </p:txBody>
      </p:sp>
      <p:sp>
        <p:nvSpPr>
          <p:cNvPr id="11" name="Shape 8"/>
          <p:cNvSpPr/>
          <p:nvPr/>
        </p:nvSpPr>
        <p:spPr>
          <a:xfrm>
            <a:off x="6217920" y="2011680"/>
            <a:ext cx="5120640" cy="3840480"/>
          </a:xfrm>
          <a:prstGeom prst="roundRect">
            <a:avLst>
              <a:gd name="adj" fmla="val 2857"/>
            </a:avLst>
          </a:prstGeom>
          <a:solidFill>
            <a:srgbClr val="12393F"/>
          </a:solidFill>
          <a:ln w="16510">
            <a:solidFill>
              <a:srgbClr val="F4A259"/>
            </a:solidFill>
            <a:prstDash val="solid"/>
          </a:ln>
        </p:spPr>
      </p:sp>
      <p:sp>
        <p:nvSpPr>
          <p:cNvPr id="12" name="Shape 9"/>
          <p:cNvSpPr/>
          <p:nvPr/>
        </p:nvSpPr>
        <p:spPr>
          <a:xfrm>
            <a:off x="6537960" y="2331720"/>
            <a:ext cx="685800" cy="685800"/>
          </a:xfrm>
          <a:prstGeom prst="ellipse">
            <a:avLst/>
          </a:prstGeom>
          <a:solidFill>
            <a:srgbClr val="F4A259"/>
          </a:solidFill>
          <a:ln/>
          <a:effectLst>
            <a:outerShdw sx="100000" sy="100000" kx="0" ky="0" algn="bl" rotWithShape="0" blurRad="101600" dist="38100" dir="8100000">
              <a:srgbClr val="0B2E33">
                <a:alpha val="12000"/>
              </a:srgbClr>
            </a:outerShdw>
          </a:effectLst>
        </p:spPr>
      </p:sp>
      <p:pic>
        <p:nvPicPr>
          <p:cNvPr id="13" name="Image 1" descr="preencoded.png">    </p:cNvPr>
          <p:cNvPicPr>
            <a:picLocks noChangeAspect="1"/>
          </p:cNvPicPr>
          <p:nvPr/>
        </p:nvPicPr>
        <p:blipFill>
          <a:blip r:embed="rId2"/>
          <a:stretch>
            <a:fillRect/>
          </a:stretch>
        </p:blipFill>
        <p:spPr>
          <a:xfrm>
            <a:off x="6709410" y="2503170"/>
            <a:ext cx="342900" cy="342900"/>
          </a:xfrm>
          <a:prstGeom prst="rect">
            <a:avLst/>
          </a:prstGeom>
        </p:spPr>
      </p:pic>
      <p:sp>
        <p:nvSpPr>
          <p:cNvPr id="14" name="Text 10"/>
          <p:cNvSpPr/>
          <p:nvPr/>
        </p:nvSpPr>
        <p:spPr>
          <a:xfrm>
            <a:off x="7360920" y="2331720"/>
            <a:ext cx="3749040" cy="685800"/>
          </a:xfrm>
          <a:prstGeom prst="rect">
            <a:avLst/>
          </a:prstGeom>
          <a:noFill/>
          <a:ln/>
        </p:spPr>
        <p:txBody>
          <a:bodyPr wrap="square" lIns="0" tIns="0" rIns="0" bIns="0" rtlCol="0" anchor="ctr"/>
          <a:lstStyle/>
          <a:p>
            <a:pPr indent="0" marL="0">
              <a:buNone/>
            </a:pPr>
            <a:r>
              <a:rPr lang="en-US" sz="1550" b="1" dirty="0">
                <a:solidFill>
                  <a:srgbClr val="FFFFFF"/>
                </a:solidFill>
                <a:latin typeface="Georgia" pitchFamily="34" charset="0"/>
                <a:ea typeface="Georgia" pitchFamily="34" charset="-122"/>
                <a:cs typeface="Georgia" pitchFamily="34" charset="-120"/>
              </a:rPr>
              <a:t>Phát hiện mất tập trung (head pose)</a:t>
            </a:r>
            <a:endParaRPr lang="en-US" sz="1550" dirty="0"/>
          </a:p>
        </p:txBody>
      </p:sp>
      <p:sp>
        <p:nvSpPr>
          <p:cNvPr id="15" name="Text 11"/>
          <p:cNvSpPr/>
          <p:nvPr/>
        </p:nvSpPr>
        <p:spPr>
          <a:xfrm>
            <a:off x="6583680" y="3246120"/>
            <a:ext cx="4572000" cy="2377440"/>
          </a:xfrm>
          <a:prstGeom prst="rect">
            <a:avLst/>
          </a:prstGeom>
          <a:noFill/>
          <a:ln/>
        </p:spPr>
        <p:txBody>
          <a:bodyPr wrap="square" lIns="0" tIns="0" rIns="0" bIns="0" rtlCol="0" anchor="ctr"/>
          <a:lstStyle/>
          <a:p>
            <a:pPr indent="0" marL="0">
              <a:lnSpc>
                <a:spcPts val="2100"/>
              </a:lnSpc>
              <a:buNone/>
            </a:pPr>
            <a:r>
              <a:rPr lang="en-US" sz="1400" b="1" dirty="0">
                <a:solidFill>
                  <a:srgbClr val="5EEAD4"/>
                </a:solidFill>
                <a:latin typeface="Calibri" pitchFamily="34" charset="0"/>
                <a:ea typeface="Calibri" pitchFamily="34" charset="-122"/>
                <a:cs typeface="Calibri" pitchFamily="34" charset="-120"/>
              </a:rPr>
              <a:t>Ước lượng hướng đầu</a:t>
            </a:r>
            <a:endParaRPr lang="en-US" sz="1400" dirty="0"/>
          </a:p>
          <a:p>
            <a:pPr indent="0" marL="0">
              <a:lnSpc>
                <a:spcPts val="2100"/>
              </a:lnSpc>
              <a:spcAft>
                <a:spcPts val="800"/>
              </a:spcAft>
              <a:buNone/>
            </a:pPr>
            <a:r>
              <a:rPr lang="en-US" sz="1400" dirty="0">
                <a:solidFill>
                  <a:srgbClr val="CBD5E1"/>
                </a:solidFill>
                <a:latin typeface="Calibri" pitchFamily="34" charset="0"/>
                <a:ea typeface="Calibri" pitchFamily="34" charset="-122"/>
                <a:cs typeface="Calibri" pitchFamily="34" charset="-120"/>
              </a:rPr>
              <a:t>Dựa trên vị trí mũi so với hai mắt và cằm.</a:t>
            </a:r>
            <a:endParaRPr lang="en-US" sz="1400" dirty="0"/>
          </a:p>
          <a:p>
            <a:pPr indent="0" marL="0">
              <a:lnSpc>
                <a:spcPts val="2100"/>
              </a:lnSpc>
              <a:buNone/>
            </a:pPr>
            <a:r>
              <a:rPr lang="en-US" sz="1400" b="1" dirty="0">
                <a:solidFill>
                  <a:srgbClr val="F4A259"/>
                </a:solidFill>
                <a:latin typeface="Calibri" pitchFamily="34" charset="0"/>
                <a:ea typeface="Calibri" pitchFamily="34" charset="-122"/>
                <a:cs typeface="Calibri" pitchFamily="34" charset="-120"/>
              </a:rPr>
              <a:t>Lệch quá ngưỡng </a:t>
            </a:r>
            <a:pPr indent="0" marL="0">
              <a:lnSpc>
                <a:spcPts val="2100"/>
              </a:lnSpc>
              <a:buNone/>
            </a:pPr>
            <a:r>
              <a:rPr lang="en-US" sz="1400" dirty="0">
                <a:solidFill>
                  <a:srgbClr val="CBD5E1"/>
                </a:solidFill>
                <a:latin typeface="Calibri" pitchFamily="34" charset="0"/>
                <a:ea typeface="Calibri" pitchFamily="34" charset="-122"/>
                <a:cs typeface="Calibri" pitchFamily="34" charset="-120"/>
              </a:rPr>
              <a:t>→ đang nhìn đi chỗ khác → cảnh báo mất tập trung.</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200" b="1" spc="300" kern="0" dirty="0">
                <a:solidFill>
                  <a:srgbClr val="0D9488"/>
                </a:solidFill>
                <a:latin typeface="Calibri" pitchFamily="34" charset="0"/>
                <a:ea typeface="Calibri" pitchFamily="34" charset="-122"/>
                <a:cs typeface="Calibri" pitchFamily="34" charset="-120"/>
              </a:rPr>
              <a:t>TÍNH NĂNG NỔI BẬT 01</a:t>
            </a:r>
            <a:endParaRPr lang="en-US" sz="1200" dirty="0"/>
          </a:p>
        </p:txBody>
      </p:sp>
      <p:sp>
        <p:nvSpPr>
          <p:cNvPr id="3" name="Text 1"/>
          <p:cNvSpPr/>
          <p:nvPr/>
        </p:nvSpPr>
        <p:spPr>
          <a:xfrm>
            <a:off x="548640" y="822960"/>
            <a:ext cx="10698480" cy="822960"/>
          </a:xfrm>
          <a:prstGeom prst="rect">
            <a:avLst/>
          </a:prstGeom>
          <a:noFill/>
          <a:ln/>
        </p:spPr>
        <p:txBody>
          <a:bodyPr wrap="square" lIns="0" tIns="0" rIns="0" bIns="0" rtlCol="0" anchor="ctr"/>
          <a:lstStyle/>
          <a:p>
            <a:pPr algn="l" indent="0" marL="0">
              <a:buNone/>
            </a:pPr>
            <a:r>
              <a:rPr lang="en-US" sz="3100" b="1" dirty="0">
                <a:solidFill>
                  <a:srgbClr val="1E293B"/>
                </a:solidFill>
                <a:latin typeface="Georgia" pitchFamily="34" charset="0"/>
                <a:ea typeface="Georgia" pitchFamily="34" charset="-122"/>
                <a:cs typeface="Georgia" pitchFamily="34" charset="-120"/>
              </a:rPr>
              <a:t>Riêng tư &amp; xử lý cục bộ</a:t>
            </a:r>
            <a:endParaRPr lang="en-US" sz="31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Hệ thống học tập trực tuyến với AI</a:t>
            </a:r>
            <a:endParaRPr lang="en-US" sz="900" dirty="0"/>
          </a:p>
        </p:txBody>
      </p:sp>
      <p:sp>
        <p:nvSpPr>
          <p:cNvPr id="5" name="Text 3"/>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18</a:t>
            </a:r>
            <a:endParaRPr lang="en-US" sz="900" dirty="0"/>
          </a:p>
        </p:txBody>
      </p:sp>
      <p:sp>
        <p:nvSpPr>
          <p:cNvPr id="6" name="Shape 4"/>
          <p:cNvSpPr/>
          <p:nvPr/>
        </p:nvSpPr>
        <p:spPr>
          <a:xfrm>
            <a:off x="548640" y="1965960"/>
            <a:ext cx="3566160" cy="3474720"/>
          </a:xfrm>
          <a:prstGeom prst="roundRect">
            <a:avLst>
              <a:gd name="adj" fmla="val 3158"/>
            </a:avLst>
          </a:prstGeom>
          <a:solidFill>
            <a:srgbClr val="F1F5F9"/>
          </a:solidFill>
          <a:ln/>
          <a:effectLst>
            <a:outerShdw sx="100000" sy="100000" kx="0" ky="0" algn="bl" rotWithShape="0" blurRad="101600" dist="38100" dir="8100000">
              <a:srgbClr val="0B2E33">
                <a:alpha val="12000"/>
              </a:srgbClr>
            </a:outerShdw>
          </a:effectLst>
        </p:spPr>
      </p:sp>
      <p:sp>
        <p:nvSpPr>
          <p:cNvPr id="7" name="Shape 5"/>
          <p:cNvSpPr/>
          <p:nvPr/>
        </p:nvSpPr>
        <p:spPr>
          <a:xfrm>
            <a:off x="868680" y="2258568"/>
            <a:ext cx="731520" cy="73152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8" name="Image 0" descr="preencoded.png">    </p:cNvPr>
          <p:cNvPicPr>
            <a:picLocks noChangeAspect="1"/>
          </p:cNvPicPr>
          <p:nvPr/>
        </p:nvPicPr>
        <p:blipFill>
          <a:blip r:embed="rId1"/>
          <a:stretch>
            <a:fillRect/>
          </a:stretch>
        </p:blipFill>
        <p:spPr>
          <a:xfrm>
            <a:off x="1051560" y="2441448"/>
            <a:ext cx="365760" cy="365760"/>
          </a:xfrm>
          <a:prstGeom prst="rect">
            <a:avLst/>
          </a:prstGeom>
        </p:spPr>
      </p:pic>
      <p:sp>
        <p:nvSpPr>
          <p:cNvPr id="9" name="Text 6"/>
          <p:cNvSpPr/>
          <p:nvPr/>
        </p:nvSpPr>
        <p:spPr>
          <a:xfrm>
            <a:off x="868680" y="3108960"/>
            <a:ext cx="3017520" cy="548640"/>
          </a:xfrm>
          <a:prstGeom prst="rect">
            <a:avLst/>
          </a:prstGeom>
          <a:noFill/>
          <a:ln/>
        </p:spPr>
        <p:txBody>
          <a:bodyPr wrap="square" lIns="0" tIns="0" rIns="0" bIns="0" rtlCol="0" anchor="ctr"/>
          <a:lstStyle/>
          <a:p>
            <a:pPr indent="0" marL="0">
              <a:buNone/>
            </a:pPr>
            <a:r>
              <a:rPr lang="en-US" sz="1700" b="1" dirty="0">
                <a:solidFill>
                  <a:srgbClr val="1E293B"/>
                </a:solidFill>
                <a:latin typeface="Georgia" pitchFamily="34" charset="0"/>
                <a:ea typeface="Georgia" pitchFamily="34" charset="-122"/>
                <a:cs typeface="Georgia" pitchFamily="34" charset="-120"/>
              </a:rPr>
              <a:t>Không gửi hình ảnh</a:t>
            </a:r>
            <a:endParaRPr lang="en-US" sz="1700" dirty="0"/>
          </a:p>
        </p:txBody>
      </p:sp>
      <p:sp>
        <p:nvSpPr>
          <p:cNvPr id="10" name="Text 7"/>
          <p:cNvSpPr/>
          <p:nvPr/>
        </p:nvSpPr>
        <p:spPr>
          <a:xfrm>
            <a:off x="868680" y="3703320"/>
            <a:ext cx="3017520" cy="1645920"/>
          </a:xfrm>
          <a:prstGeom prst="rect">
            <a:avLst/>
          </a:prstGeom>
          <a:noFill/>
          <a:ln/>
        </p:spPr>
        <p:txBody>
          <a:bodyPr wrap="square" lIns="0" tIns="0" rIns="0" bIns="0" rtlCol="0" anchor="ctr"/>
          <a:lstStyle/>
          <a:p>
            <a:pPr indent="0" marL="0">
              <a:lnSpc>
                <a:spcPts val="1800"/>
              </a:lnSpc>
              <a:buNone/>
            </a:pPr>
            <a:r>
              <a:rPr lang="en-US" sz="1300" dirty="0">
                <a:solidFill>
                  <a:srgbClr val="64748B"/>
                </a:solidFill>
                <a:latin typeface="Calibri" pitchFamily="34" charset="0"/>
                <a:ea typeface="Calibri" pitchFamily="34" charset="-122"/>
                <a:cs typeface="Calibri" pitchFamily="34" charset="-120"/>
              </a:rPr>
              <a:t>Toàn bộ phân tích khuôn mặt diễn ra trên trình duyệt người dùng.</a:t>
            </a:r>
            <a:endParaRPr lang="en-US" sz="1300" dirty="0"/>
          </a:p>
        </p:txBody>
      </p:sp>
      <p:sp>
        <p:nvSpPr>
          <p:cNvPr id="11" name="Shape 8"/>
          <p:cNvSpPr/>
          <p:nvPr/>
        </p:nvSpPr>
        <p:spPr>
          <a:xfrm>
            <a:off x="4297680" y="1965960"/>
            <a:ext cx="3566160" cy="3474720"/>
          </a:xfrm>
          <a:prstGeom prst="roundRect">
            <a:avLst>
              <a:gd name="adj" fmla="val 3158"/>
            </a:avLst>
          </a:prstGeom>
          <a:solidFill>
            <a:srgbClr val="F1F5F9"/>
          </a:solidFill>
          <a:ln/>
          <a:effectLst>
            <a:outerShdw sx="100000" sy="100000" kx="0" ky="0" algn="bl" rotWithShape="0" blurRad="101600" dist="38100" dir="8100000">
              <a:srgbClr val="0B2E33">
                <a:alpha val="12000"/>
              </a:srgbClr>
            </a:outerShdw>
          </a:effectLst>
        </p:spPr>
      </p:sp>
      <p:sp>
        <p:nvSpPr>
          <p:cNvPr id="12" name="Shape 9"/>
          <p:cNvSpPr/>
          <p:nvPr/>
        </p:nvSpPr>
        <p:spPr>
          <a:xfrm>
            <a:off x="4617720" y="2258568"/>
            <a:ext cx="731520" cy="73152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13" name="Image 1" descr="preencoded.png">    </p:cNvPr>
          <p:cNvPicPr>
            <a:picLocks noChangeAspect="1"/>
          </p:cNvPicPr>
          <p:nvPr/>
        </p:nvPicPr>
        <p:blipFill>
          <a:blip r:embed="rId2"/>
          <a:stretch>
            <a:fillRect/>
          </a:stretch>
        </p:blipFill>
        <p:spPr>
          <a:xfrm>
            <a:off x="4800600" y="2441448"/>
            <a:ext cx="365760" cy="365760"/>
          </a:xfrm>
          <a:prstGeom prst="rect">
            <a:avLst/>
          </a:prstGeom>
        </p:spPr>
      </p:pic>
      <p:sp>
        <p:nvSpPr>
          <p:cNvPr id="14" name="Text 10"/>
          <p:cNvSpPr/>
          <p:nvPr/>
        </p:nvSpPr>
        <p:spPr>
          <a:xfrm>
            <a:off x="4617720" y="3108960"/>
            <a:ext cx="3017520" cy="548640"/>
          </a:xfrm>
          <a:prstGeom prst="rect">
            <a:avLst/>
          </a:prstGeom>
          <a:noFill/>
          <a:ln/>
        </p:spPr>
        <p:txBody>
          <a:bodyPr wrap="square" lIns="0" tIns="0" rIns="0" bIns="0" rtlCol="0" anchor="ctr"/>
          <a:lstStyle/>
          <a:p>
            <a:pPr indent="0" marL="0">
              <a:buNone/>
            </a:pPr>
            <a:r>
              <a:rPr lang="en-US" sz="1700" b="1" dirty="0">
                <a:solidFill>
                  <a:srgbClr val="1E293B"/>
                </a:solidFill>
                <a:latin typeface="Georgia" pitchFamily="34" charset="0"/>
                <a:ea typeface="Georgia" pitchFamily="34" charset="-122"/>
                <a:cs typeface="Georgia" pitchFamily="34" charset="-120"/>
              </a:rPr>
              <a:t>Chỉ gửi điểm số</a:t>
            </a:r>
            <a:endParaRPr lang="en-US" sz="1700" dirty="0"/>
          </a:p>
        </p:txBody>
      </p:sp>
      <p:sp>
        <p:nvSpPr>
          <p:cNvPr id="15" name="Text 11"/>
          <p:cNvSpPr/>
          <p:nvPr/>
        </p:nvSpPr>
        <p:spPr>
          <a:xfrm>
            <a:off x="4617720" y="3703320"/>
            <a:ext cx="3017520" cy="1645920"/>
          </a:xfrm>
          <a:prstGeom prst="rect">
            <a:avLst/>
          </a:prstGeom>
          <a:noFill/>
          <a:ln/>
        </p:spPr>
        <p:txBody>
          <a:bodyPr wrap="square" lIns="0" tIns="0" rIns="0" bIns="0" rtlCol="0" anchor="ctr"/>
          <a:lstStyle/>
          <a:p>
            <a:pPr indent="0" marL="0">
              <a:lnSpc>
                <a:spcPts val="1800"/>
              </a:lnSpc>
              <a:buNone/>
            </a:pPr>
            <a:r>
              <a:rPr lang="en-US" sz="1300" dirty="0">
                <a:solidFill>
                  <a:srgbClr val="64748B"/>
                </a:solidFill>
                <a:latin typeface="Calibri" pitchFamily="34" charset="0"/>
                <a:ea typeface="Calibri" pitchFamily="34" charset="-122"/>
                <a:cs typeface="Calibri" pitchFamily="34" charset="-120"/>
              </a:rPr>
              <a:t>Backend chỉ nhận trạng thái và điểm tập trung dạng số, không nhận ảnh/video.</a:t>
            </a:r>
            <a:endParaRPr lang="en-US" sz="1300" dirty="0"/>
          </a:p>
        </p:txBody>
      </p:sp>
      <p:sp>
        <p:nvSpPr>
          <p:cNvPr id="16" name="Shape 12"/>
          <p:cNvSpPr/>
          <p:nvPr/>
        </p:nvSpPr>
        <p:spPr>
          <a:xfrm>
            <a:off x="8046720" y="1965960"/>
            <a:ext cx="3566160" cy="3474720"/>
          </a:xfrm>
          <a:prstGeom prst="roundRect">
            <a:avLst>
              <a:gd name="adj" fmla="val 3158"/>
            </a:avLst>
          </a:prstGeom>
          <a:solidFill>
            <a:srgbClr val="F1F5F9"/>
          </a:solidFill>
          <a:ln/>
          <a:effectLst>
            <a:outerShdw sx="100000" sy="100000" kx="0" ky="0" algn="bl" rotWithShape="0" blurRad="101600" dist="38100" dir="8100000">
              <a:srgbClr val="0B2E33">
                <a:alpha val="12000"/>
              </a:srgbClr>
            </a:outerShdw>
          </a:effectLst>
        </p:spPr>
      </p:sp>
      <p:sp>
        <p:nvSpPr>
          <p:cNvPr id="17" name="Shape 13"/>
          <p:cNvSpPr/>
          <p:nvPr/>
        </p:nvSpPr>
        <p:spPr>
          <a:xfrm>
            <a:off x="8366760" y="2258568"/>
            <a:ext cx="731520" cy="73152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18" name="Image 2" descr="preencoded.png">    </p:cNvPr>
          <p:cNvPicPr>
            <a:picLocks noChangeAspect="1"/>
          </p:cNvPicPr>
          <p:nvPr/>
        </p:nvPicPr>
        <p:blipFill>
          <a:blip r:embed="rId3"/>
          <a:stretch>
            <a:fillRect/>
          </a:stretch>
        </p:blipFill>
        <p:spPr>
          <a:xfrm>
            <a:off x="8549640" y="2441448"/>
            <a:ext cx="365760" cy="365760"/>
          </a:xfrm>
          <a:prstGeom prst="rect">
            <a:avLst/>
          </a:prstGeom>
        </p:spPr>
      </p:pic>
      <p:sp>
        <p:nvSpPr>
          <p:cNvPr id="19" name="Text 14"/>
          <p:cNvSpPr/>
          <p:nvPr/>
        </p:nvSpPr>
        <p:spPr>
          <a:xfrm>
            <a:off x="8366760" y="3108960"/>
            <a:ext cx="3017520" cy="548640"/>
          </a:xfrm>
          <a:prstGeom prst="rect">
            <a:avLst/>
          </a:prstGeom>
          <a:noFill/>
          <a:ln/>
        </p:spPr>
        <p:txBody>
          <a:bodyPr wrap="square" lIns="0" tIns="0" rIns="0" bIns="0" rtlCol="0" anchor="ctr"/>
          <a:lstStyle/>
          <a:p>
            <a:pPr indent="0" marL="0">
              <a:buNone/>
            </a:pPr>
            <a:r>
              <a:rPr lang="en-US" sz="1700" b="1" dirty="0">
                <a:solidFill>
                  <a:srgbClr val="1E293B"/>
                </a:solidFill>
                <a:latin typeface="Georgia" pitchFamily="34" charset="0"/>
                <a:ea typeface="Georgia" pitchFamily="34" charset="-122"/>
                <a:cs typeface="Georgia" pitchFamily="34" charset="-120"/>
              </a:rPr>
              <a:t>Người dùng chủ động</a:t>
            </a:r>
            <a:endParaRPr lang="en-US" sz="1700" dirty="0"/>
          </a:p>
        </p:txBody>
      </p:sp>
      <p:sp>
        <p:nvSpPr>
          <p:cNvPr id="20" name="Text 15"/>
          <p:cNvSpPr/>
          <p:nvPr/>
        </p:nvSpPr>
        <p:spPr>
          <a:xfrm>
            <a:off x="8366760" y="3703320"/>
            <a:ext cx="3017520" cy="1645920"/>
          </a:xfrm>
          <a:prstGeom prst="rect">
            <a:avLst/>
          </a:prstGeom>
          <a:noFill/>
          <a:ln/>
        </p:spPr>
        <p:txBody>
          <a:bodyPr wrap="square" lIns="0" tIns="0" rIns="0" bIns="0" rtlCol="0" anchor="ctr"/>
          <a:lstStyle/>
          <a:p>
            <a:pPr indent="0" marL="0">
              <a:lnSpc>
                <a:spcPts val="1800"/>
              </a:lnSpc>
              <a:buNone/>
            </a:pPr>
            <a:r>
              <a:rPr lang="en-US" sz="1300" dirty="0">
                <a:solidFill>
                  <a:srgbClr val="64748B"/>
                </a:solidFill>
                <a:latin typeface="Calibri" pitchFamily="34" charset="0"/>
                <a:ea typeface="Calibri" pitchFamily="34" charset="-122"/>
                <a:cs typeface="Calibri" pitchFamily="34" charset="-120"/>
              </a:rPr>
              <a:t>Người học tự bật/tắt camera, có thể dừng giám sát bất cứ lúc nào.</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200" b="1" spc="300" kern="0" dirty="0">
                <a:solidFill>
                  <a:srgbClr val="0D9488"/>
                </a:solidFill>
                <a:latin typeface="Calibri" pitchFamily="34" charset="0"/>
                <a:ea typeface="Calibri" pitchFamily="34" charset="-122"/>
                <a:cs typeface="Calibri" pitchFamily="34" charset="-120"/>
              </a:rPr>
              <a:t>TÍNH NĂNG NỔI BẬT 02</a:t>
            </a:r>
            <a:endParaRPr lang="en-US" sz="1200" dirty="0"/>
          </a:p>
        </p:txBody>
      </p:sp>
      <p:sp>
        <p:nvSpPr>
          <p:cNvPr id="3" name="Text 1"/>
          <p:cNvSpPr/>
          <p:nvPr/>
        </p:nvSpPr>
        <p:spPr>
          <a:xfrm>
            <a:off x="548640" y="822960"/>
            <a:ext cx="10698480" cy="822960"/>
          </a:xfrm>
          <a:prstGeom prst="rect">
            <a:avLst/>
          </a:prstGeom>
          <a:noFill/>
          <a:ln/>
        </p:spPr>
        <p:txBody>
          <a:bodyPr wrap="square" lIns="0" tIns="0" rIns="0" bIns="0" rtlCol="0" anchor="ctr"/>
          <a:lstStyle/>
          <a:p>
            <a:pPr algn="l" indent="0" marL="0">
              <a:buNone/>
            </a:pPr>
            <a:r>
              <a:rPr lang="en-US" sz="3100" b="1" dirty="0">
                <a:solidFill>
                  <a:srgbClr val="1E293B"/>
                </a:solidFill>
                <a:latin typeface="Georgia" pitchFamily="34" charset="0"/>
                <a:ea typeface="Georgia" pitchFamily="34" charset="-122"/>
                <a:cs typeface="Georgia" pitchFamily="34" charset="-120"/>
              </a:rPr>
              <a:t>Quiz thích ứng theo năng lực</a:t>
            </a:r>
            <a:endParaRPr lang="en-US" sz="31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Hệ thống học tập trực tuyến với AI</a:t>
            </a:r>
            <a:endParaRPr lang="en-US" sz="900" dirty="0"/>
          </a:p>
        </p:txBody>
      </p:sp>
      <p:sp>
        <p:nvSpPr>
          <p:cNvPr id="5" name="Text 3"/>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19</a:t>
            </a:r>
            <a:endParaRPr lang="en-US" sz="900" dirty="0"/>
          </a:p>
        </p:txBody>
      </p:sp>
      <p:sp>
        <p:nvSpPr>
          <p:cNvPr id="6" name="Shape 4"/>
          <p:cNvSpPr/>
          <p:nvPr/>
        </p:nvSpPr>
        <p:spPr>
          <a:xfrm>
            <a:off x="548640" y="3017520"/>
            <a:ext cx="1554480" cy="1280160"/>
          </a:xfrm>
          <a:prstGeom prst="roundRect">
            <a:avLst>
              <a:gd name="adj" fmla="val 5714"/>
            </a:avLst>
          </a:prstGeom>
          <a:solidFill>
            <a:srgbClr val="14B8A6"/>
          </a:solidFill>
          <a:ln/>
        </p:spPr>
      </p:sp>
      <p:sp>
        <p:nvSpPr>
          <p:cNvPr id="7" name="Text 5"/>
          <p:cNvSpPr/>
          <p:nvPr/>
        </p:nvSpPr>
        <p:spPr>
          <a:xfrm>
            <a:off x="548640" y="3154680"/>
            <a:ext cx="155448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Basic</a:t>
            </a:r>
            <a:endParaRPr lang="en-US" sz="1500" dirty="0"/>
          </a:p>
        </p:txBody>
      </p:sp>
      <p:sp>
        <p:nvSpPr>
          <p:cNvPr id="8" name="Text 6"/>
          <p:cNvSpPr/>
          <p:nvPr/>
        </p:nvSpPr>
        <p:spPr>
          <a:xfrm>
            <a:off x="548640" y="3886200"/>
            <a:ext cx="1554480" cy="320040"/>
          </a:xfrm>
          <a:prstGeom prst="rect">
            <a:avLst/>
          </a:prstGeom>
          <a:noFill/>
          <a:ln/>
        </p:spPr>
        <p:txBody>
          <a:bodyPr wrap="square" lIns="0" tIns="0" rIns="0" bIns="0" rtlCol="0" anchor="ctr"/>
          <a:lstStyle/>
          <a:p>
            <a:pPr algn="ctr" indent="0" marL="0">
              <a:buNone/>
            </a:pPr>
            <a:r>
              <a:rPr lang="en-US" sz="1100" dirty="0">
                <a:solidFill>
                  <a:srgbClr val="E8F3F2"/>
                </a:solidFill>
                <a:latin typeface="Calibri" pitchFamily="34" charset="0"/>
                <a:ea typeface="Calibri" pitchFamily="34" charset="-122"/>
                <a:cs typeface="Calibri" pitchFamily="34" charset="-120"/>
              </a:rPr>
              <a:t>Cơ bản</a:t>
            </a:r>
            <a:endParaRPr lang="en-US" sz="1100" dirty="0"/>
          </a:p>
        </p:txBody>
      </p:sp>
      <p:pic>
        <p:nvPicPr>
          <p:cNvPr id="9" name="Image 0" descr="preencoded.png">    </p:cNvPr>
          <p:cNvPicPr>
            <a:picLocks noChangeAspect="1"/>
          </p:cNvPicPr>
          <p:nvPr/>
        </p:nvPicPr>
        <p:blipFill>
          <a:blip r:embed="rId1"/>
          <a:stretch>
            <a:fillRect/>
          </a:stretch>
        </p:blipFill>
        <p:spPr>
          <a:xfrm>
            <a:off x="2121408" y="3749040"/>
            <a:ext cx="274320" cy="274320"/>
          </a:xfrm>
          <a:prstGeom prst="rect">
            <a:avLst/>
          </a:prstGeom>
        </p:spPr>
      </p:pic>
      <p:sp>
        <p:nvSpPr>
          <p:cNvPr id="10" name="Shape 7"/>
          <p:cNvSpPr/>
          <p:nvPr/>
        </p:nvSpPr>
        <p:spPr>
          <a:xfrm>
            <a:off x="2377440" y="2560320"/>
            <a:ext cx="1554480" cy="1737360"/>
          </a:xfrm>
          <a:prstGeom prst="roundRect">
            <a:avLst>
              <a:gd name="adj" fmla="val 4706"/>
            </a:avLst>
          </a:prstGeom>
          <a:solidFill>
            <a:srgbClr val="0D9488"/>
          </a:solidFill>
          <a:ln/>
        </p:spPr>
      </p:sp>
      <p:sp>
        <p:nvSpPr>
          <p:cNvPr id="11" name="Text 8"/>
          <p:cNvSpPr/>
          <p:nvPr/>
        </p:nvSpPr>
        <p:spPr>
          <a:xfrm>
            <a:off x="2377440" y="2697480"/>
            <a:ext cx="155448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Medium</a:t>
            </a:r>
            <a:endParaRPr lang="en-US" sz="1500" dirty="0"/>
          </a:p>
        </p:txBody>
      </p:sp>
      <p:sp>
        <p:nvSpPr>
          <p:cNvPr id="12" name="Text 9"/>
          <p:cNvSpPr/>
          <p:nvPr/>
        </p:nvSpPr>
        <p:spPr>
          <a:xfrm>
            <a:off x="2377440" y="3886200"/>
            <a:ext cx="1554480" cy="320040"/>
          </a:xfrm>
          <a:prstGeom prst="rect">
            <a:avLst/>
          </a:prstGeom>
          <a:noFill/>
          <a:ln/>
        </p:spPr>
        <p:txBody>
          <a:bodyPr wrap="square" lIns="0" tIns="0" rIns="0" bIns="0" rtlCol="0" anchor="ctr"/>
          <a:lstStyle/>
          <a:p>
            <a:pPr algn="ctr" indent="0" marL="0">
              <a:buNone/>
            </a:pPr>
            <a:r>
              <a:rPr lang="en-US" sz="1100" dirty="0">
                <a:solidFill>
                  <a:srgbClr val="E8F3F2"/>
                </a:solidFill>
                <a:latin typeface="Calibri" pitchFamily="34" charset="0"/>
                <a:ea typeface="Calibri" pitchFamily="34" charset="-122"/>
                <a:cs typeface="Calibri" pitchFamily="34" charset="-120"/>
              </a:rPr>
              <a:t>Trung bình</a:t>
            </a:r>
            <a:endParaRPr lang="en-US" sz="1100" dirty="0"/>
          </a:p>
        </p:txBody>
      </p:sp>
      <p:pic>
        <p:nvPicPr>
          <p:cNvPr id="13" name="Image 1" descr="preencoded.png">    </p:cNvPr>
          <p:cNvPicPr>
            <a:picLocks noChangeAspect="1"/>
          </p:cNvPicPr>
          <p:nvPr/>
        </p:nvPicPr>
        <p:blipFill>
          <a:blip r:embed="rId2"/>
          <a:stretch>
            <a:fillRect/>
          </a:stretch>
        </p:blipFill>
        <p:spPr>
          <a:xfrm>
            <a:off x="3950208" y="3749040"/>
            <a:ext cx="274320" cy="274320"/>
          </a:xfrm>
          <a:prstGeom prst="rect">
            <a:avLst/>
          </a:prstGeom>
        </p:spPr>
      </p:pic>
      <p:sp>
        <p:nvSpPr>
          <p:cNvPr id="14" name="Shape 10"/>
          <p:cNvSpPr/>
          <p:nvPr/>
        </p:nvSpPr>
        <p:spPr>
          <a:xfrm>
            <a:off x="4206240" y="2103120"/>
            <a:ext cx="1554480" cy="2194560"/>
          </a:xfrm>
          <a:prstGeom prst="roundRect">
            <a:avLst>
              <a:gd name="adj" fmla="val 4706"/>
            </a:avLst>
          </a:prstGeom>
          <a:solidFill>
            <a:srgbClr val="0B2E33"/>
          </a:solidFill>
          <a:ln/>
        </p:spPr>
      </p:sp>
      <p:sp>
        <p:nvSpPr>
          <p:cNvPr id="15" name="Text 11"/>
          <p:cNvSpPr/>
          <p:nvPr/>
        </p:nvSpPr>
        <p:spPr>
          <a:xfrm>
            <a:off x="4206240" y="2240280"/>
            <a:ext cx="155448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Hard</a:t>
            </a:r>
            <a:endParaRPr lang="en-US" sz="1500" dirty="0"/>
          </a:p>
        </p:txBody>
      </p:sp>
      <p:sp>
        <p:nvSpPr>
          <p:cNvPr id="16" name="Text 12"/>
          <p:cNvSpPr/>
          <p:nvPr/>
        </p:nvSpPr>
        <p:spPr>
          <a:xfrm>
            <a:off x="4206240" y="3886200"/>
            <a:ext cx="1554480" cy="320040"/>
          </a:xfrm>
          <a:prstGeom prst="rect">
            <a:avLst/>
          </a:prstGeom>
          <a:noFill/>
          <a:ln/>
        </p:spPr>
        <p:txBody>
          <a:bodyPr wrap="square" lIns="0" tIns="0" rIns="0" bIns="0" rtlCol="0" anchor="ctr"/>
          <a:lstStyle/>
          <a:p>
            <a:pPr algn="ctr" indent="0" marL="0">
              <a:buNone/>
            </a:pPr>
            <a:r>
              <a:rPr lang="en-US" sz="1100" dirty="0">
                <a:solidFill>
                  <a:srgbClr val="E8F3F2"/>
                </a:solidFill>
                <a:latin typeface="Calibri" pitchFamily="34" charset="0"/>
                <a:ea typeface="Calibri" pitchFamily="34" charset="-122"/>
                <a:cs typeface="Calibri" pitchFamily="34" charset="-120"/>
              </a:rPr>
              <a:t>Khó</a:t>
            </a:r>
            <a:endParaRPr lang="en-US" sz="1100" dirty="0"/>
          </a:p>
        </p:txBody>
      </p:sp>
      <p:sp>
        <p:nvSpPr>
          <p:cNvPr id="17" name="Text 13"/>
          <p:cNvSpPr/>
          <p:nvPr/>
        </p:nvSpPr>
        <p:spPr>
          <a:xfrm>
            <a:off x="548640" y="4434840"/>
            <a:ext cx="5486400" cy="36576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Độ khó tăng dần theo năng lực</a:t>
            </a:r>
            <a:endParaRPr lang="en-US" sz="1200" dirty="0"/>
          </a:p>
        </p:txBody>
      </p:sp>
      <p:sp>
        <p:nvSpPr>
          <p:cNvPr id="18" name="Shape 14"/>
          <p:cNvSpPr/>
          <p:nvPr/>
        </p:nvSpPr>
        <p:spPr>
          <a:xfrm>
            <a:off x="6492240" y="1920240"/>
            <a:ext cx="5120640" cy="4023360"/>
          </a:xfrm>
          <a:prstGeom prst="roundRect">
            <a:avLst>
              <a:gd name="adj" fmla="val 2727"/>
            </a:avLst>
          </a:prstGeom>
          <a:solidFill>
            <a:srgbClr val="F1F5F9"/>
          </a:solidFill>
          <a:ln/>
          <a:effectLst>
            <a:outerShdw sx="100000" sy="100000" kx="0" ky="0" algn="bl" rotWithShape="0" blurRad="101600" dist="38100" dir="8100000">
              <a:srgbClr val="0B2E33">
                <a:alpha val="12000"/>
              </a:srgbClr>
            </a:outerShdw>
          </a:effectLst>
        </p:spPr>
      </p:sp>
      <p:sp>
        <p:nvSpPr>
          <p:cNvPr id="19" name="Shape 15"/>
          <p:cNvSpPr/>
          <p:nvPr/>
        </p:nvSpPr>
        <p:spPr>
          <a:xfrm>
            <a:off x="6812280" y="2194560"/>
            <a:ext cx="685800" cy="685800"/>
          </a:xfrm>
          <a:prstGeom prst="ellipse">
            <a:avLst/>
          </a:prstGeom>
          <a:solidFill>
            <a:srgbClr val="F4A259"/>
          </a:solidFill>
          <a:ln/>
          <a:effectLst>
            <a:outerShdw sx="100000" sy="100000" kx="0" ky="0" algn="bl" rotWithShape="0" blurRad="101600" dist="38100" dir="8100000">
              <a:srgbClr val="0B2E33">
                <a:alpha val="12000"/>
              </a:srgbClr>
            </a:outerShdw>
          </a:effectLst>
        </p:spPr>
      </p:sp>
      <p:pic>
        <p:nvPicPr>
          <p:cNvPr id="20" name="Image 2" descr="preencoded.png">    </p:cNvPr>
          <p:cNvPicPr>
            <a:picLocks noChangeAspect="1"/>
          </p:cNvPicPr>
          <p:nvPr/>
        </p:nvPicPr>
        <p:blipFill>
          <a:blip r:embed="rId3"/>
          <a:stretch>
            <a:fillRect/>
          </a:stretch>
        </p:blipFill>
        <p:spPr>
          <a:xfrm>
            <a:off x="6983730" y="2366010"/>
            <a:ext cx="342900" cy="342900"/>
          </a:xfrm>
          <a:prstGeom prst="rect">
            <a:avLst/>
          </a:prstGeom>
        </p:spPr>
      </p:pic>
      <p:sp>
        <p:nvSpPr>
          <p:cNvPr id="21" name="Text 16"/>
          <p:cNvSpPr/>
          <p:nvPr/>
        </p:nvSpPr>
        <p:spPr>
          <a:xfrm>
            <a:off x="7680960" y="2194560"/>
            <a:ext cx="3657600" cy="68580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Cơ chế điều chỉnh</a:t>
            </a:r>
            <a:endParaRPr lang="en-US" sz="1800" dirty="0"/>
          </a:p>
        </p:txBody>
      </p:sp>
      <p:sp>
        <p:nvSpPr>
          <p:cNvPr id="22" name="Shape 17"/>
          <p:cNvSpPr/>
          <p:nvPr/>
        </p:nvSpPr>
        <p:spPr>
          <a:xfrm>
            <a:off x="6858000" y="3154680"/>
            <a:ext cx="502920" cy="50292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23" name="Image 3" descr="preencoded.png">    </p:cNvPr>
          <p:cNvPicPr>
            <a:picLocks noChangeAspect="1"/>
          </p:cNvPicPr>
          <p:nvPr/>
        </p:nvPicPr>
        <p:blipFill>
          <a:blip r:embed="rId4"/>
          <a:stretch>
            <a:fillRect/>
          </a:stretch>
        </p:blipFill>
        <p:spPr>
          <a:xfrm>
            <a:off x="6983730" y="3280410"/>
            <a:ext cx="251460" cy="251460"/>
          </a:xfrm>
          <a:prstGeom prst="rect">
            <a:avLst/>
          </a:prstGeom>
        </p:spPr>
      </p:pic>
      <p:sp>
        <p:nvSpPr>
          <p:cNvPr id="24" name="Text 18"/>
          <p:cNvSpPr/>
          <p:nvPr/>
        </p:nvSpPr>
        <p:spPr>
          <a:xfrm>
            <a:off x="7543800" y="3108960"/>
            <a:ext cx="3840480" cy="365760"/>
          </a:xfrm>
          <a:prstGeom prst="rect">
            <a:avLst/>
          </a:prstGeom>
          <a:noFill/>
          <a:ln/>
        </p:spPr>
        <p:txBody>
          <a:bodyPr wrap="square" lIns="0" tIns="0" rIns="0" bIns="0" rtlCol="0" anchor="ctr"/>
          <a:lstStyle/>
          <a:p>
            <a:pPr indent="0" marL="0">
              <a:buNone/>
            </a:pPr>
            <a:r>
              <a:rPr lang="en-US" sz="1450" b="1" dirty="0">
                <a:solidFill>
                  <a:srgbClr val="1E293B"/>
                </a:solidFill>
                <a:latin typeface="Georgia" pitchFamily="34" charset="0"/>
                <a:ea typeface="Georgia" pitchFamily="34" charset="-122"/>
                <a:cs typeface="Georgia" pitchFamily="34" charset="-120"/>
              </a:rPr>
              <a:t>Trả lời đúng + nhanh</a:t>
            </a:r>
            <a:endParaRPr lang="en-US" sz="1450" dirty="0"/>
          </a:p>
        </p:txBody>
      </p:sp>
      <p:sp>
        <p:nvSpPr>
          <p:cNvPr id="25" name="Text 19"/>
          <p:cNvSpPr/>
          <p:nvPr/>
        </p:nvSpPr>
        <p:spPr>
          <a:xfrm>
            <a:off x="7543800" y="3447288"/>
            <a:ext cx="3840480" cy="32004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 Tăng độ khó câu kế tiếp</a:t>
            </a:r>
            <a:endParaRPr lang="en-US" sz="1250" dirty="0"/>
          </a:p>
        </p:txBody>
      </p:sp>
      <p:sp>
        <p:nvSpPr>
          <p:cNvPr id="26" name="Shape 20"/>
          <p:cNvSpPr/>
          <p:nvPr/>
        </p:nvSpPr>
        <p:spPr>
          <a:xfrm>
            <a:off x="6858000" y="4069080"/>
            <a:ext cx="502920" cy="502920"/>
          </a:xfrm>
          <a:prstGeom prst="ellipse">
            <a:avLst/>
          </a:prstGeom>
          <a:solidFill>
            <a:srgbClr val="64748B"/>
          </a:solidFill>
          <a:ln/>
          <a:effectLst>
            <a:outerShdw sx="100000" sy="100000" kx="0" ky="0" algn="bl" rotWithShape="0" blurRad="101600" dist="38100" dir="8100000">
              <a:srgbClr val="0B2E33">
                <a:alpha val="12000"/>
              </a:srgbClr>
            </a:outerShdw>
          </a:effectLst>
        </p:spPr>
      </p:sp>
      <p:pic>
        <p:nvPicPr>
          <p:cNvPr id="27" name="Image 4" descr="preencoded.png">    </p:cNvPr>
          <p:cNvPicPr>
            <a:picLocks noChangeAspect="1"/>
          </p:cNvPicPr>
          <p:nvPr/>
        </p:nvPicPr>
        <p:blipFill>
          <a:blip r:embed="rId5"/>
          <a:stretch>
            <a:fillRect/>
          </a:stretch>
        </p:blipFill>
        <p:spPr>
          <a:xfrm>
            <a:off x="6983730" y="4194810"/>
            <a:ext cx="251460" cy="251460"/>
          </a:xfrm>
          <a:prstGeom prst="rect">
            <a:avLst/>
          </a:prstGeom>
        </p:spPr>
      </p:pic>
      <p:sp>
        <p:nvSpPr>
          <p:cNvPr id="28" name="Text 21"/>
          <p:cNvSpPr/>
          <p:nvPr/>
        </p:nvSpPr>
        <p:spPr>
          <a:xfrm>
            <a:off x="7543800" y="4023360"/>
            <a:ext cx="3840480" cy="365760"/>
          </a:xfrm>
          <a:prstGeom prst="rect">
            <a:avLst/>
          </a:prstGeom>
          <a:noFill/>
          <a:ln/>
        </p:spPr>
        <p:txBody>
          <a:bodyPr wrap="square" lIns="0" tIns="0" rIns="0" bIns="0" rtlCol="0" anchor="ctr"/>
          <a:lstStyle/>
          <a:p>
            <a:pPr indent="0" marL="0">
              <a:buNone/>
            </a:pPr>
            <a:r>
              <a:rPr lang="en-US" sz="1450" b="1" dirty="0">
                <a:solidFill>
                  <a:srgbClr val="1E293B"/>
                </a:solidFill>
                <a:latin typeface="Georgia" pitchFamily="34" charset="0"/>
                <a:ea typeface="Georgia" pitchFamily="34" charset="-122"/>
                <a:cs typeface="Georgia" pitchFamily="34" charset="-120"/>
              </a:rPr>
              <a:t>Đúng nhưng chậm</a:t>
            </a:r>
            <a:endParaRPr lang="en-US" sz="1450" dirty="0"/>
          </a:p>
        </p:txBody>
      </p:sp>
      <p:sp>
        <p:nvSpPr>
          <p:cNvPr id="29" name="Text 22"/>
          <p:cNvSpPr/>
          <p:nvPr/>
        </p:nvSpPr>
        <p:spPr>
          <a:xfrm>
            <a:off x="7543800" y="4361688"/>
            <a:ext cx="3840480" cy="32004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 Giữ nguyên độ khó</a:t>
            </a:r>
            <a:endParaRPr lang="en-US" sz="1250" dirty="0"/>
          </a:p>
        </p:txBody>
      </p:sp>
      <p:sp>
        <p:nvSpPr>
          <p:cNvPr id="30" name="Shape 23"/>
          <p:cNvSpPr/>
          <p:nvPr/>
        </p:nvSpPr>
        <p:spPr>
          <a:xfrm>
            <a:off x="6858000" y="4983480"/>
            <a:ext cx="502920" cy="502920"/>
          </a:xfrm>
          <a:prstGeom prst="ellipse">
            <a:avLst/>
          </a:prstGeom>
          <a:solidFill>
            <a:srgbClr val="F4A259"/>
          </a:solidFill>
          <a:ln/>
          <a:effectLst>
            <a:outerShdw sx="100000" sy="100000" kx="0" ky="0" algn="bl" rotWithShape="0" blurRad="101600" dist="38100" dir="8100000">
              <a:srgbClr val="0B2E33">
                <a:alpha val="12000"/>
              </a:srgbClr>
            </a:outerShdw>
          </a:effectLst>
        </p:spPr>
      </p:sp>
      <p:pic>
        <p:nvPicPr>
          <p:cNvPr id="31" name="Image 5" descr="preencoded.png">    </p:cNvPr>
          <p:cNvPicPr>
            <a:picLocks noChangeAspect="1"/>
          </p:cNvPicPr>
          <p:nvPr/>
        </p:nvPicPr>
        <p:blipFill>
          <a:blip r:embed="rId6"/>
          <a:stretch>
            <a:fillRect/>
          </a:stretch>
        </p:blipFill>
        <p:spPr>
          <a:xfrm>
            <a:off x="6983730" y="5109210"/>
            <a:ext cx="251460" cy="251460"/>
          </a:xfrm>
          <a:prstGeom prst="rect">
            <a:avLst/>
          </a:prstGeom>
        </p:spPr>
      </p:pic>
      <p:sp>
        <p:nvSpPr>
          <p:cNvPr id="32" name="Text 24"/>
          <p:cNvSpPr/>
          <p:nvPr/>
        </p:nvSpPr>
        <p:spPr>
          <a:xfrm>
            <a:off x="7543800" y="4937760"/>
            <a:ext cx="3840480" cy="365760"/>
          </a:xfrm>
          <a:prstGeom prst="rect">
            <a:avLst/>
          </a:prstGeom>
          <a:noFill/>
          <a:ln/>
        </p:spPr>
        <p:txBody>
          <a:bodyPr wrap="square" lIns="0" tIns="0" rIns="0" bIns="0" rtlCol="0" anchor="ctr"/>
          <a:lstStyle/>
          <a:p>
            <a:pPr indent="0" marL="0">
              <a:buNone/>
            </a:pPr>
            <a:r>
              <a:rPr lang="en-US" sz="1450" b="1" dirty="0">
                <a:solidFill>
                  <a:srgbClr val="1E293B"/>
                </a:solidFill>
                <a:latin typeface="Georgia" pitchFamily="34" charset="0"/>
                <a:ea typeface="Georgia" pitchFamily="34" charset="-122"/>
                <a:cs typeface="Georgia" pitchFamily="34" charset="-120"/>
              </a:rPr>
              <a:t>Trả lời sai</a:t>
            </a:r>
            <a:endParaRPr lang="en-US" sz="1450" dirty="0"/>
          </a:p>
        </p:txBody>
      </p:sp>
      <p:sp>
        <p:nvSpPr>
          <p:cNvPr id="33" name="Text 25"/>
          <p:cNvSpPr/>
          <p:nvPr/>
        </p:nvSpPr>
        <p:spPr>
          <a:xfrm>
            <a:off x="7543800" y="5276088"/>
            <a:ext cx="3840480" cy="32004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 Giảm độ khó, củng cố lại</a:t>
            </a:r>
            <a:endParaRPr lang="en-US" sz="1250" dirty="0"/>
          </a:p>
        </p:txBody>
      </p:sp>
      <p:sp>
        <p:nvSpPr>
          <p:cNvPr id="34" name="Text 26"/>
          <p:cNvSpPr/>
          <p:nvPr/>
        </p:nvSpPr>
        <p:spPr>
          <a:xfrm>
            <a:off x="6812280" y="5623560"/>
            <a:ext cx="4572000" cy="320040"/>
          </a:xfrm>
          <a:prstGeom prst="rect">
            <a:avLst/>
          </a:prstGeom>
          <a:noFill/>
          <a:ln/>
        </p:spPr>
        <p:txBody>
          <a:bodyPr wrap="square" lIns="0" tIns="0" rIns="0" bIns="0" rtlCol="0" anchor="ctr"/>
          <a:lstStyle/>
          <a:p>
            <a:pPr indent="0" marL="0">
              <a:buNone/>
            </a:pPr>
            <a:r>
              <a:rPr lang="en-US" sz="1150" i="1" dirty="0">
                <a:solidFill>
                  <a:srgbClr val="0D9488"/>
                </a:solidFill>
                <a:latin typeface="Calibri" pitchFamily="34" charset="0"/>
                <a:ea typeface="Calibri" pitchFamily="34" charset="-122"/>
                <a:cs typeface="Calibri" pitchFamily="34" charset="-120"/>
              </a:rPr>
              <a:t>Đạt ≥ 70% được tính là Pass</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2E33"/>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200" b="1" spc="300" kern="0" dirty="0">
                <a:solidFill>
                  <a:srgbClr val="5EEAD4"/>
                </a:solidFill>
                <a:latin typeface="Calibri" pitchFamily="34" charset="0"/>
                <a:ea typeface="Calibri" pitchFamily="34" charset="-122"/>
                <a:cs typeface="Calibri" pitchFamily="34" charset="-120"/>
              </a:rPr>
              <a:t>TÍNH NĂNG NỔI BẬT 02</a:t>
            </a:r>
            <a:endParaRPr lang="en-US" sz="1200" dirty="0"/>
          </a:p>
        </p:txBody>
      </p:sp>
      <p:sp>
        <p:nvSpPr>
          <p:cNvPr id="3" name="Text 1"/>
          <p:cNvSpPr/>
          <p:nvPr/>
        </p:nvSpPr>
        <p:spPr>
          <a:xfrm>
            <a:off x="548640" y="822960"/>
            <a:ext cx="10698480" cy="822960"/>
          </a:xfrm>
          <a:prstGeom prst="rect">
            <a:avLst/>
          </a:prstGeom>
          <a:noFill/>
          <a:ln/>
        </p:spPr>
        <p:txBody>
          <a:bodyPr wrap="square" lIns="0" tIns="0" rIns="0" bIns="0" rtlCol="0" anchor="ctr"/>
          <a:lstStyle/>
          <a:p>
            <a:pPr algn="l" indent="0" marL="0">
              <a:buNone/>
            </a:pPr>
            <a:r>
              <a:rPr lang="en-US" sz="3100" b="1" dirty="0">
                <a:solidFill>
                  <a:srgbClr val="FFFFFF"/>
                </a:solidFill>
                <a:latin typeface="Georgia" pitchFamily="34" charset="0"/>
                <a:ea typeface="Georgia" pitchFamily="34" charset="-122"/>
                <a:cs typeface="Georgia" pitchFamily="34" charset="-120"/>
              </a:rPr>
              <a:t>Thuật toán điều chỉnh độ khó</a:t>
            </a:r>
            <a:endParaRPr lang="en-US" sz="31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Hệ thống học tập trực tuyến với AI</a:t>
            </a:r>
            <a:endParaRPr lang="en-US" sz="900" dirty="0"/>
          </a:p>
        </p:txBody>
      </p:sp>
      <p:sp>
        <p:nvSpPr>
          <p:cNvPr id="5" name="Text 3"/>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20</a:t>
            </a:r>
            <a:endParaRPr lang="en-US" sz="900" dirty="0"/>
          </a:p>
        </p:txBody>
      </p:sp>
      <p:sp>
        <p:nvSpPr>
          <p:cNvPr id="6" name="Shape 4"/>
          <p:cNvSpPr/>
          <p:nvPr/>
        </p:nvSpPr>
        <p:spPr>
          <a:xfrm>
            <a:off x="640080" y="2606040"/>
            <a:ext cx="2103120" cy="2331720"/>
          </a:xfrm>
          <a:prstGeom prst="roundRect">
            <a:avLst>
              <a:gd name="adj" fmla="val 5217"/>
            </a:avLst>
          </a:prstGeom>
          <a:solidFill>
            <a:srgbClr val="12393F"/>
          </a:solidFill>
          <a:ln w="15240">
            <a:solidFill>
              <a:srgbClr val="0D9488"/>
            </a:solidFill>
            <a:prstDash val="solid"/>
          </a:ln>
        </p:spPr>
      </p:sp>
      <p:sp>
        <p:nvSpPr>
          <p:cNvPr id="7" name="Shape 5"/>
          <p:cNvSpPr/>
          <p:nvPr/>
        </p:nvSpPr>
        <p:spPr>
          <a:xfrm>
            <a:off x="1325880" y="2880360"/>
            <a:ext cx="731520" cy="73152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8" name="Image 0" descr="preencoded.png">    </p:cNvPr>
          <p:cNvPicPr>
            <a:picLocks noChangeAspect="1"/>
          </p:cNvPicPr>
          <p:nvPr/>
        </p:nvPicPr>
        <p:blipFill>
          <a:blip r:embed="rId1"/>
          <a:stretch>
            <a:fillRect/>
          </a:stretch>
        </p:blipFill>
        <p:spPr>
          <a:xfrm>
            <a:off x="1490472" y="3044952"/>
            <a:ext cx="402336" cy="402336"/>
          </a:xfrm>
          <a:prstGeom prst="rect">
            <a:avLst/>
          </a:prstGeom>
        </p:spPr>
      </p:pic>
      <p:sp>
        <p:nvSpPr>
          <p:cNvPr id="9" name="Text 6"/>
          <p:cNvSpPr/>
          <p:nvPr/>
        </p:nvSpPr>
        <p:spPr>
          <a:xfrm>
            <a:off x="731520" y="3749040"/>
            <a:ext cx="1920240" cy="411480"/>
          </a:xfrm>
          <a:prstGeom prst="rect">
            <a:avLst/>
          </a:prstGeom>
          <a:noFill/>
          <a:ln/>
        </p:spPr>
        <p:txBody>
          <a:bodyPr wrap="square" lIns="0" tIns="0" rIns="0" bIns="0" rtlCol="0" anchor="ctr"/>
          <a:lstStyle/>
          <a:p>
            <a:pPr algn="ctr" indent="0" marL="0">
              <a:buNone/>
            </a:pPr>
            <a:r>
              <a:rPr lang="en-US" sz="1450" b="1" dirty="0">
                <a:solidFill>
                  <a:srgbClr val="FFFFFF"/>
                </a:solidFill>
                <a:latin typeface="Georgia" pitchFamily="34" charset="0"/>
                <a:ea typeface="Georgia" pitchFamily="34" charset="-122"/>
                <a:cs typeface="Georgia" pitchFamily="34" charset="-120"/>
              </a:rPr>
              <a:t>Bắt đầu</a:t>
            </a:r>
            <a:endParaRPr lang="en-US" sz="1450" dirty="0"/>
          </a:p>
        </p:txBody>
      </p:sp>
      <p:sp>
        <p:nvSpPr>
          <p:cNvPr id="10" name="Text 7"/>
          <p:cNvSpPr/>
          <p:nvPr/>
        </p:nvSpPr>
        <p:spPr>
          <a:xfrm>
            <a:off x="777240" y="4206240"/>
            <a:ext cx="1828800" cy="640080"/>
          </a:xfrm>
          <a:prstGeom prst="rect">
            <a:avLst/>
          </a:prstGeom>
          <a:noFill/>
          <a:ln/>
        </p:spPr>
        <p:txBody>
          <a:bodyPr wrap="square" lIns="0" tIns="0" rIns="0" bIns="0" rtlCol="0" anchor="ctr"/>
          <a:lstStyle/>
          <a:p>
            <a:pPr algn="ctr" indent="0" marL="0">
              <a:lnSpc>
                <a:spcPts val="1400"/>
              </a:lnSpc>
              <a:buNone/>
            </a:pPr>
            <a:r>
              <a:rPr lang="en-US" sz="1100" dirty="0">
                <a:solidFill>
                  <a:srgbClr val="B6CBCC"/>
                </a:solidFill>
                <a:latin typeface="Calibri" pitchFamily="34" charset="0"/>
                <a:ea typeface="Calibri" pitchFamily="34" charset="-122"/>
                <a:cs typeface="Calibri" pitchFamily="34" charset="-120"/>
              </a:rPr>
              <a:t>Câu đầu tiên ở mức 'basic'</a:t>
            </a:r>
            <a:endParaRPr lang="en-US" sz="1100" dirty="0"/>
          </a:p>
        </p:txBody>
      </p:sp>
      <p:pic>
        <p:nvPicPr>
          <p:cNvPr id="11" name="Image 1" descr="preencoded.png">    </p:cNvPr>
          <p:cNvPicPr>
            <a:picLocks noChangeAspect="1"/>
          </p:cNvPicPr>
          <p:nvPr/>
        </p:nvPicPr>
        <p:blipFill>
          <a:blip r:embed="rId2"/>
          <a:stretch>
            <a:fillRect/>
          </a:stretch>
        </p:blipFill>
        <p:spPr>
          <a:xfrm>
            <a:off x="2706624" y="3566160"/>
            <a:ext cx="274320" cy="274320"/>
          </a:xfrm>
          <a:prstGeom prst="rect">
            <a:avLst/>
          </a:prstGeom>
        </p:spPr>
      </p:pic>
      <p:sp>
        <p:nvSpPr>
          <p:cNvPr id="12" name="Shape 8"/>
          <p:cNvSpPr/>
          <p:nvPr/>
        </p:nvSpPr>
        <p:spPr>
          <a:xfrm>
            <a:off x="2907792" y="2606040"/>
            <a:ext cx="2103120" cy="2331720"/>
          </a:xfrm>
          <a:prstGeom prst="roundRect">
            <a:avLst>
              <a:gd name="adj" fmla="val 5217"/>
            </a:avLst>
          </a:prstGeom>
          <a:solidFill>
            <a:srgbClr val="12393F"/>
          </a:solidFill>
          <a:ln w="15240">
            <a:solidFill>
              <a:srgbClr val="0D9488"/>
            </a:solidFill>
            <a:prstDash val="solid"/>
          </a:ln>
        </p:spPr>
      </p:sp>
      <p:sp>
        <p:nvSpPr>
          <p:cNvPr id="13" name="Shape 9"/>
          <p:cNvSpPr/>
          <p:nvPr/>
        </p:nvSpPr>
        <p:spPr>
          <a:xfrm>
            <a:off x="3593592" y="2880360"/>
            <a:ext cx="731520" cy="73152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14" name="Image 2" descr="preencoded.png">    </p:cNvPr>
          <p:cNvPicPr>
            <a:picLocks noChangeAspect="1"/>
          </p:cNvPicPr>
          <p:nvPr/>
        </p:nvPicPr>
        <p:blipFill>
          <a:blip r:embed="rId3"/>
          <a:stretch>
            <a:fillRect/>
          </a:stretch>
        </p:blipFill>
        <p:spPr>
          <a:xfrm>
            <a:off x="3758184" y="3044952"/>
            <a:ext cx="402336" cy="402336"/>
          </a:xfrm>
          <a:prstGeom prst="rect">
            <a:avLst/>
          </a:prstGeom>
        </p:spPr>
      </p:pic>
      <p:sp>
        <p:nvSpPr>
          <p:cNvPr id="15" name="Text 10"/>
          <p:cNvSpPr/>
          <p:nvPr/>
        </p:nvSpPr>
        <p:spPr>
          <a:xfrm>
            <a:off x="2999232" y="3749040"/>
            <a:ext cx="1920240" cy="411480"/>
          </a:xfrm>
          <a:prstGeom prst="rect">
            <a:avLst/>
          </a:prstGeom>
          <a:noFill/>
          <a:ln/>
        </p:spPr>
        <p:txBody>
          <a:bodyPr wrap="square" lIns="0" tIns="0" rIns="0" bIns="0" rtlCol="0" anchor="ctr"/>
          <a:lstStyle/>
          <a:p>
            <a:pPr algn="ctr" indent="0" marL="0">
              <a:buNone/>
            </a:pPr>
            <a:r>
              <a:rPr lang="en-US" sz="1450" b="1" dirty="0">
                <a:solidFill>
                  <a:srgbClr val="FFFFFF"/>
                </a:solidFill>
                <a:latin typeface="Georgia" pitchFamily="34" charset="0"/>
                <a:ea typeface="Georgia" pitchFamily="34" charset="-122"/>
                <a:cs typeface="Georgia" pitchFamily="34" charset="-120"/>
              </a:rPr>
              <a:t>Trả lời câu hỏi</a:t>
            </a:r>
            <a:endParaRPr lang="en-US" sz="1450" dirty="0"/>
          </a:p>
        </p:txBody>
      </p:sp>
      <p:sp>
        <p:nvSpPr>
          <p:cNvPr id="16" name="Text 11"/>
          <p:cNvSpPr/>
          <p:nvPr/>
        </p:nvSpPr>
        <p:spPr>
          <a:xfrm>
            <a:off x="3044952" y="4206240"/>
            <a:ext cx="1828800" cy="640080"/>
          </a:xfrm>
          <a:prstGeom prst="rect">
            <a:avLst/>
          </a:prstGeom>
          <a:noFill/>
          <a:ln/>
        </p:spPr>
        <p:txBody>
          <a:bodyPr wrap="square" lIns="0" tIns="0" rIns="0" bIns="0" rtlCol="0" anchor="ctr"/>
          <a:lstStyle/>
          <a:p>
            <a:pPr algn="ctr" indent="0" marL="0">
              <a:lnSpc>
                <a:spcPts val="1400"/>
              </a:lnSpc>
              <a:buNone/>
            </a:pPr>
            <a:r>
              <a:rPr lang="en-US" sz="1100" dirty="0">
                <a:solidFill>
                  <a:srgbClr val="B6CBCC"/>
                </a:solidFill>
                <a:latin typeface="Calibri" pitchFamily="34" charset="0"/>
                <a:ea typeface="Calibri" pitchFamily="34" charset="-122"/>
                <a:cs typeface="Calibri" pitchFamily="34" charset="-120"/>
              </a:rPr>
              <a:t>Ghi đáp án + thời gian phản hồi</a:t>
            </a:r>
            <a:endParaRPr lang="en-US" sz="1100" dirty="0"/>
          </a:p>
        </p:txBody>
      </p:sp>
      <p:pic>
        <p:nvPicPr>
          <p:cNvPr id="17" name="Image 3" descr="preencoded.png">    </p:cNvPr>
          <p:cNvPicPr>
            <a:picLocks noChangeAspect="1"/>
          </p:cNvPicPr>
          <p:nvPr/>
        </p:nvPicPr>
        <p:blipFill>
          <a:blip r:embed="rId4"/>
          <a:stretch>
            <a:fillRect/>
          </a:stretch>
        </p:blipFill>
        <p:spPr>
          <a:xfrm>
            <a:off x="4974336" y="3566160"/>
            <a:ext cx="274320" cy="274320"/>
          </a:xfrm>
          <a:prstGeom prst="rect">
            <a:avLst/>
          </a:prstGeom>
        </p:spPr>
      </p:pic>
      <p:sp>
        <p:nvSpPr>
          <p:cNvPr id="18" name="Shape 12"/>
          <p:cNvSpPr/>
          <p:nvPr/>
        </p:nvSpPr>
        <p:spPr>
          <a:xfrm>
            <a:off x="5175504" y="2606040"/>
            <a:ext cx="2103120" cy="2331720"/>
          </a:xfrm>
          <a:prstGeom prst="roundRect">
            <a:avLst>
              <a:gd name="adj" fmla="val 5217"/>
            </a:avLst>
          </a:prstGeom>
          <a:solidFill>
            <a:srgbClr val="12393F"/>
          </a:solidFill>
          <a:ln w="15240">
            <a:solidFill>
              <a:srgbClr val="0D9488"/>
            </a:solidFill>
            <a:prstDash val="solid"/>
          </a:ln>
        </p:spPr>
      </p:sp>
      <p:sp>
        <p:nvSpPr>
          <p:cNvPr id="19" name="Shape 13"/>
          <p:cNvSpPr/>
          <p:nvPr/>
        </p:nvSpPr>
        <p:spPr>
          <a:xfrm>
            <a:off x="5861304" y="2880360"/>
            <a:ext cx="731520" cy="73152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20" name="Image 4" descr="preencoded.png">    </p:cNvPr>
          <p:cNvPicPr>
            <a:picLocks noChangeAspect="1"/>
          </p:cNvPicPr>
          <p:nvPr/>
        </p:nvPicPr>
        <p:blipFill>
          <a:blip r:embed="rId5"/>
          <a:stretch>
            <a:fillRect/>
          </a:stretch>
        </p:blipFill>
        <p:spPr>
          <a:xfrm>
            <a:off x="6025896" y="3044952"/>
            <a:ext cx="402336" cy="402336"/>
          </a:xfrm>
          <a:prstGeom prst="rect">
            <a:avLst/>
          </a:prstGeom>
        </p:spPr>
      </p:pic>
      <p:sp>
        <p:nvSpPr>
          <p:cNvPr id="21" name="Text 14"/>
          <p:cNvSpPr/>
          <p:nvPr/>
        </p:nvSpPr>
        <p:spPr>
          <a:xfrm>
            <a:off x="5266944" y="3749040"/>
            <a:ext cx="1920240" cy="411480"/>
          </a:xfrm>
          <a:prstGeom prst="rect">
            <a:avLst/>
          </a:prstGeom>
          <a:noFill/>
          <a:ln/>
        </p:spPr>
        <p:txBody>
          <a:bodyPr wrap="square" lIns="0" tIns="0" rIns="0" bIns="0" rtlCol="0" anchor="ctr"/>
          <a:lstStyle/>
          <a:p>
            <a:pPr algn="ctr" indent="0" marL="0">
              <a:buNone/>
            </a:pPr>
            <a:r>
              <a:rPr lang="en-US" sz="1450" b="1" dirty="0">
                <a:solidFill>
                  <a:srgbClr val="FFFFFF"/>
                </a:solidFill>
                <a:latin typeface="Georgia" pitchFamily="34" charset="0"/>
                <a:ea typeface="Georgia" pitchFamily="34" charset="-122"/>
                <a:cs typeface="Georgia" pitchFamily="34" charset="-120"/>
              </a:rPr>
              <a:t>Đánh giá</a:t>
            </a:r>
            <a:endParaRPr lang="en-US" sz="1450" dirty="0"/>
          </a:p>
        </p:txBody>
      </p:sp>
      <p:sp>
        <p:nvSpPr>
          <p:cNvPr id="22" name="Text 15"/>
          <p:cNvSpPr/>
          <p:nvPr/>
        </p:nvSpPr>
        <p:spPr>
          <a:xfrm>
            <a:off x="5312664" y="4206240"/>
            <a:ext cx="1828800" cy="640080"/>
          </a:xfrm>
          <a:prstGeom prst="rect">
            <a:avLst/>
          </a:prstGeom>
          <a:noFill/>
          <a:ln/>
        </p:spPr>
        <p:txBody>
          <a:bodyPr wrap="square" lIns="0" tIns="0" rIns="0" bIns="0" rtlCol="0" anchor="ctr"/>
          <a:lstStyle/>
          <a:p>
            <a:pPr algn="ctr" indent="0" marL="0">
              <a:lnSpc>
                <a:spcPts val="1400"/>
              </a:lnSpc>
              <a:buNone/>
            </a:pPr>
            <a:r>
              <a:rPr lang="en-US" sz="1100" dirty="0">
                <a:solidFill>
                  <a:srgbClr val="B6CBCC"/>
                </a:solidFill>
                <a:latin typeface="Calibri" pitchFamily="34" charset="0"/>
                <a:ea typeface="Calibri" pitchFamily="34" charset="-122"/>
                <a:cs typeface="Calibri" pitchFamily="34" charset="-120"/>
              </a:rPr>
              <a:t>Đúng/sai kết hợp nhanh/chậm</a:t>
            </a:r>
            <a:endParaRPr lang="en-US" sz="1100" dirty="0"/>
          </a:p>
        </p:txBody>
      </p:sp>
      <p:pic>
        <p:nvPicPr>
          <p:cNvPr id="23" name="Image 5" descr="preencoded.png">    </p:cNvPr>
          <p:cNvPicPr>
            <a:picLocks noChangeAspect="1"/>
          </p:cNvPicPr>
          <p:nvPr/>
        </p:nvPicPr>
        <p:blipFill>
          <a:blip r:embed="rId6"/>
          <a:stretch>
            <a:fillRect/>
          </a:stretch>
        </p:blipFill>
        <p:spPr>
          <a:xfrm>
            <a:off x="7242048" y="3566160"/>
            <a:ext cx="274320" cy="274320"/>
          </a:xfrm>
          <a:prstGeom prst="rect">
            <a:avLst/>
          </a:prstGeom>
        </p:spPr>
      </p:pic>
      <p:sp>
        <p:nvSpPr>
          <p:cNvPr id="24" name="Shape 16"/>
          <p:cNvSpPr/>
          <p:nvPr/>
        </p:nvSpPr>
        <p:spPr>
          <a:xfrm>
            <a:off x="7443216" y="2606040"/>
            <a:ext cx="2103120" cy="2331720"/>
          </a:xfrm>
          <a:prstGeom prst="roundRect">
            <a:avLst>
              <a:gd name="adj" fmla="val 5217"/>
            </a:avLst>
          </a:prstGeom>
          <a:solidFill>
            <a:srgbClr val="12393F"/>
          </a:solidFill>
          <a:ln w="15240">
            <a:solidFill>
              <a:srgbClr val="0D9488"/>
            </a:solidFill>
            <a:prstDash val="solid"/>
          </a:ln>
        </p:spPr>
      </p:sp>
      <p:sp>
        <p:nvSpPr>
          <p:cNvPr id="25" name="Shape 17"/>
          <p:cNvSpPr/>
          <p:nvPr/>
        </p:nvSpPr>
        <p:spPr>
          <a:xfrm>
            <a:off x="8129016" y="2880360"/>
            <a:ext cx="731520" cy="73152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26" name="Image 6" descr="preencoded.png">    </p:cNvPr>
          <p:cNvPicPr>
            <a:picLocks noChangeAspect="1"/>
          </p:cNvPicPr>
          <p:nvPr/>
        </p:nvPicPr>
        <p:blipFill>
          <a:blip r:embed="rId7"/>
          <a:stretch>
            <a:fillRect/>
          </a:stretch>
        </p:blipFill>
        <p:spPr>
          <a:xfrm>
            <a:off x="8293608" y="3044952"/>
            <a:ext cx="402336" cy="402336"/>
          </a:xfrm>
          <a:prstGeom prst="rect">
            <a:avLst/>
          </a:prstGeom>
        </p:spPr>
      </p:pic>
      <p:sp>
        <p:nvSpPr>
          <p:cNvPr id="27" name="Text 18"/>
          <p:cNvSpPr/>
          <p:nvPr/>
        </p:nvSpPr>
        <p:spPr>
          <a:xfrm>
            <a:off x="7534656" y="3749040"/>
            <a:ext cx="1920240" cy="411480"/>
          </a:xfrm>
          <a:prstGeom prst="rect">
            <a:avLst/>
          </a:prstGeom>
          <a:noFill/>
          <a:ln/>
        </p:spPr>
        <p:txBody>
          <a:bodyPr wrap="square" lIns="0" tIns="0" rIns="0" bIns="0" rtlCol="0" anchor="ctr"/>
          <a:lstStyle/>
          <a:p>
            <a:pPr algn="ctr" indent="0" marL="0">
              <a:buNone/>
            </a:pPr>
            <a:r>
              <a:rPr lang="en-US" sz="1450" b="1" dirty="0">
                <a:solidFill>
                  <a:srgbClr val="FFFFFF"/>
                </a:solidFill>
                <a:latin typeface="Georgia" pitchFamily="34" charset="0"/>
                <a:ea typeface="Georgia" pitchFamily="34" charset="-122"/>
                <a:cs typeface="Georgia" pitchFamily="34" charset="-120"/>
              </a:rPr>
              <a:t>Chọn câu kế tiếp</a:t>
            </a:r>
            <a:endParaRPr lang="en-US" sz="1450" dirty="0"/>
          </a:p>
        </p:txBody>
      </p:sp>
      <p:sp>
        <p:nvSpPr>
          <p:cNvPr id="28" name="Text 19"/>
          <p:cNvSpPr/>
          <p:nvPr/>
        </p:nvSpPr>
        <p:spPr>
          <a:xfrm>
            <a:off x="7580376" y="4206240"/>
            <a:ext cx="1828800" cy="640080"/>
          </a:xfrm>
          <a:prstGeom prst="rect">
            <a:avLst/>
          </a:prstGeom>
          <a:noFill/>
          <a:ln/>
        </p:spPr>
        <p:txBody>
          <a:bodyPr wrap="square" lIns="0" tIns="0" rIns="0" bIns="0" rtlCol="0" anchor="ctr"/>
          <a:lstStyle/>
          <a:p>
            <a:pPr algn="ctr" indent="0" marL="0">
              <a:lnSpc>
                <a:spcPts val="1400"/>
              </a:lnSpc>
              <a:buNone/>
            </a:pPr>
            <a:r>
              <a:rPr lang="en-US" sz="1100" dirty="0">
                <a:solidFill>
                  <a:srgbClr val="B6CBCC"/>
                </a:solidFill>
                <a:latin typeface="Calibri" pitchFamily="34" charset="0"/>
                <a:ea typeface="Calibri" pitchFamily="34" charset="-122"/>
                <a:cs typeface="Calibri" pitchFamily="34" charset="-120"/>
              </a:rPr>
              <a:t>Tăng / giữ / giảm độ khó</a:t>
            </a:r>
            <a:endParaRPr lang="en-US" sz="1100" dirty="0"/>
          </a:p>
        </p:txBody>
      </p:sp>
      <p:pic>
        <p:nvPicPr>
          <p:cNvPr id="29" name="Image 7" descr="preencoded.png">    </p:cNvPr>
          <p:cNvPicPr>
            <a:picLocks noChangeAspect="1"/>
          </p:cNvPicPr>
          <p:nvPr/>
        </p:nvPicPr>
        <p:blipFill>
          <a:blip r:embed="rId8"/>
          <a:stretch>
            <a:fillRect/>
          </a:stretch>
        </p:blipFill>
        <p:spPr>
          <a:xfrm>
            <a:off x="9509760" y="3566160"/>
            <a:ext cx="274320" cy="274320"/>
          </a:xfrm>
          <a:prstGeom prst="rect">
            <a:avLst/>
          </a:prstGeom>
        </p:spPr>
      </p:pic>
      <p:sp>
        <p:nvSpPr>
          <p:cNvPr id="30" name="Shape 20"/>
          <p:cNvSpPr/>
          <p:nvPr/>
        </p:nvSpPr>
        <p:spPr>
          <a:xfrm>
            <a:off x="9710928" y="2606040"/>
            <a:ext cx="2103120" cy="2331720"/>
          </a:xfrm>
          <a:prstGeom prst="roundRect">
            <a:avLst>
              <a:gd name="adj" fmla="val 5217"/>
            </a:avLst>
          </a:prstGeom>
          <a:solidFill>
            <a:srgbClr val="12393F"/>
          </a:solidFill>
          <a:ln w="15240">
            <a:solidFill>
              <a:srgbClr val="0D9488"/>
            </a:solidFill>
            <a:prstDash val="solid"/>
          </a:ln>
        </p:spPr>
      </p:sp>
      <p:sp>
        <p:nvSpPr>
          <p:cNvPr id="31" name="Shape 21"/>
          <p:cNvSpPr/>
          <p:nvPr/>
        </p:nvSpPr>
        <p:spPr>
          <a:xfrm>
            <a:off x="10396728" y="2880360"/>
            <a:ext cx="731520" cy="73152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32" name="Image 8" descr="preencoded.png">    </p:cNvPr>
          <p:cNvPicPr>
            <a:picLocks noChangeAspect="1"/>
          </p:cNvPicPr>
          <p:nvPr/>
        </p:nvPicPr>
        <p:blipFill>
          <a:blip r:embed="rId9"/>
          <a:stretch>
            <a:fillRect/>
          </a:stretch>
        </p:blipFill>
        <p:spPr>
          <a:xfrm>
            <a:off x="10561320" y="3044952"/>
            <a:ext cx="402336" cy="402336"/>
          </a:xfrm>
          <a:prstGeom prst="rect">
            <a:avLst/>
          </a:prstGeom>
        </p:spPr>
      </p:pic>
      <p:sp>
        <p:nvSpPr>
          <p:cNvPr id="33" name="Text 22"/>
          <p:cNvSpPr/>
          <p:nvPr/>
        </p:nvSpPr>
        <p:spPr>
          <a:xfrm>
            <a:off x="9802368" y="3749040"/>
            <a:ext cx="1920240" cy="411480"/>
          </a:xfrm>
          <a:prstGeom prst="rect">
            <a:avLst/>
          </a:prstGeom>
          <a:noFill/>
          <a:ln/>
        </p:spPr>
        <p:txBody>
          <a:bodyPr wrap="square" lIns="0" tIns="0" rIns="0" bIns="0" rtlCol="0" anchor="ctr"/>
          <a:lstStyle/>
          <a:p>
            <a:pPr algn="ctr" indent="0" marL="0">
              <a:buNone/>
            </a:pPr>
            <a:r>
              <a:rPr lang="en-US" sz="1450" b="1" dirty="0">
                <a:solidFill>
                  <a:srgbClr val="FFFFFF"/>
                </a:solidFill>
                <a:latin typeface="Georgia" pitchFamily="34" charset="0"/>
                <a:ea typeface="Georgia" pitchFamily="34" charset="-122"/>
                <a:cs typeface="Georgia" pitchFamily="34" charset="-120"/>
              </a:rPr>
              <a:t>Kết thúc</a:t>
            </a:r>
            <a:endParaRPr lang="en-US" sz="1450" dirty="0"/>
          </a:p>
        </p:txBody>
      </p:sp>
      <p:sp>
        <p:nvSpPr>
          <p:cNvPr id="34" name="Text 23"/>
          <p:cNvSpPr/>
          <p:nvPr/>
        </p:nvSpPr>
        <p:spPr>
          <a:xfrm>
            <a:off x="9848088" y="4206240"/>
            <a:ext cx="1828800" cy="640080"/>
          </a:xfrm>
          <a:prstGeom prst="rect">
            <a:avLst/>
          </a:prstGeom>
          <a:noFill/>
          <a:ln/>
        </p:spPr>
        <p:txBody>
          <a:bodyPr wrap="square" lIns="0" tIns="0" rIns="0" bIns="0" rtlCol="0" anchor="ctr"/>
          <a:lstStyle/>
          <a:p>
            <a:pPr algn="ctr" indent="0" marL="0">
              <a:lnSpc>
                <a:spcPts val="1400"/>
              </a:lnSpc>
              <a:buNone/>
            </a:pPr>
            <a:r>
              <a:rPr lang="en-US" sz="1100" dirty="0">
                <a:solidFill>
                  <a:srgbClr val="B6CBCC"/>
                </a:solidFill>
                <a:latin typeface="Calibri" pitchFamily="34" charset="0"/>
                <a:ea typeface="Calibri" pitchFamily="34" charset="-122"/>
                <a:cs typeface="Calibri" pitchFamily="34" charset="-120"/>
              </a:rPr>
              <a:t>Tính điểm, cập nhật level, sinh feedback</a:t>
            </a:r>
            <a:endParaRPr lang="en-US" sz="1100" dirty="0"/>
          </a:p>
        </p:txBody>
      </p:sp>
      <p:sp>
        <p:nvSpPr>
          <p:cNvPr id="35" name="Shape 24"/>
          <p:cNvSpPr/>
          <p:nvPr/>
        </p:nvSpPr>
        <p:spPr>
          <a:xfrm>
            <a:off x="640080" y="5257800"/>
            <a:ext cx="10881360" cy="777240"/>
          </a:xfrm>
          <a:prstGeom prst="roundRect">
            <a:avLst>
              <a:gd name="adj" fmla="val 11765"/>
            </a:avLst>
          </a:prstGeom>
          <a:solidFill>
            <a:srgbClr val="0D9488">
              <a:alpha val="20000"/>
            </a:srgbClr>
          </a:solidFill>
          <a:ln/>
        </p:spPr>
      </p:sp>
      <p:sp>
        <p:nvSpPr>
          <p:cNvPr id="36" name="Text 25"/>
          <p:cNvSpPr/>
          <p:nvPr/>
        </p:nvSpPr>
        <p:spPr>
          <a:xfrm>
            <a:off x="1005840" y="5257800"/>
            <a:ext cx="10149840" cy="777240"/>
          </a:xfrm>
          <a:prstGeom prst="rect">
            <a:avLst/>
          </a:prstGeom>
          <a:noFill/>
          <a:ln/>
        </p:spPr>
        <p:txBody>
          <a:bodyPr wrap="square" lIns="0" tIns="0" rIns="0" bIns="0" rtlCol="0" anchor="ctr"/>
          <a:lstStyle/>
          <a:p>
            <a:pPr indent="0" marL="0">
              <a:buNone/>
            </a:pPr>
            <a:r>
              <a:rPr lang="en-US" sz="1350" b="1" dirty="0">
                <a:solidFill>
                  <a:srgbClr val="5EEAD4"/>
                </a:solidFill>
                <a:latin typeface="Calibri" pitchFamily="34" charset="0"/>
                <a:ea typeface="Calibri" pitchFamily="34" charset="-122"/>
                <a:cs typeface="Calibri" pitchFamily="34" charset="-120"/>
              </a:rPr>
              <a:t>Vòng lặp:  </a:t>
            </a:r>
            <a:pPr indent="0" marL="0">
              <a:buNone/>
            </a:pPr>
            <a:r>
              <a:rPr lang="en-US" sz="1350" dirty="0">
                <a:solidFill>
                  <a:srgbClr val="E2E8F0"/>
                </a:solidFill>
                <a:latin typeface="Calibri" pitchFamily="34" charset="0"/>
                <a:ea typeface="Calibri" pitchFamily="34" charset="-122"/>
                <a:cs typeface="Calibri" pitchFamily="34" charset="-120"/>
              </a:rPr>
              <a:t>bước 2 → 3 → 4 lặp lại cho đến khi đủ số câu, rồi chuyển sang bước kết thúc.</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200" b="1" spc="300" kern="0" dirty="0">
                <a:solidFill>
                  <a:srgbClr val="0D9488"/>
                </a:solidFill>
                <a:latin typeface="Calibri" pitchFamily="34" charset="0"/>
                <a:ea typeface="Calibri" pitchFamily="34" charset="-122"/>
                <a:cs typeface="Calibri" pitchFamily="34" charset="-120"/>
              </a:rPr>
              <a:t>PHẢN HỒI</a:t>
            </a:r>
            <a:endParaRPr lang="en-US" sz="1200" dirty="0"/>
          </a:p>
        </p:txBody>
      </p:sp>
      <p:sp>
        <p:nvSpPr>
          <p:cNvPr id="3" name="Text 1"/>
          <p:cNvSpPr/>
          <p:nvPr/>
        </p:nvSpPr>
        <p:spPr>
          <a:xfrm>
            <a:off x="548640" y="822960"/>
            <a:ext cx="10698480" cy="822960"/>
          </a:xfrm>
          <a:prstGeom prst="rect">
            <a:avLst/>
          </a:prstGeom>
          <a:noFill/>
          <a:ln/>
        </p:spPr>
        <p:txBody>
          <a:bodyPr wrap="square" lIns="0" tIns="0" rIns="0" bIns="0" rtlCol="0" anchor="ctr"/>
          <a:lstStyle/>
          <a:p>
            <a:pPr algn="l" indent="0" marL="0">
              <a:buNone/>
            </a:pPr>
            <a:r>
              <a:rPr lang="en-US" sz="3100" b="1" dirty="0">
                <a:solidFill>
                  <a:srgbClr val="1E293B"/>
                </a:solidFill>
                <a:latin typeface="Georgia" pitchFamily="34" charset="0"/>
                <a:ea typeface="Georgia" pitchFamily="34" charset="-122"/>
                <a:cs typeface="Georgia" pitchFamily="34" charset="-120"/>
              </a:rPr>
              <a:t>Hệ thống sinh phản hồi</a:t>
            </a:r>
            <a:endParaRPr lang="en-US" sz="31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Hệ thống học tập trực tuyến với AI</a:t>
            </a:r>
            <a:endParaRPr lang="en-US" sz="900" dirty="0"/>
          </a:p>
        </p:txBody>
      </p:sp>
      <p:sp>
        <p:nvSpPr>
          <p:cNvPr id="5" name="Text 3"/>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21</a:t>
            </a:r>
            <a:endParaRPr lang="en-US" sz="900" dirty="0"/>
          </a:p>
        </p:txBody>
      </p:sp>
      <p:sp>
        <p:nvSpPr>
          <p:cNvPr id="6" name="Shape 4"/>
          <p:cNvSpPr/>
          <p:nvPr/>
        </p:nvSpPr>
        <p:spPr>
          <a:xfrm>
            <a:off x="731520" y="2377440"/>
            <a:ext cx="2926080" cy="1280160"/>
          </a:xfrm>
          <a:prstGeom prst="roundRect">
            <a:avLst>
              <a:gd name="adj" fmla="val 8571"/>
            </a:avLst>
          </a:prstGeom>
          <a:solidFill>
            <a:srgbClr val="E8F3F2"/>
          </a:solidFill>
          <a:ln/>
          <a:effectLst>
            <a:outerShdw sx="100000" sy="100000" kx="0" ky="0" algn="bl" rotWithShape="0" blurRad="101600" dist="38100" dir="8100000">
              <a:srgbClr val="0B2E33">
                <a:alpha val="12000"/>
              </a:srgbClr>
            </a:outerShdw>
          </a:effectLst>
        </p:spPr>
      </p:sp>
      <p:sp>
        <p:nvSpPr>
          <p:cNvPr id="7" name="Shape 5"/>
          <p:cNvSpPr/>
          <p:nvPr/>
        </p:nvSpPr>
        <p:spPr>
          <a:xfrm>
            <a:off x="1005840" y="2651760"/>
            <a:ext cx="640080" cy="64008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8" name="Image 0" descr="preencoded.png">    </p:cNvPr>
          <p:cNvPicPr>
            <a:picLocks noChangeAspect="1"/>
          </p:cNvPicPr>
          <p:nvPr/>
        </p:nvPicPr>
        <p:blipFill>
          <a:blip r:embed="rId1"/>
          <a:stretch>
            <a:fillRect/>
          </a:stretch>
        </p:blipFill>
        <p:spPr>
          <a:xfrm>
            <a:off x="1165860" y="2811780"/>
            <a:ext cx="320040" cy="320040"/>
          </a:xfrm>
          <a:prstGeom prst="rect">
            <a:avLst/>
          </a:prstGeom>
        </p:spPr>
      </p:pic>
      <p:sp>
        <p:nvSpPr>
          <p:cNvPr id="9" name="Text 6"/>
          <p:cNvSpPr/>
          <p:nvPr/>
        </p:nvSpPr>
        <p:spPr>
          <a:xfrm>
            <a:off x="1783080" y="2606040"/>
            <a:ext cx="1783080" cy="457200"/>
          </a:xfrm>
          <a:prstGeom prst="rect">
            <a:avLst/>
          </a:prstGeom>
          <a:noFill/>
          <a:ln/>
        </p:spPr>
        <p:txBody>
          <a:bodyPr wrap="square" lIns="0" tIns="0" rIns="0" bIns="0" rtlCol="0" anchor="ctr"/>
          <a:lstStyle/>
          <a:p>
            <a:pPr indent="0" marL="0">
              <a:buNone/>
            </a:pPr>
            <a:r>
              <a:rPr lang="en-US" sz="1400" b="1" dirty="0">
                <a:solidFill>
                  <a:srgbClr val="1E293B"/>
                </a:solidFill>
                <a:latin typeface="Georgia" pitchFamily="34" charset="0"/>
                <a:ea typeface="Georgia" pitchFamily="34" charset="-122"/>
                <a:cs typeface="Georgia" pitchFamily="34" charset="-120"/>
              </a:rPr>
              <a:t>Điểm tập trung</a:t>
            </a:r>
            <a:endParaRPr lang="en-US" sz="1400" dirty="0"/>
          </a:p>
        </p:txBody>
      </p:sp>
      <p:sp>
        <p:nvSpPr>
          <p:cNvPr id="10" name="Text 7"/>
          <p:cNvSpPr/>
          <p:nvPr/>
        </p:nvSpPr>
        <p:spPr>
          <a:xfrm>
            <a:off x="1783080" y="3063240"/>
            <a:ext cx="1783080" cy="36576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từ focus logs</a:t>
            </a:r>
            <a:endParaRPr lang="en-US" sz="1150" dirty="0"/>
          </a:p>
        </p:txBody>
      </p:sp>
      <p:sp>
        <p:nvSpPr>
          <p:cNvPr id="11" name="Shape 8"/>
          <p:cNvSpPr/>
          <p:nvPr/>
        </p:nvSpPr>
        <p:spPr>
          <a:xfrm>
            <a:off x="731520" y="3931920"/>
            <a:ext cx="2926080" cy="1280160"/>
          </a:xfrm>
          <a:prstGeom prst="roundRect">
            <a:avLst>
              <a:gd name="adj" fmla="val 8571"/>
            </a:avLst>
          </a:prstGeom>
          <a:solidFill>
            <a:srgbClr val="F1F5F9"/>
          </a:solidFill>
          <a:ln/>
          <a:effectLst>
            <a:outerShdw sx="100000" sy="100000" kx="0" ky="0" algn="bl" rotWithShape="0" blurRad="101600" dist="38100" dir="8100000">
              <a:srgbClr val="0B2E33">
                <a:alpha val="12000"/>
              </a:srgbClr>
            </a:outerShdw>
          </a:effectLst>
        </p:spPr>
      </p:sp>
      <p:sp>
        <p:nvSpPr>
          <p:cNvPr id="12" name="Shape 9"/>
          <p:cNvSpPr/>
          <p:nvPr/>
        </p:nvSpPr>
        <p:spPr>
          <a:xfrm>
            <a:off x="1005840" y="4206240"/>
            <a:ext cx="640080" cy="640080"/>
          </a:xfrm>
          <a:prstGeom prst="ellipse">
            <a:avLst/>
          </a:prstGeom>
          <a:solidFill>
            <a:srgbClr val="F4A259"/>
          </a:solidFill>
          <a:ln/>
          <a:effectLst>
            <a:outerShdw sx="100000" sy="100000" kx="0" ky="0" algn="bl" rotWithShape="0" blurRad="101600" dist="38100" dir="8100000">
              <a:srgbClr val="0B2E33">
                <a:alpha val="12000"/>
              </a:srgbClr>
            </a:outerShdw>
          </a:effectLst>
        </p:spPr>
      </p:sp>
      <p:pic>
        <p:nvPicPr>
          <p:cNvPr id="13" name="Image 1" descr="preencoded.png">    </p:cNvPr>
          <p:cNvPicPr>
            <a:picLocks noChangeAspect="1"/>
          </p:cNvPicPr>
          <p:nvPr/>
        </p:nvPicPr>
        <p:blipFill>
          <a:blip r:embed="rId2"/>
          <a:stretch>
            <a:fillRect/>
          </a:stretch>
        </p:blipFill>
        <p:spPr>
          <a:xfrm>
            <a:off x="1165860" y="4366260"/>
            <a:ext cx="320040" cy="320040"/>
          </a:xfrm>
          <a:prstGeom prst="rect">
            <a:avLst/>
          </a:prstGeom>
        </p:spPr>
      </p:pic>
      <p:sp>
        <p:nvSpPr>
          <p:cNvPr id="14" name="Text 10"/>
          <p:cNvSpPr/>
          <p:nvPr/>
        </p:nvSpPr>
        <p:spPr>
          <a:xfrm>
            <a:off x="1783080" y="4160520"/>
            <a:ext cx="1783080" cy="457200"/>
          </a:xfrm>
          <a:prstGeom prst="rect">
            <a:avLst/>
          </a:prstGeom>
          <a:noFill/>
          <a:ln/>
        </p:spPr>
        <p:txBody>
          <a:bodyPr wrap="square" lIns="0" tIns="0" rIns="0" bIns="0" rtlCol="0" anchor="ctr"/>
          <a:lstStyle/>
          <a:p>
            <a:pPr indent="0" marL="0">
              <a:buNone/>
            </a:pPr>
            <a:r>
              <a:rPr lang="en-US" sz="1400" b="1" dirty="0">
                <a:solidFill>
                  <a:srgbClr val="1E293B"/>
                </a:solidFill>
                <a:latin typeface="Georgia" pitchFamily="34" charset="0"/>
                <a:ea typeface="Georgia" pitchFamily="34" charset="-122"/>
                <a:cs typeface="Georgia" pitchFamily="34" charset="-120"/>
              </a:rPr>
              <a:t>Điểm quiz</a:t>
            </a:r>
            <a:endParaRPr lang="en-US" sz="1400" dirty="0"/>
          </a:p>
        </p:txBody>
      </p:sp>
      <p:sp>
        <p:nvSpPr>
          <p:cNvPr id="15" name="Text 11"/>
          <p:cNvSpPr/>
          <p:nvPr/>
        </p:nvSpPr>
        <p:spPr>
          <a:xfrm>
            <a:off x="1783080" y="4617720"/>
            <a:ext cx="1783080" cy="36576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từ quiz attempt</a:t>
            </a:r>
            <a:endParaRPr lang="en-US" sz="1150" dirty="0"/>
          </a:p>
        </p:txBody>
      </p:sp>
      <p:pic>
        <p:nvPicPr>
          <p:cNvPr id="16" name="Image 2" descr="preencoded.png">    </p:cNvPr>
          <p:cNvPicPr>
            <a:picLocks noChangeAspect="1"/>
          </p:cNvPicPr>
          <p:nvPr/>
        </p:nvPicPr>
        <p:blipFill>
          <a:blip r:embed="rId3"/>
          <a:stretch>
            <a:fillRect/>
          </a:stretch>
        </p:blipFill>
        <p:spPr>
          <a:xfrm>
            <a:off x="3886200" y="3611880"/>
            <a:ext cx="548640" cy="548640"/>
          </a:xfrm>
          <a:prstGeom prst="rect">
            <a:avLst/>
          </a:prstGeom>
        </p:spPr>
      </p:pic>
      <p:sp>
        <p:nvSpPr>
          <p:cNvPr id="17" name="Shape 12"/>
          <p:cNvSpPr/>
          <p:nvPr/>
        </p:nvSpPr>
        <p:spPr>
          <a:xfrm>
            <a:off x="4754880" y="2377440"/>
            <a:ext cx="2743200" cy="2834640"/>
          </a:xfrm>
          <a:prstGeom prst="roundRect">
            <a:avLst>
              <a:gd name="adj" fmla="val 4000"/>
            </a:avLst>
          </a:prstGeom>
          <a:solidFill>
            <a:srgbClr val="0B2E33"/>
          </a:solidFill>
          <a:ln/>
          <a:effectLst>
            <a:outerShdw sx="100000" sy="100000" kx="0" ky="0" algn="bl" rotWithShape="0" blurRad="101600" dist="38100" dir="8100000">
              <a:srgbClr val="0B2E33">
                <a:alpha val="12000"/>
              </a:srgbClr>
            </a:outerShdw>
          </a:effectLst>
        </p:spPr>
      </p:sp>
      <p:sp>
        <p:nvSpPr>
          <p:cNvPr id="18" name="Shape 13"/>
          <p:cNvSpPr/>
          <p:nvPr/>
        </p:nvSpPr>
        <p:spPr>
          <a:xfrm>
            <a:off x="5669280" y="2697480"/>
            <a:ext cx="822960" cy="82296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19" name="Image 3" descr="preencoded.png">    </p:cNvPr>
          <p:cNvPicPr>
            <a:picLocks noChangeAspect="1"/>
          </p:cNvPicPr>
          <p:nvPr/>
        </p:nvPicPr>
        <p:blipFill>
          <a:blip r:embed="rId4"/>
          <a:stretch>
            <a:fillRect/>
          </a:stretch>
        </p:blipFill>
        <p:spPr>
          <a:xfrm>
            <a:off x="5875020" y="2903220"/>
            <a:ext cx="411480" cy="411480"/>
          </a:xfrm>
          <a:prstGeom prst="rect">
            <a:avLst/>
          </a:prstGeom>
        </p:spPr>
      </p:pic>
      <p:sp>
        <p:nvSpPr>
          <p:cNvPr id="20" name="Text 14"/>
          <p:cNvSpPr/>
          <p:nvPr/>
        </p:nvSpPr>
        <p:spPr>
          <a:xfrm>
            <a:off x="4754880" y="3657600"/>
            <a:ext cx="2743200" cy="822960"/>
          </a:xfrm>
          <a:prstGeom prst="rect">
            <a:avLst/>
          </a:prstGeom>
          <a:noFill/>
          <a:ln/>
        </p:spPr>
        <p:txBody>
          <a:bodyPr wrap="square" lIns="0" tIns="0" rIns="0" bIns="0" rtlCol="0" anchor="ctr"/>
          <a:lstStyle/>
          <a:p>
            <a:pPr algn="ctr" indent="0" marL="0">
              <a:lnSpc>
                <a:spcPts val="2100"/>
              </a:lnSpc>
              <a:buNone/>
            </a:pPr>
            <a:r>
              <a:rPr lang="en-US" sz="1700" b="1" dirty="0">
                <a:solidFill>
                  <a:srgbClr val="FFFFFF"/>
                </a:solidFill>
                <a:latin typeface="Georgia" pitchFamily="34" charset="0"/>
                <a:ea typeface="Georgia" pitchFamily="34" charset="-122"/>
                <a:cs typeface="Georgia" pitchFamily="34" charset="-120"/>
              </a:rPr>
              <a:t>Feedback</a:t>
            </a:r>
            <a:endParaRPr lang="en-US" sz="1700" dirty="0"/>
          </a:p>
          <a:p>
            <a:pPr algn="ctr" indent="0" marL="0">
              <a:lnSpc>
                <a:spcPts val="2100"/>
              </a:lnSpc>
              <a:buNone/>
            </a:pPr>
            <a:r>
              <a:rPr lang="en-US" sz="1700" b="1" dirty="0">
                <a:solidFill>
                  <a:srgbClr val="FFFFFF"/>
                </a:solidFill>
                <a:latin typeface="Georgia" pitchFamily="34" charset="0"/>
                <a:ea typeface="Georgia" pitchFamily="34" charset="-122"/>
                <a:cs typeface="Georgia" pitchFamily="34" charset="-120"/>
              </a:rPr>
              <a:t>cá nhân hóa</a:t>
            </a:r>
            <a:endParaRPr lang="en-US" sz="1700" dirty="0"/>
          </a:p>
        </p:txBody>
      </p:sp>
      <p:sp>
        <p:nvSpPr>
          <p:cNvPr id="21" name="Text 15"/>
          <p:cNvSpPr/>
          <p:nvPr/>
        </p:nvSpPr>
        <p:spPr>
          <a:xfrm>
            <a:off x="4754880" y="4526280"/>
            <a:ext cx="2743200" cy="457200"/>
          </a:xfrm>
          <a:prstGeom prst="rect">
            <a:avLst/>
          </a:prstGeom>
          <a:noFill/>
          <a:ln/>
        </p:spPr>
        <p:txBody>
          <a:bodyPr wrap="square" lIns="0" tIns="0" rIns="0" bIns="0" rtlCol="0" anchor="ctr"/>
          <a:lstStyle/>
          <a:p>
            <a:pPr algn="ctr" indent="0" marL="0">
              <a:buNone/>
            </a:pPr>
            <a:r>
              <a:rPr lang="en-US" sz="1150" dirty="0">
                <a:solidFill>
                  <a:srgbClr val="5EEAD4"/>
                </a:solidFill>
                <a:latin typeface="Calibri" pitchFamily="34" charset="0"/>
                <a:ea typeface="Calibri" pitchFamily="34" charset="-122"/>
                <a:cs typeface="Calibri" pitchFamily="34" charset="-120"/>
              </a:rPr>
              <a:t>recommendation + message</a:t>
            </a:r>
            <a:endParaRPr lang="en-US" sz="1150" dirty="0"/>
          </a:p>
        </p:txBody>
      </p:sp>
      <p:sp>
        <p:nvSpPr>
          <p:cNvPr id="22" name="Shape 16"/>
          <p:cNvSpPr/>
          <p:nvPr/>
        </p:nvSpPr>
        <p:spPr>
          <a:xfrm>
            <a:off x="7863840" y="2377440"/>
            <a:ext cx="3749040" cy="2834640"/>
          </a:xfrm>
          <a:prstGeom prst="roundRect">
            <a:avLst>
              <a:gd name="adj" fmla="val 3871"/>
            </a:avLst>
          </a:prstGeom>
          <a:solidFill>
            <a:srgbClr val="F1F5F9"/>
          </a:solidFill>
          <a:ln/>
        </p:spPr>
      </p:sp>
      <p:sp>
        <p:nvSpPr>
          <p:cNvPr id="23" name="Text 17"/>
          <p:cNvSpPr/>
          <p:nvPr/>
        </p:nvSpPr>
        <p:spPr>
          <a:xfrm>
            <a:off x="8138160" y="2560320"/>
            <a:ext cx="3200400" cy="36576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Ví dụ gợi ý</a:t>
            </a:r>
            <a:endParaRPr lang="en-US" sz="1500" dirty="0"/>
          </a:p>
        </p:txBody>
      </p:sp>
      <p:sp>
        <p:nvSpPr>
          <p:cNvPr id="24" name="Text 18"/>
          <p:cNvSpPr/>
          <p:nvPr/>
        </p:nvSpPr>
        <p:spPr>
          <a:xfrm>
            <a:off x="8183880" y="3063240"/>
            <a:ext cx="3246120" cy="2011680"/>
          </a:xfrm>
          <a:prstGeom prst="rect">
            <a:avLst/>
          </a:prstGeom>
          <a:noFill/>
          <a:ln/>
        </p:spPr>
        <p:txBody>
          <a:bodyPr wrap="square" lIns="0" tIns="0" rIns="0" bIns="0" rtlCol="0" anchor="ctr"/>
          <a:lstStyle/>
          <a:p>
            <a:pPr marL="342900" indent="-342900">
              <a:lnSpc>
                <a:spcPts val="1600"/>
              </a:lnSpc>
              <a:spcAft>
                <a:spcPts val="1200"/>
              </a:spcAft>
              <a:buSzPct val="100000"/>
              <a:buChar char="•"/>
            </a:pPr>
            <a:r>
              <a:rPr lang="en-US" sz="1250" dirty="0">
                <a:solidFill>
                  <a:srgbClr val="1E293B"/>
                </a:solidFill>
                <a:latin typeface="Calibri" pitchFamily="34" charset="0"/>
                <a:ea typeface="Calibri" pitchFamily="34" charset="-122"/>
                <a:cs typeface="Calibri" pitchFamily="34" charset="-120"/>
              </a:rPr>
              <a:t>Quiz cao + tập trung tốt → học bài tiếp theo</a:t>
            </a:r>
            <a:endParaRPr lang="en-US" sz="1250" dirty="0"/>
          </a:p>
          <a:p>
            <a:pPr marL="342900" indent="-342900">
              <a:lnSpc>
                <a:spcPts val="1600"/>
              </a:lnSpc>
              <a:spcAft>
                <a:spcPts val="1200"/>
              </a:spcAft>
              <a:buSzPct val="100000"/>
              <a:buChar char="•"/>
            </a:pPr>
            <a:r>
              <a:rPr lang="en-US" sz="1250" dirty="0">
                <a:solidFill>
                  <a:srgbClr val="1E293B"/>
                </a:solidFill>
                <a:latin typeface="Calibri" pitchFamily="34" charset="0"/>
                <a:ea typeface="Calibri" pitchFamily="34" charset="-122"/>
                <a:cs typeface="Calibri" pitchFamily="34" charset="-120"/>
              </a:rPr>
              <a:t>Quiz thấp → ôn lại &amp; làm quiz mức dễ hơn</a:t>
            </a:r>
            <a:endParaRPr lang="en-US" sz="1250" dirty="0"/>
          </a:p>
          <a:p>
            <a:pPr marL="342900" indent="-342900">
              <a:lnSpc>
                <a:spcPts val="1600"/>
              </a:lnSpc>
              <a:spcAft>
                <a:spcPts val="1200"/>
              </a:spcAft>
              <a:buSzPct val="100000"/>
              <a:buChar char="•"/>
            </a:pPr>
            <a:r>
              <a:rPr lang="en-US" sz="1250" dirty="0">
                <a:solidFill>
                  <a:srgbClr val="1E293B"/>
                </a:solidFill>
                <a:latin typeface="Calibri" pitchFamily="34" charset="0"/>
                <a:ea typeface="Calibri" pitchFamily="34" charset="-122"/>
                <a:cs typeface="Calibri" pitchFamily="34" charset="-120"/>
              </a:rPr>
              <a:t>Tập trung kém → nhắc cải thiện môi trường học</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200" b="1" spc="300" kern="0" dirty="0">
                <a:solidFill>
                  <a:srgbClr val="0D9488"/>
                </a:solidFill>
                <a:latin typeface="Calibri" pitchFamily="34" charset="0"/>
                <a:ea typeface="Calibri" pitchFamily="34" charset="-122"/>
                <a:cs typeface="Calibri" pitchFamily="34" charset="-120"/>
              </a:rPr>
              <a:t>THỐNG KÊ</a:t>
            </a:r>
            <a:endParaRPr lang="en-US" sz="1200" dirty="0"/>
          </a:p>
        </p:txBody>
      </p:sp>
      <p:sp>
        <p:nvSpPr>
          <p:cNvPr id="3" name="Text 1"/>
          <p:cNvSpPr/>
          <p:nvPr/>
        </p:nvSpPr>
        <p:spPr>
          <a:xfrm>
            <a:off x="548640" y="822960"/>
            <a:ext cx="10698480" cy="822960"/>
          </a:xfrm>
          <a:prstGeom prst="rect">
            <a:avLst/>
          </a:prstGeom>
          <a:noFill/>
          <a:ln/>
        </p:spPr>
        <p:txBody>
          <a:bodyPr wrap="square" lIns="0" tIns="0" rIns="0" bIns="0" rtlCol="0" anchor="ctr"/>
          <a:lstStyle/>
          <a:p>
            <a:pPr algn="l" indent="0" marL="0">
              <a:buNone/>
            </a:pPr>
            <a:r>
              <a:rPr lang="en-US" sz="3100" b="1" dirty="0">
                <a:solidFill>
                  <a:srgbClr val="1E293B"/>
                </a:solidFill>
                <a:latin typeface="Georgia" pitchFamily="34" charset="0"/>
                <a:ea typeface="Georgia" pitchFamily="34" charset="-122"/>
                <a:cs typeface="Georgia" pitchFamily="34" charset="-120"/>
              </a:rPr>
              <a:t>Dashboard &amp; theo dõi học tập</a:t>
            </a:r>
            <a:endParaRPr lang="en-US" sz="31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Hệ thống học tập trực tuyến với AI</a:t>
            </a:r>
            <a:endParaRPr lang="en-US" sz="900" dirty="0"/>
          </a:p>
        </p:txBody>
      </p:sp>
      <p:sp>
        <p:nvSpPr>
          <p:cNvPr id="5" name="Text 3"/>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22</a:t>
            </a:r>
            <a:endParaRPr lang="en-US" sz="900" dirty="0"/>
          </a:p>
        </p:txBody>
      </p:sp>
      <p:sp>
        <p:nvSpPr>
          <p:cNvPr id="6" name="Text 4"/>
          <p:cNvSpPr/>
          <p:nvPr/>
        </p:nvSpPr>
        <p:spPr>
          <a:xfrm>
            <a:off x="548640" y="1828800"/>
            <a:ext cx="5486400" cy="36576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Phân bố trạng thái tập trung (ví dụ)</a:t>
            </a:r>
            <a:endParaRPr lang="en-US" sz="1500" dirty="0"/>
          </a:p>
        </p:txBody>
      </p:sp>
      <p:sp>
        <p:nvSpPr>
          <p:cNvPr id="7" name="Text 5"/>
          <p:cNvSpPr/>
          <p:nvPr/>
        </p:nvSpPr>
        <p:spPr>
          <a:xfrm>
            <a:off x="502920" y="2404872"/>
            <a:ext cx="1554480" cy="457200"/>
          </a:xfrm>
          <a:prstGeom prst="rect">
            <a:avLst/>
          </a:prstGeom>
          <a:noFill/>
          <a:ln/>
        </p:spPr>
        <p:txBody>
          <a:bodyPr wrap="square" lIns="0" tIns="0" rIns="0" bIns="0" rtlCol="0" anchor="ctr"/>
          <a:lstStyle/>
          <a:p>
            <a:pPr algn="r" indent="0" marL="0">
              <a:buNone/>
            </a:pPr>
            <a:r>
              <a:rPr lang="en-US" sz="1250" dirty="0">
                <a:solidFill>
                  <a:srgbClr val="1E293B"/>
                </a:solidFill>
                <a:latin typeface="Calibri" pitchFamily="34" charset="0"/>
                <a:ea typeface="Calibri" pitchFamily="34" charset="-122"/>
                <a:cs typeface="Calibri" pitchFamily="34" charset="-120"/>
              </a:rPr>
              <a:t>Tập trung</a:t>
            </a:r>
            <a:endParaRPr lang="en-US" sz="1250" dirty="0"/>
          </a:p>
        </p:txBody>
      </p:sp>
      <p:sp>
        <p:nvSpPr>
          <p:cNvPr id="8" name="Shape 6"/>
          <p:cNvSpPr/>
          <p:nvPr/>
        </p:nvSpPr>
        <p:spPr>
          <a:xfrm>
            <a:off x="2148840" y="2423160"/>
            <a:ext cx="3108960" cy="457200"/>
          </a:xfrm>
          <a:prstGeom prst="roundRect">
            <a:avLst>
              <a:gd name="adj" fmla="val 12000"/>
            </a:avLst>
          </a:prstGeom>
          <a:solidFill>
            <a:srgbClr val="F1F5F9"/>
          </a:solidFill>
          <a:ln/>
        </p:spPr>
      </p:sp>
      <p:sp>
        <p:nvSpPr>
          <p:cNvPr id="9" name="Shape 7"/>
          <p:cNvSpPr/>
          <p:nvPr/>
        </p:nvSpPr>
        <p:spPr>
          <a:xfrm>
            <a:off x="2148840" y="2423160"/>
            <a:ext cx="1927555" cy="457200"/>
          </a:xfrm>
          <a:prstGeom prst="roundRect">
            <a:avLst>
              <a:gd name="adj" fmla="val 12000"/>
            </a:avLst>
          </a:prstGeom>
          <a:solidFill>
            <a:srgbClr val="14B8A6"/>
          </a:solidFill>
          <a:ln/>
        </p:spPr>
      </p:sp>
      <p:sp>
        <p:nvSpPr>
          <p:cNvPr id="10" name="Text 8"/>
          <p:cNvSpPr/>
          <p:nvPr/>
        </p:nvSpPr>
        <p:spPr>
          <a:xfrm>
            <a:off x="5349240" y="2423160"/>
            <a:ext cx="640080" cy="457200"/>
          </a:xfrm>
          <a:prstGeom prst="rect">
            <a:avLst/>
          </a:prstGeom>
          <a:noFill/>
          <a:ln/>
        </p:spPr>
        <p:txBody>
          <a:bodyPr wrap="square" lIns="0" tIns="0" rIns="0" bIns="0" rtlCol="0" anchor="ctr"/>
          <a:lstStyle/>
          <a:p>
            <a:pPr indent="0" marL="0">
              <a:buNone/>
            </a:pPr>
            <a:r>
              <a:rPr lang="en-US" sz="1300" b="1" dirty="0">
                <a:solidFill>
                  <a:srgbClr val="14B8A6"/>
                </a:solidFill>
                <a:latin typeface="Georgia" pitchFamily="34" charset="0"/>
                <a:ea typeface="Georgia" pitchFamily="34" charset="-122"/>
                <a:cs typeface="Georgia" pitchFamily="34" charset="-120"/>
              </a:rPr>
              <a:t>62%</a:t>
            </a:r>
            <a:endParaRPr lang="en-US" sz="1300" dirty="0"/>
          </a:p>
        </p:txBody>
      </p:sp>
      <p:sp>
        <p:nvSpPr>
          <p:cNvPr id="11" name="Text 9"/>
          <p:cNvSpPr/>
          <p:nvPr/>
        </p:nvSpPr>
        <p:spPr>
          <a:xfrm>
            <a:off x="502920" y="3273552"/>
            <a:ext cx="1554480" cy="457200"/>
          </a:xfrm>
          <a:prstGeom prst="rect">
            <a:avLst/>
          </a:prstGeom>
          <a:noFill/>
          <a:ln/>
        </p:spPr>
        <p:txBody>
          <a:bodyPr wrap="square" lIns="0" tIns="0" rIns="0" bIns="0" rtlCol="0" anchor="ctr"/>
          <a:lstStyle/>
          <a:p>
            <a:pPr algn="r" indent="0" marL="0">
              <a:buNone/>
            </a:pPr>
            <a:r>
              <a:rPr lang="en-US" sz="1250" dirty="0">
                <a:solidFill>
                  <a:srgbClr val="1E293B"/>
                </a:solidFill>
                <a:latin typeface="Calibri" pitchFamily="34" charset="0"/>
                <a:ea typeface="Calibri" pitchFamily="34" charset="-122"/>
                <a:cs typeface="Calibri" pitchFamily="34" charset="-120"/>
              </a:rPr>
              <a:t>Mất tập trung</a:t>
            </a:r>
            <a:endParaRPr lang="en-US" sz="1250" dirty="0"/>
          </a:p>
        </p:txBody>
      </p:sp>
      <p:sp>
        <p:nvSpPr>
          <p:cNvPr id="12" name="Shape 10"/>
          <p:cNvSpPr/>
          <p:nvPr/>
        </p:nvSpPr>
        <p:spPr>
          <a:xfrm>
            <a:off x="2148840" y="3291840"/>
            <a:ext cx="3108960" cy="457200"/>
          </a:xfrm>
          <a:prstGeom prst="roundRect">
            <a:avLst>
              <a:gd name="adj" fmla="val 12000"/>
            </a:avLst>
          </a:prstGeom>
          <a:solidFill>
            <a:srgbClr val="F1F5F9"/>
          </a:solidFill>
          <a:ln/>
        </p:spPr>
      </p:sp>
      <p:sp>
        <p:nvSpPr>
          <p:cNvPr id="13" name="Shape 11"/>
          <p:cNvSpPr/>
          <p:nvPr/>
        </p:nvSpPr>
        <p:spPr>
          <a:xfrm>
            <a:off x="2148840" y="3291840"/>
            <a:ext cx="621792" cy="457200"/>
          </a:xfrm>
          <a:prstGeom prst="roundRect">
            <a:avLst>
              <a:gd name="adj" fmla="val 12000"/>
            </a:avLst>
          </a:prstGeom>
          <a:solidFill>
            <a:srgbClr val="F4A259"/>
          </a:solidFill>
          <a:ln/>
        </p:spPr>
      </p:sp>
      <p:sp>
        <p:nvSpPr>
          <p:cNvPr id="14" name="Text 12"/>
          <p:cNvSpPr/>
          <p:nvPr/>
        </p:nvSpPr>
        <p:spPr>
          <a:xfrm>
            <a:off x="5349240" y="3291840"/>
            <a:ext cx="640080" cy="457200"/>
          </a:xfrm>
          <a:prstGeom prst="rect">
            <a:avLst/>
          </a:prstGeom>
          <a:noFill/>
          <a:ln/>
        </p:spPr>
        <p:txBody>
          <a:bodyPr wrap="square" lIns="0" tIns="0" rIns="0" bIns="0" rtlCol="0" anchor="ctr"/>
          <a:lstStyle/>
          <a:p>
            <a:pPr indent="0" marL="0">
              <a:buNone/>
            </a:pPr>
            <a:r>
              <a:rPr lang="en-US" sz="1300" b="1" dirty="0">
                <a:solidFill>
                  <a:srgbClr val="F4A259"/>
                </a:solidFill>
                <a:latin typeface="Georgia" pitchFamily="34" charset="0"/>
                <a:ea typeface="Georgia" pitchFamily="34" charset="-122"/>
                <a:cs typeface="Georgia" pitchFamily="34" charset="-120"/>
              </a:rPr>
              <a:t>20%</a:t>
            </a:r>
            <a:endParaRPr lang="en-US" sz="1300" dirty="0"/>
          </a:p>
        </p:txBody>
      </p:sp>
      <p:sp>
        <p:nvSpPr>
          <p:cNvPr id="15" name="Text 13"/>
          <p:cNvSpPr/>
          <p:nvPr/>
        </p:nvSpPr>
        <p:spPr>
          <a:xfrm>
            <a:off x="502920" y="4142232"/>
            <a:ext cx="1554480" cy="457200"/>
          </a:xfrm>
          <a:prstGeom prst="rect">
            <a:avLst/>
          </a:prstGeom>
          <a:noFill/>
          <a:ln/>
        </p:spPr>
        <p:txBody>
          <a:bodyPr wrap="square" lIns="0" tIns="0" rIns="0" bIns="0" rtlCol="0" anchor="ctr"/>
          <a:lstStyle/>
          <a:p>
            <a:pPr algn="r" indent="0" marL="0">
              <a:buNone/>
            </a:pPr>
            <a:r>
              <a:rPr lang="en-US" sz="1250" dirty="0">
                <a:solidFill>
                  <a:srgbClr val="1E293B"/>
                </a:solidFill>
                <a:latin typeface="Calibri" pitchFamily="34" charset="0"/>
                <a:ea typeface="Calibri" pitchFamily="34" charset="-122"/>
                <a:cs typeface="Calibri" pitchFamily="34" charset="-120"/>
              </a:rPr>
              <a:t>Buồn ngủ</a:t>
            </a:r>
            <a:endParaRPr lang="en-US" sz="1250" dirty="0"/>
          </a:p>
        </p:txBody>
      </p:sp>
      <p:sp>
        <p:nvSpPr>
          <p:cNvPr id="16" name="Shape 14"/>
          <p:cNvSpPr/>
          <p:nvPr/>
        </p:nvSpPr>
        <p:spPr>
          <a:xfrm>
            <a:off x="2148840" y="4160520"/>
            <a:ext cx="3108960" cy="457200"/>
          </a:xfrm>
          <a:prstGeom prst="roundRect">
            <a:avLst>
              <a:gd name="adj" fmla="val 12000"/>
            </a:avLst>
          </a:prstGeom>
          <a:solidFill>
            <a:srgbClr val="F1F5F9"/>
          </a:solidFill>
          <a:ln/>
        </p:spPr>
      </p:sp>
      <p:sp>
        <p:nvSpPr>
          <p:cNvPr id="17" name="Shape 15"/>
          <p:cNvSpPr/>
          <p:nvPr/>
        </p:nvSpPr>
        <p:spPr>
          <a:xfrm>
            <a:off x="2148840" y="4160520"/>
            <a:ext cx="310896" cy="457200"/>
          </a:xfrm>
          <a:prstGeom prst="roundRect">
            <a:avLst>
              <a:gd name="adj" fmla="val 17647"/>
            </a:avLst>
          </a:prstGeom>
          <a:solidFill>
            <a:srgbClr val="F97362"/>
          </a:solidFill>
          <a:ln/>
        </p:spPr>
      </p:sp>
      <p:sp>
        <p:nvSpPr>
          <p:cNvPr id="18" name="Text 16"/>
          <p:cNvSpPr/>
          <p:nvPr/>
        </p:nvSpPr>
        <p:spPr>
          <a:xfrm>
            <a:off x="5349240" y="4160520"/>
            <a:ext cx="640080" cy="457200"/>
          </a:xfrm>
          <a:prstGeom prst="rect">
            <a:avLst/>
          </a:prstGeom>
          <a:noFill/>
          <a:ln/>
        </p:spPr>
        <p:txBody>
          <a:bodyPr wrap="square" lIns="0" tIns="0" rIns="0" bIns="0" rtlCol="0" anchor="ctr"/>
          <a:lstStyle/>
          <a:p>
            <a:pPr indent="0" marL="0">
              <a:buNone/>
            </a:pPr>
            <a:r>
              <a:rPr lang="en-US" sz="1300" b="1" dirty="0">
                <a:solidFill>
                  <a:srgbClr val="F97362"/>
                </a:solidFill>
                <a:latin typeface="Georgia" pitchFamily="34" charset="0"/>
                <a:ea typeface="Georgia" pitchFamily="34" charset="-122"/>
                <a:cs typeface="Georgia" pitchFamily="34" charset="-120"/>
              </a:rPr>
              <a:t>10%</a:t>
            </a:r>
            <a:endParaRPr lang="en-US" sz="1300" dirty="0"/>
          </a:p>
        </p:txBody>
      </p:sp>
      <p:sp>
        <p:nvSpPr>
          <p:cNvPr id="19" name="Text 17"/>
          <p:cNvSpPr/>
          <p:nvPr/>
        </p:nvSpPr>
        <p:spPr>
          <a:xfrm>
            <a:off x="502920" y="5010912"/>
            <a:ext cx="1554480" cy="457200"/>
          </a:xfrm>
          <a:prstGeom prst="rect">
            <a:avLst/>
          </a:prstGeom>
          <a:noFill/>
          <a:ln/>
        </p:spPr>
        <p:txBody>
          <a:bodyPr wrap="square" lIns="0" tIns="0" rIns="0" bIns="0" rtlCol="0" anchor="ctr"/>
          <a:lstStyle/>
          <a:p>
            <a:pPr algn="r" indent="0" marL="0">
              <a:buNone/>
            </a:pPr>
            <a:r>
              <a:rPr lang="en-US" sz="1250" dirty="0">
                <a:solidFill>
                  <a:srgbClr val="1E293B"/>
                </a:solidFill>
                <a:latin typeface="Calibri" pitchFamily="34" charset="0"/>
                <a:ea typeface="Calibri" pitchFamily="34" charset="-122"/>
                <a:cs typeface="Calibri" pitchFamily="34" charset="-120"/>
              </a:rPr>
              <a:t>Không có mặt</a:t>
            </a:r>
            <a:endParaRPr lang="en-US" sz="1250" dirty="0"/>
          </a:p>
        </p:txBody>
      </p:sp>
      <p:sp>
        <p:nvSpPr>
          <p:cNvPr id="20" name="Shape 18"/>
          <p:cNvSpPr/>
          <p:nvPr/>
        </p:nvSpPr>
        <p:spPr>
          <a:xfrm>
            <a:off x="2148840" y="5029200"/>
            <a:ext cx="3108960" cy="457200"/>
          </a:xfrm>
          <a:prstGeom prst="roundRect">
            <a:avLst>
              <a:gd name="adj" fmla="val 12000"/>
            </a:avLst>
          </a:prstGeom>
          <a:solidFill>
            <a:srgbClr val="F1F5F9"/>
          </a:solidFill>
          <a:ln/>
        </p:spPr>
      </p:sp>
      <p:sp>
        <p:nvSpPr>
          <p:cNvPr id="21" name="Shape 19"/>
          <p:cNvSpPr/>
          <p:nvPr/>
        </p:nvSpPr>
        <p:spPr>
          <a:xfrm>
            <a:off x="2148840" y="5029200"/>
            <a:ext cx="248717" cy="457200"/>
          </a:xfrm>
          <a:prstGeom prst="roundRect">
            <a:avLst>
              <a:gd name="adj" fmla="val 22059"/>
            </a:avLst>
          </a:prstGeom>
          <a:solidFill>
            <a:srgbClr val="94A3B8"/>
          </a:solidFill>
          <a:ln/>
        </p:spPr>
      </p:sp>
      <p:sp>
        <p:nvSpPr>
          <p:cNvPr id="22" name="Text 20"/>
          <p:cNvSpPr/>
          <p:nvPr/>
        </p:nvSpPr>
        <p:spPr>
          <a:xfrm>
            <a:off x="5349240" y="5029200"/>
            <a:ext cx="640080" cy="457200"/>
          </a:xfrm>
          <a:prstGeom prst="rect">
            <a:avLst/>
          </a:prstGeom>
          <a:noFill/>
          <a:ln/>
        </p:spPr>
        <p:txBody>
          <a:bodyPr wrap="square" lIns="0" tIns="0" rIns="0" bIns="0" rtlCol="0" anchor="ctr"/>
          <a:lstStyle/>
          <a:p>
            <a:pPr indent="0" marL="0">
              <a:buNone/>
            </a:pPr>
            <a:r>
              <a:rPr lang="en-US" sz="1300" b="1" dirty="0">
                <a:solidFill>
                  <a:srgbClr val="94A3B8"/>
                </a:solidFill>
                <a:latin typeface="Georgia" pitchFamily="34" charset="0"/>
                <a:ea typeface="Georgia" pitchFamily="34" charset="-122"/>
                <a:cs typeface="Georgia" pitchFamily="34" charset="-120"/>
              </a:rPr>
              <a:t>8%</a:t>
            </a:r>
            <a:endParaRPr lang="en-US" sz="1300" dirty="0"/>
          </a:p>
        </p:txBody>
      </p:sp>
      <p:sp>
        <p:nvSpPr>
          <p:cNvPr id="23" name="Shape 21"/>
          <p:cNvSpPr/>
          <p:nvPr/>
        </p:nvSpPr>
        <p:spPr>
          <a:xfrm>
            <a:off x="6035040" y="2194560"/>
            <a:ext cx="2651760" cy="1691640"/>
          </a:xfrm>
          <a:prstGeom prst="roundRect">
            <a:avLst>
              <a:gd name="adj" fmla="val 6486"/>
            </a:avLst>
          </a:prstGeom>
          <a:solidFill>
            <a:srgbClr val="E8F3F2"/>
          </a:solidFill>
          <a:ln/>
          <a:effectLst>
            <a:outerShdw sx="100000" sy="100000" kx="0" ky="0" algn="bl" rotWithShape="0" blurRad="101600" dist="38100" dir="8100000">
              <a:srgbClr val="0B2E33">
                <a:alpha val="12000"/>
              </a:srgbClr>
            </a:outerShdw>
          </a:effectLst>
        </p:spPr>
      </p:sp>
      <p:sp>
        <p:nvSpPr>
          <p:cNvPr id="24" name="Shape 22"/>
          <p:cNvSpPr/>
          <p:nvPr/>
        </p:nvSpPr>
        <p:spPr>
          <a:xfrm>
            <a:off x="6309360" y="2468880"/>
            <a:ext cx="566928" cy="566928"/>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25" name="Image 0" descr="preencoded.png">    </p:cNvPr>
          <p:cNvPicPr>
            <a:picLocks noChangeAspect="1"/>
          </p:cNvPicPr>
          <p:nvPr/>
        </p:nvPicPr>
        <p:blipFill>
          <a:blip r:embed="rId1"/>
          <a:stretch>
            <a:fillRect/>
          </a:stretch>
        </p:blipFill>
        <p:spPr>
          <a:xfrm>
            <a:off x="6451092" y="2610612"/>
            <a:ext cx="283464" cy="283464"/>
          </a:xfrm>
          <a:prstGeom prst="rect">
            <a:avLst/>
          </a:prstGeom>
        </p:spPr>
      </p:pic>
      <p:sp>
        <p:nvSpPr>
          <p:cNvPr id="26" name="Text 23"/>
          <p:cNvSpPr/>
          <p:nvPr/>
        </p:nvSpPr>
        <p:spPr>
          <a:xfrm>
            <a:off x="6309360" y="3108960"/>
            <a:ext cx="2194560" cy="365760"/>
          </a:xfrm>
          <a:prstGeom prst="rect">
            <a:avLst/>
          </a:prstGeom>
          <a:noFill/>
          <a:ln/>
        </p:spPr>
        <p:txBody>
          <a:bodyPr wrap="square" lIns="0" tIns="0" rIns="0" bIns="0" rtlCol="0" anchor="ctr"/>
          <a:lstStyle/>
          <a:p>
            <a:pPr indent="0" marL="0">
              <a:buNone/>
            </a:pPr>
            <a:r>
              <a:rPr lang="en-US" sz="1450" b="1" dirty="0">
                <a:solidFill>
                  <a:srgbClr val="1E293B"/>
                </a:solidFill>
                <a:latin typeface="Georgia" pitchFamily="34" charset="0"/>
                <a:ea typeface="Georgia" pitchFamily="34" charset="-122"/>
                <a:cs typeface="Georgia" pitchFamily="34" charset="-120"/>
              </a:rPr>
              <a:t>Học viên</a:t>
            </a:r>
            <a:endParaRPr lang="en-US" sz="1450" dirty="0"/>
          </a:p>
        </p:txBody>
      </p:sp>
      <p:sp>
        <p:nvSpPr>
          <p:cNvPr id="27" name="Text 24"/>
          <p:cNvSpPr/>
          <p:nvPr/>
        </p:nvSpPr>
        <p:spPr>
          <a:xfrm>
            <a:off x="6309360" y="3456432"/>
            <a:ext cx="2194560" cy="365760"/>
          </a:xfrm>
          <a:prstGeom prst="rect">
            <a:avLst/>
          </a:prstGeom>
          <a:noFill/>
          <a:ln/>
        </p:spPr>
        <p:txBody>
          <a:bodyPr wrap="square" lIns="0" tIns="0" rIns="0" bIns="0" rtlCol="0" anchor="ctr"/>
          <a:lstStyle/>
          <a:p>
            <a:pPr indent="0" marL="0">
              <a:lnSpc>
                <a:spcPts val="1300"/>
              </a:lnSpc>
              <a:buNone/>
            </a:pPr>
            <a:r>
              <a:rPr lang="en-US" sz="1050" dirty="0">
                <a:solidFill>
                  <a:srgbClr val="64748B"/>
                </a:solidFill>
                <a:latin typeface="Calibri" pitchFamily="34" charset="0"/>
                <a:ea typeface="Calibri" pitchFamily="34" charset="-122"/>
                <a:cs typeface="Calibri" pitchFamily="34" charset="-120"/>
              </a:rPr>
              <a:t>Số người dùng &amp; học viên hoạt động</a:t>
            </a:r>
            <a:endParaRPr lang="en-US" sz="1050" dirty="0"/>
          </a:p>
        </p:txBody>
      </p:sp>
      <p:sp>
        <p:nvSpPr>
          <p:cNvPr id="28" name="Shape 25"/>
          <p:cNvSpPr/>
          <p:nvPr/>
        </p:nvSpPr>
        <p:spPr>
          <a:xfrm>
            <a:off x="8869680" y="2194560"/>
            <a:ext cx="2651760" cy="1691640"/>
          </a:xfrm>
          <a:prstGeom prst="roundRect">
            <a:avLst>
              <a:gd name="adj" fmla="val 6486"/>
            </a:avLst>
          </a:prstGeom>
          <a:solidFill>
            <a:srgbClr val="F1F5F9"/>
          </a:solidFill>
          <a:ln/>
          <a:effectLst>
            <a:outerShdw sx="100000" sy="100000" kx="0" ky="0" algn="bl" rotWithShape="0" blurRad="101600" dist="38100" dir="8100000">
              <a:srgbClr val="0B2E33">
                <a:alpha val="12000"/>
              </a:srgbClr>
            </a:outerShdw>
          </a:effectLst>
        </p:spPr>
      </p:sp>
      <p:sp>
        <p:nvSpPr>
          <p:cNvPr id="29" name="Shape 26"/>
          <p:cNvSpPr/>
          <p:nvPr/>
        </p:nvSpPr>
        <p:spPr>
          <a:xfrm>
            <a:off x="9144000" y="2468880"/>
            <a:ext cx="566928" cy="566928"/>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30" name="Image 1" descr="preencoded.png">    </p:cNvPr>
          <p:cNvPicPr>
            <a:picLocks noChangeAspect="1"/>
          </p:cNvPicPr>
          <p:nvPr/>
        </p:nvPicPr>
        <p:blipFill>
          <a:blip r:embed="rId2"/>
          <a:stretch>
            <a:fillRect/>
          </a:stretch>
        </p:blipFill>
        <p:spPr>
          <a:xfrm>
            <a:off x="9285732" y="2610612"/>
            <a:ext cx="283464" cy="283464"/>
          </a:xfrm>
          <a:prstGeom prst="rect">
            <a:avLst/>
          </a:prstGeom>
        </p:spPr>
      </p:pic>
      <p:sp>
        <p:nvSpPr>
          <p:cNvPr id="31" name="Text 27"/>
          <p:cNvSpPr/>
          <p:nvPr/>
        </p:nvSpPr>
        <p:spPr>
          <a:xfrm>
            <a:off x="9144000" y="3108960"/>
            <a:ext cx="2194560" cy="365760"/>
          </a:xfrm>
          <a:prstGeom prst="rect">
            <a:avLst/>
          </a:prstGeom>
          <a:noFill/>
          <a:ln/>
        </p:spPr>
        <p:txBody>
          <a:bodyPr wrap="square" lIns="0" tIns="0" rIns="0" bIns="0" rtlCol="0" anchor="ctr"/>
          <a:lstStyle/>
          <a:p>
            <a:pPr indent="0" marL="0">
              <a:buNone/>
            </a:pPr>
            <a:r>
              <a:rPr lang="en-US" sz="1450" b="1" dirty="0">
                <a:solidFill>
                  <a:srgbClr val="1E293B"/>
                </a:solidFill>
                <a:latin typeface="Georgia" pitchFamily="34" charset="0"/>
                <a:ea typeface="Georgia" pitchFamily="34" charset="-122"/>
                <a:cs typeface="Georgia" pitchFamily="34" charset="-120"/>
              </a:rPr>
              <a:t>Điểm quiz TB</a:t>
            </a:r>
            <a:endParaRPr lang="en-US" sz="1450" dirty="0"/>
          </a:p>
        </p:txBody>
      </p:sp>
      <p:sp>
        <p:nvSpPr>
          <p:cNvPr id="32" name="Text 28"/>
          <p:cNvSpPr/>
          <p:nvPr/>
        </p:nvSpPr>
        <p:spPr>
          <a:xfrm>
            <a:off x="9144000" y="3456432"/>
            <a:ext cx="2194560" cy="365760"/>
          </a:xfrm>
          <a:prstGeom prst="rect">
            <a:avLst/>
          </a:prstGeom>
          <a:noFill/>
          <a:ln/>
        </p:spPr>
        <p:txBody>
          <a:bodyPr wrap="square" lIns="0" tIns="0" rIns="0" bIns="0" rtlCol="0" anchor="ctr"/>
          <a:lstStyle/>
          <a:p>
            <a:pPr indent="0" marL="0">
              <a:lnSpc>
                <a:spcPts val="1300"/>
              </a:lnSpc>
              <a:buNone/>
            </a:pPr>
            <a:r>
              <a:rPr lang="en-US" sz="1050" dirty="0">
                <a:solidFill>
                  <a:srgbClr val="64748B"/>
                </a:solidFill>
                <a:latin typeface="Calibri" pitchFamily="34" charset="0"/>
                <a:ea typeface="Calibri" pitchFamily="34" charset="-122"/>
                <a:cs typeface="Calibri" pitchFamily="34" charset="-120"/>
              </a:rPr>
              <a:t>Trung bình điểm các lượt làm bài</a:t>
            </a:r>
            <a:endParaRPr lang="en-US" sz="1050" dirty="0"/>
          </a:p>
        </p:txBody>
      </p:sp>
      <p:sp>
        <p:nvSpPr>
          <p:cNvPr id="33" name="Shape 29"/>
          <p:cNvSpPr/>
          <p:nvPr/>
        </p:nvSpPr>
        <p:spPr>
          <a:xfrm>
            <a:off x="6035040" y="4069080"/>
            <a:ext cx="2651760" cy="1691640"/>
          </a:xfrm>
          <a:prstGeom prst="roundRect">
            <a:avLst>
              <a:gd name="adj" fmla="val 6486"/>
            </a:avLst>
          </a:prstGeom>
          <a:solidFill>
            <a:srgbClr val="E8F3F2"/>
          </a:solidFill>
          <a:ln/>
          <a:effectLst>
            <a:outerShdw sx="100000" sy="100000" kx="0" ky="0" algn="bl" rotWithShape="0" blurRad="101600" dist="38100" dir="8100000">
              <a:srgbClr val="0B2E33">
                <a:alpha val="12000"/>
              </a:srgbClr>
            </a:outerShdw>
          </a:effectLst>
        </p:spPr>
      </p:sp>
      <p:sp>
        <p:nvSpPr>
          <p:cNvPr id="34" name="Shape 30"/>
          <p:cNvSpPr/>
          <p:nvPr/>
        </p:nvSpPr>
        <p:spPr>
          <a:xfrm>
            <a:off x="6309360" y="4343400"/>
            <a:ext cx="566928" cy="566928"/>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35" name="Image 2" descr="preencoded.png">    </p:cNvPr>
          <p:cNvPicPr>
            <a:picLocks noChangeAspect="1"/>
          </p:cNvPicPr>
          <p:nvPr/>
        </p:nvPicPr>
        <p:blipFill>
          <a:blip r:embed="rId3"/>
          <a:stretch>
            <a:fillRect/>
          </a:stretch>
        </p:blipFill>
        <p:spPr>
          <a:xfrm>
            <a:off x="6451092" y="4485132"/>
            <a:ext cx="283464" cy="283464"/>
          </a:xfrm>
          <a:prstGeom prst="rect">
            <a:avLst/>
          </a:prstGeom>
        </p:spPr>
      </p:pic>
      <p:sp>
        <p:nvSpPr>
          <p:cNvPr id="36" name="Text 31"/>
          <p:cNvSpPr/>
          <p:nvPr/>
        </p:nvSpPr>
        <p:spPr>
          <a:xfrm>
            <a:off x="6309360" y="4983480"/>
            <a:ext cx="2194560" cy="365760"/>
          </a:xfrm>
          <a:prstGeom prst="rect">
            <a:avLst/>
          </a:prstGeom>
          <a:noFill/>
          <a:ln/>
        </p:spPr>
        <p:txBody>
          <a:bodyPr wrap="square" lIns="0" tIns="0" rIns="0" bIns="0" rtlCol="0" anchor="ctr"/>
          <a:lstStyle/>
          <a:p>
            <a:pPr indent="0" marL="0">
              <a:buNone/>
            </a:pPr>
            <a:r>
              <a:rPr lang="en-US" sz="1450" b="1" dirty="0">
                <a:solidFill>
                  <a:srgbClr val="1E293B"/>
                </a:solidFill>
                <a:latin typeface="Georgia" pitchFamily="34" charset="0"/>
                <a:ea typeface="Georgia" pitchFamily="34" charset="-122"/>
                <a:cs typeface="Georgia" pitchFamily="34" charset="-120"/>
              </a:rPr>
              <a:t>Focus score TB</a:t>
            </a:r>
            <a:endParaRPr lang="en-US" sz="1450" dirty="0"/>
          </a:p>
        </p:txBody>
      </p:sp>
      <p:sp>
        <p:nvSpPr>
          <p:cNvPr id="37" name="Text 32"/>
          <p:cNvSpPr/>
          <p:nvPr/>
        </p:nvSpPr>
        <p:spPr>
          <a:xfrm>
            <a:off x="6309360" y="5330952"/>
            <a:ext cx="2194560" cy="365760"/>
          </a:xfrm>
          <a:prstGeom prst="rect">
            <a:avLst/>
          </a:prstGeom>
          <a:noFill/>
          <a:ln/>
        </p:spPr>
        <p:txBody>
          <a:bodyPr wrap="square" lIns="0" tIns="0" rIns="0" bIns="0" rtlCol="0" anchor="ctr"/>
          <a:lstStyle/>
          <a:p>
            <a:pPr indent="0" marL="0">
              <a:lnSpc>
                <a:spcPts val="1300"/>
              </a:lnSpc>
              <a:buNone/>
            </a:pPr>
            <a:r>
              <a:rPr lang="en-US" sz="1050" dirty="0">
                <a:solidFill>
                  <a:srgbClr val="64748B"/>
                </a:solidFill>
                <a:latin typeface="Calibri" pitchFamily="34" charset="0"/>
                <a:ea typeface="Calibri" pitchFamily="34" charset="-122"/>
                <a:cs typeface="Calibri" pitchFamily="34" charset="-120"/>
              </a:rPr>
              <a:t>Mức độ tập trung trung bình</a:t>
            </a:r>
            <a:endParaRPr lang="en-US" sz="1050" dirty="0"/>
          </a:p>
        </p:txBody>
      </p:sp>
      <p:sp>
        <p:nvSpPr>
          <p:cNvPr id="38" name="Shape 33"/>
          <p:cNvSpPr/>
          <p:nvPr/>
        </p:nvSpPr>
        <p:spPr>
          <a:xfrm>
            <a:off x="8869680" y="4069080"/>
            <a:ext cx="2651760" cy="1691640"/>
          </a:xfrm>
          <a:prstGeom prst="roundRect">
            <a:avLst>
              <a:gd name="adj" fmla="val 6486"/>
            </a:avLst>
          </a:prstGeom>
          <a:solidFill>
            <a:srgbClr val="F1F5F9"/>
          </a:solidFill>
          <a:ln/>
          <a:effectLst>
            <a:outerShdw sx="100000" sy="100000" kx="0" ky="0" algn="bl" rotWithShape="0" blurRad="101600" dist="38100" dir="8100000">
              <a:srgbClr val="0B2E33">
                <a:alpha val="12000"/>
              </a:srgbClr>
            </a:outerShdw>
          </a:effectLst>
        </p:spPr>
      </p:sp>
      <p:sp>
        <p:nvSpPr>
          <p:cNvPr id="39" name="Shape 34"/>
          <p:cNvSpPr/>
          <p:nvPr/>
        </p:nvSpPr>
        <p:spPr>
          <a:xfrm>
            <a:off x="9144000" y="4343400"/>
            <a:ext cx="566928" cy="566928"/>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40" name="Image 3" descr="preencoded.png">    </p:cNvPr>
          <p:cNvPicPr>
            <a:picLocks noChangeAspect="1"/>
          </p:cNvPicPr>
          <p:nvPr/>
        </p:nvPicPr>
        <p:blipFill>
          <a:blip r:embed="rId4"/>
          <a:stretch>
            <a:fillRect/>
          </a:stretch>
        </p:blipFill>
        <p:spPr>
          <a:xfrm>
            <a:off x="9285732" y="4485132"/>
            <a:ext cx="283464" cy="283464"/>
          </a:xfrm>
          <a:prstGeom prst="rect">
            <a:avLst/>
          </a:prstGeom>
        </p:spPr>
      </p:pic>
      <p:sp>
        <p:nvSpPr>
          <p:cNvPr id="41" name="Text 35"/>
          <p:cNvSpPr/>
          <p:nvPr/>
        </p:nvSpPr>
        <p:spPr>
          <a:xfrm>
            <a:off x="9144000" y="4983480"/>
            <a:ext cx="2194560" cy="365760"/>
          </a:xfrm>
          <a:prstGeom prst="rect">
            <a:avLst/>
          </a:prstGeom>
          <a:noFill/>
          <a:ln/>
        </p:spPr>
        <p:txBody>
          <a:bodyPr wrap="square" lIns="0" tIns="0" rIns="0" bIns="0" rtlCol="0" anchor="ctr"/>
          <a:lstStyle/>
          <a:p>
            <a:pPr indent="0" marL="0">
              <a:buNone/>
            </a:pPr>
            <a:r>
              <a:rPr lang="en-US" sz="1450" b="1" dirty="0">
                <a:solidFill>
                  <a:srgbClr val="1E293B"/>
                </a:solidFill>
                <a:latin typeface="Georgia" pitchFamily="34" charset="0"/>
                <a:ea typeface="Georgia" pitchFamily="34" charset="-122"/>
                <a:cs typeface="Georgia" pitchFamily="34" charset="-120"/>
              </a:rPr>
              <a:t>Lượt xem bài</a:t>
            </a:r>
            <a:endParaRPr lang="en-US" sz="1450" dirty="0"/>
          </a:p>
        </p:txBody>
      </p:sp>
      <p:sp>
        <p:nvSpPr>
          <p:cNvPr id="42" name="Text 36"/>
          <p:cNvSpPr/>
          <p:nvPr/>
        </p:nvSpPr>
        <p:spPr>
          <a:xfrm>
            <a:off x="9144000" y="5330952"/>
            <a:ext cx="2194560" cy="365760"/>
          </a:xfrm>
          <a:prstGeom prst="rect">
            <a:avLst/>
          </a:prstGeom>
          <a:noFill/>
          <a:ln/>
        </p:spPr>
        <p:txBody>
          <a:bodyPr wrap="square" lIns="0" tIns="0" rIns="0" bIns="0" rtlCol="0" anchor="ctr"/>
          <a:lstStyle/>
          <a:p>
            <a:pPr indent="0" marL="0">
              <a:lnSpc>
                <a:spcPts val="1300"/>
              </a:lnSpc>
              <a:buNone/>
            </a:pPr>
            <a:r>
              <a:rPr lang="en-US" sz="1050" dirty="0">
                <a:solidFill>
                  <a:srgbClr val="64748B"/>
                </a:solidFill>
                <a:latin typeface="Calibri" pitchFamily="34" charset="0"/>
                <a:ea typeface="Calibri" pitchFamily="34" charset="-122"/>
                <a:cs typeface="Calibri" pitchFamily="34" charset="-120"/>
              </a:rPr>
              <a:t>Tương tác với từng bài giảng</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2E33"/>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200" b="1" spc="300" kern="0" dirty="0">
                <a:solidFill>
                  <a:srgbClr val="5EEAD4"/>
                </a:solidFill>
                <a:latin typeface="Calibri" pitchFamily="34" charset="0"/>
                <a:ea typeface="Calibri" pitchFamily="34" charset="-122"/>
                <a:cs typeface="Calibri" pitchFamily="34" charset="-120"/>
              </a:rPr>
              <a:t>QUY TRÌNH</a:t>
            </a:r>
            <a:endParaRPr lang="en-US" sz="1200" dirty="0"/>
          </a:p>
        </p:txBody>
      </p:sp>
      <p:sp>
        <p:nvSpPr>
          <p:cNvPr id="3" name="Text 1"/>
          <p:cNvSpPr/>
          <p:nvPr/>
        </p:nvSpPr>
        <p:spPr>
          <a:xfrm>
            <a:off x="548640" y="822960"/>
            <a:ext cx="10698480" cy="822960"/>
          </a:xfrm>
          <a:prstGeom prst="rect">
            <a:avLst/>
          </a:prstGeom>
          <a:noFill/>
          <a:ln/>
        </p:spPr>
        <p:txBody>
          <a:bodyPr wrap="square" lIns="0" tIns="0" rIns="0" bIns="0" rtlCol="0" anchor="ctr"/>
          <a:lstStyle/>
          <a:p>
            <a:pPr algn="l" indent="0" marL="0">
              <a:buNone/>
            </a:pPr>
            <a:r>
              <a:rPr lang="en-US" sz="3100" b="1" dirty="0">
                <a:solidFill>
                  <a:srgbClr val="FFFFFF"/>
                </a:solidFill>
                <a:latin typeface="Georgia" pitchFamily="34" charset="0"/>
                <a:ea typeface="Georgia" pitchFamily="34" charset="-122"/>
                <a:cs typeface="Georgia" pitchFamily="34" charset="-120"/>
              </a:rPr>
              <a:t>Luồng hoạt động khi học một bài</a:t>
            </a:r>
            <a:endParaRPr lang="en-US" sz="31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Hệ thống học tập trực tuyến với AI</a:t>
            </a:r>
            <a:endParaRPr lang="en-US" sz="900" dirty="0"/>
          </a:p>
        </p:txBody>
      </p:sp>
      <p:sp>
        <p:nvSpPr>
          <p:cNvPr id="5" name="Text 3"/>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23</a:t>
            </a:r>
            <a:endParaRPr lang="en-US" sz="900" dirty="0"/>
          </a:p>
        </p:txBody>
      </p:sp>
      <p:sp>
        <p:nvSpPr>
          <p:cNvPr id="6" name="Shape 4"/>
          <p:cNvSpPr/>
          <p:nvPr/>
        </p:nvSpPr>
        <p:spPr>
          <a:xfrm>
            <a:off x="640080" y="2651760"/>
            <a:ext cx="2103120" cy="2194560"/>
          </a:xfrm>
          <a:prstGeom prst="roundRect">
            <a:avLst>
              <a:gd name="adj" fmla="val 5217"/>
            </a:avLst>
          </a:prstGeom>
          <a:solidFill>
            <a:srgbClr val="12393F"/>
          </a:solidFill>
          <a:ln w="15240">
            <a:solidFill>
              <a:srgbClr val="0D9488"/>
            </a:solidFill>
            <a:prstDash val="solid"/>
          </a:ln>
        </p:spPr>
      </p:sp>
      <p:sp>
        <p:nvSpPr>
          <p:cNvPr id="7" name="Shape 5"/>
          <p:cNvSpPr/>
          <p:nvPr/>
        </p:nvSpPr>
        <p:spPr>
          <a:xfrm>
            <a:off x="1325880" y="2926080"/>
            <a:ext cx="731520" cy="73152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8" name="Image 0" descr="preencoded.png">    </p:cNvPr>
          <p:cNvPicPr>
            <a:picLocks noChangeAspect="1"/>
          </p:cNvPicPr>
          <p:nvPr/>
        </p:nvPicPr>
        <p:blipFill>
          <a:blip r:embed="rId1"/>
          <a:stretch>
            <a:fillRect/>
          </a:stretch>
        </p:blipFill>
        <p:spPr>
          <a:xfrm>
            <a:off x="1490472" y="3090672"/>
            <a:ext cx="402336" cy="402336"/>
          </a:xfrm>
          <a:prstGeom prst="rect">
            <a:avLst/>
          </a:prstGeom>
        </p:spPr>
      </p:pic>
      <p:sp>
        <p:nvSpPr>
          <p:cNvPr id="9" name="Text 6"/>
          <p:cNvSpPr/>
          <p:nvPr/>
        </p:nvSpPr>
        <p:spPr>
          <a:xfrm>
            <a:off x="640080" y="3794760"/>
            <a:ext cx="2103120" cy="320040"/>
          </a:xfrm>
          <a:prstGeom prst="rect">
            <a:avLst/>
          </a:prstGeom>
          <a:noFill/>
          <a:ln/>
        </p:spPr>
        <p:txBody>
          <a:bodyPr wrap="square" lIns="0" tIns="0" rIns="0" bIns="0" rtlCol="0" anchor="ctr"/>
          <a:lstStyle/>
          <a:p>
            <a:pPr algn="ctr" indent="0" marL="0">
              <a:buNone/>
            </a:pPr>
            <a:r>
              <a:rPr lang="en-US" sz="1100" b="1" spc="100" kern="0" dirty="0">
                <a:solidFill>
                  <a:srgbClr val="5EEAD4"/>
                </a:solidFill>
                <a:latin typeface="Calibri" pitchFamily="34" charset="0"/>
                <a:ea typeface="Calibri" pitchFamily="34" charset="-122"/>
                <a:cs typeface="Calibri" pitchFamily="34" charset="-120"/>
              </a:rPr>
              <a:t>Bước 1</a:t>
            </a:r>
            <a:endParaRPr lang="en-US" sz="1100" dirty="0"/>
          </a:p>
        </p:txBody>
      </p:sp>
      <p:sp>
        <p:nvSpPr>
          <p:cNvPr id="10" name="Text 7"/>
          <p:cNvSpPr/>
          <p:nvPr/>
        </p:nvSpPr>
        <p:spPr>
          <a:xfrm>
            <a:off x="777240" y="4069080"/>
            <a:ext cx="182880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Đăng nhập</a:t>
            </a:r>
            <a:endParaRPr lang="en-US" sz="1400" dirty="0"/>
          </a:p>
        </p:txBody>
      </p:sp>
      <p:pic>
        <p:nvPicPr>
          <p:cNvPr id="11" name="Image 1" descr="preencoded.png">    </p:cNvPr>
          <p:cNvPicPr>
            <a:picLocks noChangeAspect="1"/>
          </p:cNvPicPr>
          <p:nvPr/>
        </p:nvPicPr>
        <p:blipFill>
          <a:blip r:embed="rId2"/>
          <a:stretch>
            <a:fillRect/>
          </a:stretch>
        </p:blipFill>
        <p:spPr>
          <a:xfrm>
            <a:off x="2706624" y="3611880"/>
            <a:ext cx="274320" cy="274320"/>
          </a:xfrm>
          <a:prstGeom prst="rect">
            <a:avLst/>
          </a:prstGeom>
        </p:spPr>
      </p:pic>
      <p:sp>
        <p:nvSpPr>
          <p:cNvPr id="12" name="Shape 8"/>
          <p:cNvSpPr/>
          <p:nvPr/>
        </p:nvSpPr>
        <p:spPr>
          <a:xfrm>
            <a:off x="2907792" y="2651760"/>
            <a:ext cx="2103120" cy="2194560"/>
          </a:xfrm>
          <a:prstGeom prst="roundRect">
            <a:avLst>
              <a:gd name="adj" fmla="val 5217"/>
            </a:avLst>
          </a:prstGeom>
          <a:solidFill>
            <a:srgbClr val="12393F"/>
          </a:solidFill>
          <a:ln w="15240">
            <a:solidFill>
              <a:srgbClr val="0D9488"/>
            </a:solidFill>
            <a:prstDash val="solid"/>
          </a:ln>
        </p:spPr>
      </p:sp>
      <p:sp>
        <p:nvSpPr>
          <p:cNvPr id="13" name="Shape 9"/>
          <p:cNvSpPr/>
          <p:nvPr/>
        </p:nvSpPr>
        <p:spPr>
          <a:xfrm>
            <a:off x="3593592" y="2926080"/>
            <a:ext cx="731520" cy="73152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14" name="Image 2" descr="preencoded.png">    </p:cNvPr>
          <p:cNvPicPr>
            <a:picLocks noChangeAspect="1"/>
          </p:cNvPicPr>
          <p:nvPr/>
        </p:nvPicPr>
        <p:blipFill>
          <a:blip r:embed="rId3"/>
          <a:stretch>
            <a:fillRect/>
          </a:stretch>
        </p:blipFill>
        <p:spPr>
          <a:xfrm>
            <a:off x="3758184" y="3090672"/>
            <a:ext cx="402336" cy="402336"/>
          </a:xfrm>
          <a:prstGeom prst="rect">
            <a:avLst/>
          </a:prstGeom>
        </p:spPr>
      </p:pic>
      <p:sp>
        <p:nvSpPr>
          <p:cNvPr id="15" name="Text 10"/>
          <p:cNvSpPr/>
          <p:nvPr/>
        </p:nvSpPr>
        <p:spPr>
          <a:xfrm>
            <a:off x="2907792" y="3794760"/>
            <a:ext cx="2103120" cy="320040"/>
          </a:xfrm>
          <a:prstGeom prst="rect">
            <a:avLst/>
          </a:prstGeom>
          <a:noFill/>
          <a:ln/>
        </p:spPr>
        <p:txBody>
          <a:bodyPr wrap="square" lIns="0" tIns="0" rIns="0" bIns="0" rtlCol="0" anchor="ctr"/>
          <a:lstStyle/>
          <a:p>
            <a:pPr algn="ctr" indent="0" marL="0">
              <a:buNone/>
            </a:pPr>
            <a:r>
              <a:rPr lang="en-US" sz="1100" b="1" spc="100" kern="0" dirty="0">
                <a:solidFill>
                  <a:srgbClr val="5EEAD4"/>
                </a:solidFill>
                <a:latin typeface="Calibri" pitchFamily="34" charset="0"/>
                <a:ea typeface="Calibri" pitchFamily="34" charset="-122"/>
                <a:cs typeface="Calibri" pitchFamily="34" charset="-120"/>
              </a:rPr>
              <a:t>Bước 2</a:t>
            </a:r>
            <a:endParaRPr lang="en-US" sz="1100" dirty="0"/>
          </a:p>
        </p:txBody>
      </p:sp>
      <p:sp>
        <p:nvSpPr>
          <p:cNvPr id="16" name="Text 11"/>
          <p:cNvSpPr/>
          <p:nvPr/>
        </p:nvSpPr>
        <p:spPr>
          <a:xfrm>
            <a:off x="3044952" y="4069080"/>
            <a:ext cx="182880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Chọn &amp; xem bài giảng</a:t>
            </a:r>
            <a:endParaRPr lang="en-US" sz="1400" dirty="0"/>
          </a:p>
        </p:txBody>
      </p:sp>
      <p:pic>
        <p:nvPicPr>
          <p:cNvPr id="17" name="Image 3" descr="preencoded.png">    </p:cNvPr>
          <p:cNvPicPr>
            <a:picLocks noChangeAspect="1"/>
          </p:cNvPicPr>
          <p:nvPr/>
        </p:nvPicPr>
        <p:blipFill>
          <a:blip r:embed="rId4"/>
          <a:stretch>
            <a:fillRect/>
          </a:stretch>
        </p:blipFill>
        <p:spPr>
          <a:xfrm>
            <a:off x="4974336" y="3611880"/>
            <a:ext cx="274320" cy="274320"/>
          </a:xfrm>
          <a:prstGeom prst="rect">
            <a:avLst/>
          </a:prstGeom>
        </p:spPr>
      </p:pic>
      <p:sp>
        <p:nvSpPr>
          <p:cNvPr id="18" name="Shape 12"/>
          <p:cNvSpPr/>
          <p:nvPr/>
        </p:nvSpPr>
        <p:spPr>
          <a:xfrm>
            <a:off x="5175504" y="2651760"/>
            <a:ext cx="2103120" cy="2194560"/>
          </a:xfrm>
          <a:prstGeom prst="roundRect">
            <a:avLst>
              <a:gd name="adj" fmla="val 5217"/>
            </a:avLst>
          </a:prstGeom>
          <a:solidFill>
            <a:srgbClr val="12393F"/>
          </a:solidFill>
          <a:ln w="15240">
            <a:solidFill>
              <a:srgbClr val="0D9488"/>
            </a:solidFill>
            <a:prstDash val="solid"/>
          </a:ln>
        </p:spPr>
      </p:sp>
      <p:sp>
        <p:nvSpPr>
          <p:cNvPr id="19" name="Shape 13"/>
          <p:cNvSpPr/>
          <p:nvPr/>
        </p:nvSpPr>
        <p:spPr>
          <a:xfrm>
            <a:off x="5861304" y="2926080"/>
            <a:ext cx="731520" cy="73152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20" name="Image 4" descr="preencoded.png">    </p:cNvPr>
          <p:cNvPicPr>
            <a:picLocks noChangeAspect="1"/>
          </p:cNvPicPr>
          <p:nvPr/>
        </p:nvPicPr>
        <p:blipFill>
          <a:blip r:embed="rId5"/>
          <a:stretch>
            <a:fillRect/>
          </a:stretch>
        </p:blipFill>
        <p:spPr>
          <a:xfrm>
            <a:off x="6025896" y="3090672"/>
            <a:ext cx="402336" cy="402336"/>
          </a:xfrm>
          <a:prstGeom prst="rect">
            <a:avLst/>
          </a:prstGeom>
        </p:spPr>
      </p:pic>
      <p:sp>
        <p:nvSpPr>
          <p:cNvPr id="21" name="Text 14"/>
          <p:cNvSpPr/>
          <p:nvPr/>
        </p:nvSpPr>
        <p:spPr>
          <a:xfrm>
            <a:off x="5175504" y="3794760"/>
            <a:ext cx="2103120" cy="320040"/>
          </a:xfrm>
          <a:prstGeom prst="rect">
            <a:avLst/>
          </a:prstGeom>
          <a:noFill/>
          <a:ln/>
        </p:spPr>
        <p:txBody>
          <a:bodyPr wrap="square" lIns="0" tIns="0" rIns="0" bIns="0" rtlCol="0" anchor="ctr"/>
          <a:lstStyle/>
          <a:p>
            <a:pPr algn="ctr" indent="0" marL="0">
              <a:buNone/>
            </a:pPr>
            <a:r>
              <a:rPr lang="en-US" sz="1100" b="1" spc="100" kern="0" dirty="0">
                <a:solidFill>
                  <a:srgbClr val="5EEAD4"/>
                </a:solidFill>
                <a:latin typeface="Calibri" pitchFamily="34" charset="0"/>
                <a:ea typeface="Calibri" pitchFamily="34" charset="-122"/>
                <a:cs typeface="Calibri" pitchFamily="34" charset="-120"/>
              </a:rPr>
              <a:t>Bước 3</a:t>
            </a:r>
            <a:endParaRPr lang="en-US" sz="1100" dirty="0"/>
          </a:p>
        </p:txBody>
      </p:sp>
      <p:sp>
        <p:nvSpPr>
          <p:cNvPr id="22" name="Text 15"/>
          <p:cNvSpPr/>
          <p:nvPr/>
        </p:nvSpPr>
        <p:spPr>
          <a:xfrm>
            <a:off x="5312664" y="4069080"/>
            <a:ext cx="182880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Webcam giám sát tập trung</a:t>
            </a:r>
            <a:endParaRPr lang="en-US" sz="1400" dirty="0"/>
          </a:p>
        </p:txBody>
      </p:sp>
      <p:pic>
        <p:nvPicPr>
          <p:cNvPr id="23" name="Image 5" descr="preencoded.png">    </p:cNvPr>
          <p:cNvPicPr>
            <a:picLocks noChangeAspect="1"/>
          </p:cNvPicPr>
          <p:nvPr/>
        </p:nvPicPr>
        <p:blipFill>
          <a:blip r:embed="rId6"/>
          <a:stretch>
            <a:fillRect/>
          </a:stretch>
        </p:blipFill>
        <p:spPr>
          <a:xfrm>
            <a:off x="7242048" y="3611880"/>
            <a:ext cx="274320" cy="274320"/>
          </a:xfrm>
          <a:prstGeom prst="rect">
            <a:avLst/>
          </a:prstGeom>
        </p:spPr>
      </p:pic>
      <p:sp>
        <p:nvSpPr>
          <p:cNvPr id="24" name="Shape 16"/>
          <p:cNvSpPr/>
          <p:nvPr/>
        </p:nvSpPr>
        <p:spPr>
          <a:xfrm>
            <a:off x="7443216" y="2651760"/>
            <a:ext cx="2103120" cy="2194560"/>
          </a:xfrm>
          <a:prstGeom prst="roundRect">
            <a:avLst>
              <a:gd name="adj" fmla="val 5217"/>
            </a:avLst>
          </a:prstGeom>
          <a:solidFill>
            <a:srgbClr val="12393F"/>
          </a:solidFill>
          <a:ln w="15240">
            <a:solidFill>
              <a:srgbClr val="0D9488"/>
            </a:solidFill>
            <a:prstDash val="solid"/>
          </a:ln>
        </p:spPr>
      </p:sp>
      <p:sp>
        <p:nvSpPr>
          <p:cNvPr id="25" name="Shape 17"/>
          <p:cNvSpPr/>
          <p:nvPr/>
        </p:nvSpPr>
        <p:spPr>
          <a:xfrm>
            <a:off x="8129016" y="2926080"/>
            <a:ext cx="731520" cy="73152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26" name="Image 6" descr="preencoded.png">    </p:cNvPr>
          <p:cNvPicPr>
            <a:picLocks noChangeAspect="1"/>
          </p:cNvPicPr>
          <p:nvPr/>
        </p:nvPicPr>
        <p:blipFill>
          <a:blip r:embed="rId7"/>
          <a:stretch>
            <a:fillRect/>
          </a:stretch>
        </p:blipFill>
        <p:spPr>
          <a:xfrm>
            <a:off x="8293608" y="3090672"/>
            <a:ext cx="402336" cy="402336"/>
          </a:xfrm>
          <a:prstGeom prst="rect">
            <a:avLst/>
          </a:prstGeom>
        </p:spPr>
      </p:pic>
      <p:sp>
        <p:nvSpPr>
          <p:cNvPr id="27" name="Text 18"/>
          <p:cNvSpPr/>
          <p:nvPr/>
        </p:nvSpPr>
        <p:spPr>
          <a:xfrm>
            <a:off x="7443216" y="3794760"/>
            <a:ext cx="2103120" cy="320040"/>
          </a:xfrm>
          <a:prstGeom prst="rect">
            <a:avLst/>
          </a:prstGeom>
          <a:noFill/>
          <a:ln/>
        </p:spPr>
        <p:txBody>
          <a:bodyPr wrap="square" lIns="0" tIns="0" rIns="0" bIns="0" rtlCol="0" anchor="ctr"/>
          <a:lstStyle/>
          <a:p>
            <a:pPr algn="ctr" indent="0" marL="0">
              <a:buNone/>
            </a:pPr>
            <a:r>
              <a:rPr lang="en-US" sz="1100" b="1" spc="100" kern="0" dirty="0">
                <a:solidFill>
                  <a:srgbClr val="5EEAD4"/>
                </a:solidFill>
                <a:latin typeface="Calibri" pitchFamily="34" charset="0"/>
                <a:ea typeface="Calibri" pitchFamily="34" charset="-122"/>
                <a:cs typeface="Calibri" pitchFamily="34" charset="-120"/>
              </a:rPr>
              <a:t>Bước 4</a:t>
            </a:r>
            <a:endParaRPr lang="en-US" sz="1100" dirty="0"/>
          </a:p>
        </p:txBody>
      </p:sp>
      <p:sp>
        <p:nvSpPr>
          <p:cNvPr id="28" name="Text 19"/>
          <p:cNvSpPr/>
          <p:nvPr/>
        </p:nvSpPr>
        <p:spPr>
          <a:xfrm>
            <a:off x="7580376" y="4069080"/>
            <a:ext cx="182880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Làm quiz thích ứng</a:t>
            </a:r>
            <a:endParaRPr lang="en-US" sz="1400" dirty="0"/>
          </a:p>
        </p:txBody>
      </p:sp>
      <p:pic>
        <p:nvPicPr>
          <p:cNvPr id="29" name="Image 7" descr="preencoded.png">    </p:cNvPr>
          <p:cNvPicPr>
            <a:picLocks noChangeAspect="1"/>
          </p:cNvPicPr>
          <p:nvPr/>
        </p:nvPicPr>
        <p:blipFill>
          <a:blip r:embed="rId8"/>
          <a:stretch>
            <a:fillRect/>
          </a:stretch>
        </p:blipFill>
        <p:spPr>
          <a:xfrm>
            <a:off x="9509760" y="3611880"/>
            <a:ext cx="274320" cy="274320"/>
          </a:xfrm>
          <a:prstGeom prst="rect">
            <a:avLst/>
          </a:prstGeom>
        </p:spPr>
      </p:pic>
      <p:sp>
        <p:nvSpPr>
          <p:cNvPr id="30" name="Shape 20"/>
          <p:cNvSpPr/>
          <p:nvPr/>
        </p:nvSpPr>
        <p:spPr>
          <a:xfrm>
            <a:off x="9710928" y="2651760"/>
            <a:ext cx="2103120" cy="2194560"/>
          </a:xfrm>
          <a:prstGeom prst="roundRect">
            <a:avLst>
              <a:gd name="adj" fmla="val 5217"/>
            </a:avLst>
          </a:prstGeom>
          <a:solidFill>
            <a:srgbClr val="12393F"/>
          </a:solidFill>
          <a:ln w="15240">
            <a:solidFill>
              <a:srgbClr val="0D9488"/>
            </a:solidFill>
            <a:prstDash val="solid"/>
          </a:ln>
        </p:spPr>
      </p:sp>
      <p:sp>
        <p:nvSpPr>
          <p:cNvPr id="31" name="Shape 21"/>
          <p:cNvSpPr/>
          <p:nvPr/>
        </p:nvSpPr>
        <p:spPr>
          <a:xfrm>
            <a:off x="10396728" y="2926080"/>
            <a:ext cx="731520" cy="73152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32" name="Image 8" descr="preencoded.png">    </p:cNvPr>
          <p:cNvPicPr>
            <a:picLocks noChangeAspect="1"/>
          </p:cNvPicPr>
          <p:nvPr/>
        </p:nvPicPr>
        <p:blipFill>
          <a:blip r:embed="rId9"/>
          <a:stretch>
            <a:fillRect/>
          </a:stretch>
        </p:blipFill>
        <p:spPr>
          <a:xfrm>
            <a:off x="10561320" y="3090672"/>
            <a:ext cx="402336" cy="402336"/>
          </a:xfrm>
          <a:prstGeom prst="rect">
            <a:avLst/>
          </a:prstGeom>
        </p:spPr>
      </p:pic>
      <p:sp>
        <p:nvSpPr>
          <p:cNvPr id="33" name="Text 22"/>
          <p:cNvSpPr/>
          <p:nvPr/>
        </p:nvSpPr>
        <p:spPr>
          <a:xfrm>
            <a:off x="9710928" y="3794760"/>
            <a:ext cx="2103120" cy="320040"/>
          </a:xfrm>
          <a:prstGeom prst="rect">
            <a:avLst/>
          </a:prstGeom>
          <a:noFill/>
          <a:ln/>
        </p:spPr>
        <p:txBody>
          <a:bodyPr wrap="square" lIns="0" tIns="0" rIns="0" bIns="0" rtlCol="0" anchor="ctr"/>
          <a:lstStyle/>
          <a:p>
            <a:pPr algn="ctr" indent="0" marL="0">
              <a:buNone/>
            </a:pPr>
            <a:r>
              <a:rPr lang="en-US" sz="1100" b="1" spc="100" kern="0" dirty="0">
                <a:solidFill>
                  <a:srgbClr val="5EEAD4"/>
                </a:solidFill>
                <a:latin typeface="Calibri" pitchFamily="34" charset="0"/>
                <a:ea typeface="Calibri" pitchFamily="34" charset="-122"/>
                <a:cs typeface="Calibri" pitchFamily="34" charset="-120"/>
              </a:rPr>
              <a:t>Bước 5</a:t>
            </a:r>
            <a:endParaRPr lang="en-US" sz="1100" dirty="0"/>
          </a:p>
        </p:txBody>
      </p:sp>
      <p:sp>
        <p:nvSpPr>
          <p:cNvPr id="34" name="Text 23"/>
          <p:cNvSpPr/>
          <p:nvPr/>
        </p:nvSpPr>
        <p:spPr>
          <a:xfrm>
            <a:off x="9848088" y="4069080"/>
            <a:ext cx="182880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Cập nhật level &amp; feedback</a:t>
            </a:r>
            <a:endParaRPr lang="en-US" sz="1400" dirty="0"/>
          </a:p>
        </p:txBody>
      </p:sp>
      <p:sp>
        <p:nvSpPr>
          <p:cNvPr id="35" name="Text 24"/>
          <p:cNvSpPr/>
          <p:nvPr/>
        </p:nvSpPr>
        <p:spPr>
          <a:xfrm>
            <a:off x="640080" y="5212080"/>
            <a:ext cx="10881360" cy="457200"/>
          </a:xfrm>
          <a:prstGeom prst="rect">
            <a:avLst/>
          </a:prstGeom>
          <a:noFill/>
          <a:ln/>
        </p:spPr>
        <p:txBody>
          <a:bodyPr wrap="square" lIns="0" tIns="0" rIns="0" bIns="0" rtlCol="0" anchor="ctr"/>
          <a:lstStyle/>
          <a:p>
            <a:pPr algn="ctr" indent="0" marL="0">
              <a:buNone/>
            </a:pPr>
            <a:r>
              <a:rPr lang="en-US" sz="1450" i="1" dirty="0">
                <a:solidFill>
                  <a:srgbClr val="CBD5E1"/>
                </a:solidFill>
                <a:latin typeface="Calibri" pitchFamily="34" charset="0"/>
                <a:ea typeface="Calibri" pitchFamily="34" charset="-122"/>
                <a:cs typeface="Calibri" pitchFamily="34" charset="-120"/>
              </a:rPr>
              <a:t>Kết quả mỗi lượt học được lưu lại để cá nhân hóa các bài học tiếp theo.</a:t>
            </a:r>
            <a:endParaRPr lang="en-US" sz="14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2E33"/>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200" b="1" spc="300" kern="0" dirty="0">
                <a:solidFill>
                  <a:srgbClr val="5EEAD4"/>
                </a:solidFill>
                <a:latin typeface="Calibri" pitchFamily="34" charset="0"/>
                <a:ea typeface="Calibri" pitchFamily="34" charset="-122"/>
                <a:cs typeface="Calibri" pitchFamily="34" charset="-120"/>
              </a:rPr>
              <a:t>DEMO</a:t>
            </a:r>
            <a:endParaRPr lang="en-US" sz="1200" dirty="0"/>
          </a:p>
        </p:txBody>
      </p:sp>
      <p:sp>
        <p:nvSpPr>
          <p:cNvPr id="3" name="Text 1"/>
          <p:cNvSpPr/>
          <p:nvPr/>
        </p:nvSpPr>
        <p:spPr>
          <a:xfrm>
            <a:off x="548640" y="822960"/>
            <a:ext cx="10698480" cy="822960"/>
          </a:xfrm>
          <a:prstGeom prst="rect">
            <a:avLst/>
          </a:prstGeom>
          <a:noFill/>
          <a:ln/>
        </p:spPr>
        <p:txBody>
          <a:bodyPr wrap="square" lIns="0" tIns="0" rIns="0" bIns="0" rtlCol="0" anchor="ctr"/>
          <a:lstStyle/>
          <a:p>
            <a:pPr algn="l" indent="0" marL="0">
              <a:buNone/>
            </a:pPr>
            <a:r>
              <a:rPr lang="en-US" sz="3100" b="1" dirty="0">
                <a:solidFill>
                  <a:srgbClr val="FFFFFF"/>
                </a:solidFill>
                <a:latin typeface="Georgia" pitchFamily="34" charset="0"/>
                <a:ea typeface="Georgia" pitchFamily="34" charset="-122"/>
                <a:cs typeface="Georgia" pitchFamily="34" charset="-120"/>
              </a:rPr>
              <a:t>Demo hệ thống</a:t>
            </a:r>
            <a:endParaRPr lang="en-US" sz="31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Hệ thống học tập trực tuyến với AI</a:t>
            </a:r>
            <a:endParaRPr lang="en-US" sz="900" dirty="0"/>
          </a:p>
        </p:txBody>
      </p:sp>
      <p:sp>
        <p:nvSpPr>
          <p:cNvPr id="5" name="Text 3"/>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24</a:t>
            </a:r>
            <a:endParaRPr lang="en-US" sz="900" dirty="0"/>
          </a:p>
        </p:txBody>
      </p:sp>
      <p:sp>
        <p:nvSpPr>
          <p:cNvPr id="6" name="Shape 4"/>
          <p:cNvSpPr/>
          <p:nvPr/>
        </p:nvSpPr>
        <p:spPr>
          <a:xfrm>
            <a:off x="822960" y="2468880"/>
            <a:ext cx="2514600" cy="2651760"/>
          </a:xfrm>
          <a:prstGeom prst="roundRect">
            <a:avLst>
              <a:gd name="adj" fmla="val 4364"/>
            </a:avLst>
          </a:prstGeom>
          <a:solidFill>
            <a:srgbClr val="12393F"/>
          </a:solidFill>
          <a:ln w="15240">
            <a:solidFill>
              <a:srgbClr val="0D9488"/>
            </a:solidFill>
            <a:prstDash val="solid"/>
          </a:ln>
        </p:spPr>
      </p:sp>
      <p:sp>
        <p:nvSpPr>
          <p:cNvPr id="7" name="Text 5"/>
          <p:cNvSpPr/>
          <p:nvPr/>
        </p:nvSpPr>
        <p:spPr>
          <a:xfrm>
            <a:off x="822960" y="2606040"/>
            <a:ext cx="2514600" cy="548640"/>
          </a:xfrm>
          <a:prstGeom prst="rect">
            <a:avLst/>
          </a:prstGeom>
          <a:noFill/>
          <a:ln/>
        </p:spPr>
        <p:txBody>
          <a:bodyPr wrap="square" lIns="0" tIns="0" rIns="0" bIns="0" rtlCol="0" anchor="ctr"/>
          <a:lstStyle/>
          <a:p>
            <a:pPr algn="ctr" indent="0" marL="0">
              <a:buNone/>
            </a:pPr>
            <a:r>
              <a:rPr lang="en-US" sz="2200" b="1" dirty="0">
                <a:solidFill>
                  <a:srgbClr val="5EEAD4"/>
                </a:solidFill>
                <a:latin typeface="Georgia" pitchFamily="34" charset="0"/>
                <a:ea typeface="Georgia" pitchFamily="34" charset="-122"/>
                <a:cs typeface="Georgia" pitchFamily="34" charset="-120"/>
              </a:rPr>
              <a:t>01</a:t>
            </a:r>
            <a:endParaRPr lang="en-US" sz="2200" dirty="0"/>
          </a:p>
        </p:txBody>
      </p:sp>
      <p:sp>
        <p:nvSpPr>
          <p:cNvPr id="8" name="Shape 6"/>
          <p:cNvSpPr/>
          <p:nvPr/>
        </p:nvSpPr>
        <p:spPr>
          <a:xfrm>
            <a:off x="1714500" y="3154680"/>
            <a:ext cx="731520" cy="73152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9" name="Image 0" descr="preencoded.png">    </p:cNvPr>
          <p:cNvPicPr>
            <a:picLocks noChangeAspect="1"/>
          </p:cNvPicPr>
          <p:nvPr/>
        </p:nvPicPr>
        <p:blipFill>
          <a:blip r:embed="rId1"/>
          <a:stretch>
            <a:fillRect/>
          </a:stretch>
        </p:blipFill>
        <p:spPr>
          <a:xfrm>
            <a:off x="1897380" y="3337560"/>
            <a:ext cx="365760" cy="365760"/>
          </a:xfrm>
          <a:prstGeom prst="rect">
            <a:avLst/>
          </a:prstGeom>
        </p:spPr>
      </p:pic>
      <p:sp>
        <p:nvSpPr>
          <p:cNvPr id="10" name="Text 7"/>
          <p:cNvSpPr/>
          <p:nvPr/>
        </p:nvSpPr>
        <p:spPr>
          <a:xfrm>
            <a:off x="960120" y="4023360"/>
            <a:ext cx="224028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Đăng nhập &amp; trang chủ</a:t>
            </a:r>
            <a:endParaRPr lang="en-US" sz="1400" dirty="0"/>
          </a:p>
        </p:txBody>
      </p:sp>
      <p:sp>
        <p:nvSpPr>
          <p:cNvPr id="11" name="Text 8"/>
          <p:cNvSpPr/>
          <p:nvPr/>
        </p:nvSpPr>
        <p:spPr>
          <a:xfrm>
            <a:off x="960120" y="4572000"/>
            <a:ext cx="2240280" cy="457200"/>
          </a:xfrm>
          <a:prstGeom prst="rect">
            <a:avLst/>
          </a:prstGeom>
          <a:noFill/>
          <a:ln/>
        </p:spPr>
        <p:txBody>
          <a:bodyPr wrap="square" lIns="0" tIns="0" rIns="0" bIns="0" rtlCol="0" anchor="ctr"/>
          <a:lstStyle/>
          <a:p>
            <a:pPr algn="ctr" indent="0" marL="0">
              <a:lnSpc>
                <a:spcPts val="1400"/>
              </a:lnSpc>
              <a:buNone/>
            </a:pPr>
            <a:r>
              <a:rPr lang="en-US" sz="1100" dirty="0">
                <a:solidFill>
                  <a:srgbClr val="B6CBCC"/>
                </a:solidFill>
                <a:latin typeface="Calibri" pitchFamily="34" charset="0"/>
                <a:ea typeface="Calibri" pitchFamily="34" charset="-122"/>
                <a:cs typeface="Calibri" pitchFamily="34" charset="-120"/>
              </a:rPr>
              <a:t>Tài khoản student / admin</a:t>
            </a:r>
            <a:endParaRPr lang="en-US" sz="1100" dirty="0"/>
          </a:p>
        </p:txBody>
      </p:sp>
      <p:sp>
        <p:nvSpPr>
          <p:cNvPr id="12" name="Shape 9"/>
          <p:cNvSpPr/>
          <p:nvPr/>
        </p:nvSpPr>
        <p:spPr>
          <a:xfrm>
            <a:off x="3566160" y="2468880"/>
            <a:ext cx="2514600" cy="2651760"/>
          </a:xfrm>
          <a:prstGeom prst="roundRect">
            <a:avLst>
              <a:gd name="adj" fmla="val 4364"/>
            </a:avLst>
          </a:prstGeom>
          <a:solidFill>
            <a:srgbClr val="12393F"/>
          </a:solidFill>
          <a:ln w="15240">
            <a:solidFill>
              <a:srgbClr val="0D9488"/>
            </a:solidFill>
            <a:prstDash val="solid"/>
          </a:ln>
        </p:spPr>
      </p:sp>
      <p:sp>
        <p:nvSpPr>
          <p:cNvPr id="13" name="Text 10"/>
          <p:cNvSpPr/>
          <p:nvPr/>
        </p:nvSpPr>
        <p:spPr>
          <a:xfrm>
            <a:off x="3566160" y="2606040"/>
            <a:ext cx="2514600" cy="548640"/>
          </a:xfrm>
          <a:prstGeom prst="rect">
            <a:avLst/>
          </a:prstGeom>
          <a:noFill/>
          <a:ln/>
        </p:spPr>
        <p:txBody>
          <a:bodyPr wrap="square" lIns="0" tIns="0" rIns="0" bIns="0" rtlCol="0" anchor="ctr"/>
          <a:lstStyle/>
          <a:p>
            <a:pPr algn="ctr" indent="0" marL="0">
              <a:buNone/>
            </a:pPr>
            <a:r>
              <a:rPr lang="en-US" sz="2200" b="1" dirty="0">
                <a:solidFill>
                  <a:srgbClr val="5EEAD4"/>
                </a:solidFill>
                <a:latin typeface="Georgia" pitchFamily="34" charset="0"/>
                <a:ea typeface="Georgia" pitchFamily="34" charset="-122"/>
                <a:cs typeface="Georgia" pitchFamily="34" charset="-120"/>
              </a:rPr>
              <a:t>02</a:t>
            </a:r>
            <a:endParaRPr lang="en-US" sz="2200" dirty="0"/>
          </a:p>
        </p:txBody>
      </p:sp>
      <p:sp>
        <p:nvSpPr>
          <p:cNvPr id="14" name="Shape 11"/>
          <p:cNvSpPr/>
          <p:nvPr/>
        </p:nvSpPr>
        <p:spPr>
          <a:xfrm>
            <a:off x="4457700" y="3154680"/>
            <a:ext cx="731520" cy="73152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15" name="Image 1" descr="preencoded.png">    </p:cNvPr>
          <p:cNvPicPr>
            <a:picLocks noChangeAspect="1"/>
          </p:cNvPicPr>
          <p:nvPr/>
        </p:nvPicPr>
        <p:blipFill>
          <a:blip r:embed="rId2"/>
          <a:stretch>
            <a:fillRect/>
          </a:stretch>
        </p:blipFill>
        <p:spPr>
          <a:xfrm>
            <a:off x="4640580" y="3337560"/>
            <a:ext cx="365760" cy="365760"/>
          </a:xfrm>
          <a:prstGeom prst="rect">
            <a:avLst/>
          </a:prstGeom>
        </p:spPr>
      </p:pic>
      <p:sp>
        <p:nvSpPr>
          <p:cNvPr id="16" name="Text 12"/>
          <p:cNvSpPr/>
          <p:nvPr/>
        </p:nvSpPr>
        <p:spPr>
          <a:xfrm>
            <a:off x="3703320" y="4023360"/>
            <a:ext cx="224028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Học bài + webcam AI</a:t>
            </a:r>
            <a:endParaRPr lang="en-US" sz="1400" dirty="0"/>
          </a:p>
        </p:txBody>
      </p:sp>
      <p:sp>
        <p:nvSpPr>
          <p:cNvPr id="17" name="Text 13"/>
          <p:cNvSpPr/>
          <p:nvPr/>
        </p:nvSpPr>
        <p:spPr>
          <a:xfrm>
            <a:off x="3703320" y="4572000"/>
            <a:ext cx="2240280" cy="457200"/>
          </a:xfrm>
          <a:prstGeom prst="rect">
            <a:avLst/>
          </a:prstGeom>
          <a:noFill/>
          <a:ln/>
        </p:spPr>
        <p:txBody>
          <a:bodyPr wrap="square" lIns="0" tIns="0" rIns="0" bIns="0" rtlCol="0" anchor="ctr"/>
          <a:lstStyle/>
          <a:p>
            <a:pPr algn="ctr" indent="0" marL="0">
              <a:lnSpc>
                <a:spcPts val="1400"/>
              </a:lnSpc>
              <a:buNone/>
            </a:pPr>
            <a:r>
              <a:rPr lang="en-US" sz="1100" dirty="0">
                <a:solidFill>
                  <a:srgbClr val="B6CBCC"/>
                </a:solidFill>
                <a:latin typeface="Calibri" pitchFamily="34" charset="0"/>
                <a:ea typeface="Calibri" pitchFamily="34" charset="-122"/>
                <a:cs typeface="Calibri" pitchFamily="34" charset="-120"/>
              </a:rPr>
              <a:t>Cảnh báo tập trung thời gian thực</a:t>
            </a:r>
            <a:endParaRPr lang="en-US" sz="1100" dirty="0"/>
          </a:p>
        </p:txBody>
      </p:sp>
      <p:sp>
        <p:nvSpPr>
          <p:cNvPr id="18" name="Shape 14"/>
          <p:cNvSpPr/>
          <p:nvPr/>
        </p:nvSpPr>
        <p:spPr>
          <a:xfrm>
            <a:off x="6309360" y="2468880"/>
            <a:ext cx="2514600" cy="2651760"/>
          </a:xfrm>
          <a:prstGeom prst="roundRect">
            <a:avLst>
              <a:gd name="adj" fmla="val 4364"/>
            </a:avLst>
          </a:prstGeom>
          <a:solidFill>
            <a:srgbClr val="12393F"/>
          </a:solidFill>
          <a:ln w="15240">
            <a:solidFill>
              <a:srgbClr val="0D9488"/>
            </a:solidFill>
            <a:prstDash val="solid"/>
          </a:ln>
        </p:spPr>
      </p:sp>
      <p:sp>
        <p:nvSpPr>
          <p:cNvPr id="19" name="Text 15"/>
          <p:cNvSpPr/>
          <p:nvPr/>
        </p:nvSpPr>
        <p:spPr>
          <a:xfrm>
            <a:off x="6309360" y="2606040"/>
            <a:ext cx="2514600" cy="548640"/>
          </a:xfrm>
          <a:prstGeom prst="rect">
            <a:avLst/>
          </a:prstGeom>
          <a:noFill/>
          <a:ln/>
        </p:spPr>
        <p:txBody>
          <a:bodyPr wrap="square" lIns="0" tIns="0" rIns="0" bIns="0" rtlCol="0" anchor="ctr"/>
          <a:lstStyle/>
          <a:p>
            <a:pPr algn="ctr" indent="0" marL="0">
              <a:buNone/>
            </a:pPr>
            <a:r>
              <a:rPr lang="en-US" sz="2200" b="1" dirty="0">
                <a:solidFill>
                  <a:srgbClr val="5EEAD4"/>
                </a:solidFill>
                <a:latin typeface="Georgia" pitchFamily="34" charset="0"/>
                <a:ea typeface="Georgia" pitchFamily="34" charset="-122"/>
                <a:cs typeface="Georgia" pitchFamily="34" charset="-120"/>
              </a:rPr>
              <a:t>03</a:t>
            </a:r>
            <a:endParaRPr lang="en-US" sz="2200" dirty="0"/>
          </a:p>
        </p:txBody>
      </p:sp>
      <p:sp>
        <p:nvSpPr>
          <p:cNvPr id="20" name="Shape 16"/>
          <p:cNvSpPr/>
          <p:nvPr/>
        </p:nvSpPr>
        <p:spPr>
          <a:xfrm>
            <a:off x="7200900" y="3154680"/>
            <a:ext cx="731520" cy="73152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21" name="Image 2" descr="preencoded.png">    </p:cNvPr>
          <p:cNvPicPr>
            <a:picLocks noChangeAspect="1"/>
          </p:cNvPicPr>
          <p:nvPr/>
        </p:nvPicPr>
        <p:blipFill>
          <a:blip r:embed="rId3"/>
          <a:stretch>
            <a:fillRect/>
          </a:stretch>
        </p:blipFill>
        <p:spPr>
          <a:xfrm>
            <a:off x="7383780" y="3337560"/>
            <a:ext cx="365760" cy="365760"/>
          </a:xfrm>
          <a:prstGeom prst="rect">
            <a:avLst/>
          </a:prstGeom>
        </p:spPr>
      </p:pic>
      <p:sp>
        <p:nvSpPr>
          <p:cNvPr id="22" name="Text 17"/>
          <p:cNvSpPr/>
          <p:nvPr/>
        </p:nvSpPr>
        <p:spPr>
          <a:xfrm>
            <a:off x="6446520" y="4023360"/>
            <a:ext cx="224028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Làm quiz thích ứng</a:t>
            </a:r>
            <a:endParaRPr lang="en-US" sz="1400" dirty="0"/>
          </a:p>
        </p:txBody>
      </p:sp>
      <p:sp>
        <p:nvSpPr>
          <p:cNvPr id="23" name="Text 18"/>
          <p:cNvSpPr/>
          <p:nvPr/>
        </p:nvSpPr>
        <p:spPr>
          <a:xfrm>
            <a:off x="6446520" y="4572000"/>
            <a:ext cx="2240280" cy="457200"/>
          </a:xfrm>
          <a:prstGeom prst="rect">
            <a:avLst/>
          </a:prstGeom>
          <a:noFill/>
          <a:ln/>
        </p:spPr>
        <p:txBody>
          <a:bodyPr wrap="square" lIns="0" tIns="0" rIns="0" bIns="0" rtlCol="0" anchor="ctr"/>
          <a:lstStyle/>
          <a:p>
            <a:pPr algn="ctr" indent="0" marL="0">
              <a:lnSpc>
                <a:spcPts val="1400"/>
              </a:lnSpc>
              <a:buNone/>
            </a:pPr>
            <a:r>
              <a:rPr lang="en-US" sz="1100" dirty="0">
                <a:solidFill>
                  <a:srgbClr val="B6CBCC"/>
                </a:solidFill>
                <a:latin typeface="Calibri" pitchFamily="34" charset="0"/>
                <a:ea typeface="Calibri" pitchFamily="34" charset="-122"/>
                <a:cs typeface="Calibri" pitchFamily="34" charset="-120"/>
              </a:rPr>
              <a:t>Độ khó thay đổi theo câu trả lời</a:t>
            </a:r>
            <a:endParaRPr lang="en-US" sz="1100" dirty="0"/>
          </a:p>
        </p:txBody>
      </p:sp>
      <p:sp>
        <p:nvSpPr>
          <p:cNvPr id="24" name="Shape 19"/>
          <p:cNvSpPr/>
          <p:nvPr/>
        </p:nvSpPr>
        <p:spPr>
          <a:xfrm>
            <a:off x="9052560" y="2468880"/>
            <a:ext cx="2514600" cy="2651760"/>
          </a:xfrm>
          <a:prstGeom prst="roundRect">
            <a:avLst>
              <a:gd name="adj" fmla="val 4364"/>
            </a:avLst>
          </a:prstGeom>
          <a:solidFill>
            <a:srgbClr val="12393F"/>
          </a:solidFill>
          <a:ln w="15240">
            <a:solidFill>
              <a:srgbClr val="0D9488"/>
            </a:solidFill>
            <a:prstDash val="solid"/>
          </a:ln>
        </p:spPr>
      </p:sp>
      <p:sp>
        <p:nvSpPr>
          <p:cNvPr id="25" name="Text 20"/>
          <p:cNvSpPr/>
          <p:nvPr/>
        </p:nvSpPr>
        <p:spPr>
          <a:xfrm>
            <a:off x="9052560" y="2606040"/>
            <a:ext cx="2514600" cy="548640"/>
          </a:xfrm>
          <a:prstGeom prst="rect">
            <a:avLst/>
          </a:prstGeom>
          <a:noFill/>
          <a:ln/>
        </p:spPr>
        <p:txBody>
          <a:bodyPr wrap="square" lIns="0" tIns="0" rIns="0" bIns="0" rtlCol="0" anchor="ctr"/>
          <a:lstStyle/>
          <a:p>
            <a:pPr algn="ctr" indent="0" marL="0">
              <a:buNone/>
            </a:pPr>
            <a:r>
              <a:rPr lang="en-US" sz="2200" b="1" dirty="0">
                <a:solidFill>
                  <a:srgbClr val="5EEAD4"/>
                </a:solidFill>
                <a:latin typeface="Georgia" pitchFamily="34" charset="0"/>
                <a:ea typeface="Georgia" pitchFamily="34" charset="-122"/>
                <a:cs typeface="Georgia" pitchFamily="34" charset="-120"/>
              </a:rPr>
              <a:t>04</a:t>
            </a:r>
            <a:endParaRPr lang="en-US" sz="2200" dirty="0"/>
          </a:p>
        </p:txBody>
      </p:sp>
      <p:sp>
        <p:nvSpPr>
          <p:cNvPr id="26" name="Shape 21"/>
          <p:cNvSpPr/>
          <p:nvPr/>
        </p:nvSpPr>
        <p:spPr>
          <a:xfrm>
            <a:off x="9944100" y="3154680"/>
            <a:ext cx="731520" cy="73152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27" name="Image 3" descr="preencoded.png">    </p:cNvPr>
          <p:cNvPicPr>
            <a:picLocks noChangeAspect="1"/>
          </p:cNvPicPr>
          <p:nvPr/>
        </p:nvPicPr>
        <p:blipFill>
          <a:blip r:embed="rId4"/>
          <a:stretch>
            <a:fillRect/>
          </a:stretch>
        </p:blipFill>
        <p:spPr>
          <a:xfrm>
            <a:off x="10126980" y="3337560"/>
            <a:ext cx="365760" cy="365760"/>
          </a:xfrm>
          <a:prstGeom prst="rect">
            <a:avLst/>
          </a:prstGeom>
        </p:spPr>
      </p:pic>
      <p:sp>
        <p:nvSpPr>
          <p:cNvPr id="28" name="Text 22"/>
          <p:cNvSpPr/>
          <p:nvPr/>
        </p:nvSpPr>
        <p:spPr>
          <a:xfrm>
            <a:off x="9189720" y="4023360"/>
            <a:ext cx="224028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Dashboard admin</a:t>
            </a:r>
            <a:endParaRPr lang="en-US" sz="1400" dirty="0"/>
          </a:p>
        </p:txBody>
      </p:sp>
      <p:sp>
        <p:nvSpPr>
          <p:cNvPr id="29" name="Text 23"/>
          <p:cNvSpPr/>
          <p:nvPr/>
        </p:nvSpPr>
        <p:spPr>
          <a:xfrm>
            <a:off x="9189720" y="4572000"/>
            <a:ext cx="2240280" cy="457200"/>
          </a:xfrm>
          <a:prstGeom prst="rect">
            <a:avLst/>
          </a:prstGeom>
          <a:noFill/>
          <a:ln/>
        </p:spPr>
        <p:txBody>
          <a:bodyPr wrap="square" lIns="0" tIns="0" rIns="0" bIns="0" rtlCol="0" anchor="ctr"/>
          <a:lstStyle/>
          <a:p>
            <a:pPr algn="ctr" indent="0" marL="0">
              <a:lnSpc>
                <a:spcPts val="1400"/>
              </a:lnSpc>
              <a:buNone/>
            </a:pPr>
            <a:r>
              <a:rPr lang="en-US" sz="1100" dirty="0">
                <a:solidFill>
                  <a:srgbClr val="B6CBCC"/>
                </a:solidFill>
                <a:latin typeface="Calibri" pitchFamily="34" charset="0"/>
                <a:ea typeface="Calibri" pitchFamily="34" charset="-122"/>
                <a:cs typeface="Calibri" pitchFamily="34" charset="-120"/>
              </a:rPr>
              <a:t>Thống kê toàn hệ thống</a:t>
            </a:r>
            <a:endParaRPr lang="en-US" sz="1100" dirty="0"/>
          </a:p>
        </p:txBody>
      </p:sp>
      <p:sp>
        <p:nvSpPr>
          <p:cNvPr id="30" name="Text 24"/>
          <p:cNvSpPr/>
          <p:nvPr/>
        </p:nvSpPr>
        <p:spPr>
          <a:xfrm>
            <a:off x="822960" y="5486400"/>
            <a:ext cx="10515600" cy="457200"/>
          </a:xfrm>
          <a:prstGeom prst="rect">
            <a:avLst/>
          </a:prstGeom>
          <a:noFill/>
          <a:ln/>
        </p:spPr>
        <p:txBody>
          <a:bodyPr wrap="square" lIns="0" tIns="0" rIns="0" bIns="0" rtlCol="0" anchor="ctr"/>
          <a:lstStyle/>
          <a:p>
            <a:pPr algn="ctr" indent="0" marL="0">
              <a:buNone/>
            </a:pPr>
            <a:r>
              <a:rPr lang="en-US" sz="1400" i="1" dirty="0">
                <a:solidFill>
                  <a:srgbClr val="CBD5E1"/>
                </a:solidFill>
                <a:latin typeface="Calibri" pitchFamily="34" charset="0"/>
                <a:ea typeface="Calibri" pitchFamily="34" charset="-122"/>
                <a:cs typeface="Calibri" pitchFamily="34" charset="-120"/>
              </a:rPr>
              <a:t>Phần demo trực tiếp trên trình duyệt — chuyển sang ứng dụng để minh họa.</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200" b="1" spc="300" kern="0" dirty="0">
                <a:solidFill>
                  <a:srgbClr val="0D9488"/>
                </a:solidFill>
                <a:latin typeface="Calibri" pitchFamily="34" charset="0"/>
                <a:ea typeface="Calibri" pitchFamily="34" charset="-122"/>
                <a:cs typeface="Calibri" pitchFamily="34" charset="-120"/>
              </a:rPr>
              <a:t>KẾT QUẢ</a:t>
            </a:r>
            <a:endParaRPr lang="en-US" sz="1200" dirty="0"/>
          </a:p>
        </p:txBody>
      </p:sp>
      <p:sp>
        <p:nvSpPr>
          <p:cNvPr id="3" name="Text 1"/>
          <p:cNvSpPr/>
          <p:nvPr/>
        </p:nvSpPr>
        <p:spPr>
          <a:xfrm>
            <a:off x="548640" y="822960"/>
            <a:ext cx="10698480" cy="822960"/>
          </a:xfrm>
          <a:prstGeom prst="rect">
            <a:avLst/>
          </a:prstGeom>
          <a:noFill/>
          <a:ln/>
        </p:spPr>
        <p:txBody>
          <a:bodyPr wrap="square" lIns="0" tIns="0" rIns="0" bIns="0" rtlCol="0" anchor="ctr"/>
          <a:lstStyle/>
          <a:p>
            <a:pPr algn="l" indent="0" marL="0">
              <a:buNone/>
            </a:pPr>
            <a:r>
              <a:rPr lang="en-US" sz="3100" b="1" dirty="0">
                <a:solidFill>
                  <a:srgbClr val="1E293B"/>
                </a:solidFill>
                <a:latin typeface="Georgia" pitchFamily="34" charset="0"/>
                <a:ea typeface="Georgia" pitchFamily="34" charset="-122"/>
                <a:cs typeface="Georgia" pitchFamily="34" charset="-120"/>
              </a:rPr>
              <a:t>Kết quả đạt được</a:t>
            </a:r>
            <a:endParaRPr lang="en-US" sz="31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Hệ thống học tập trực tuyến với AI</a:t>
            </a:r>
            <a:endParaRPr lang="en-US" sz="900" dirty="0"/>
          </a:p>
        </p:txBody>
      </p:sp>
      <p:sp>
        <p:nvSpPr>
          <p:cNvPr id="5" name="Text 3"/>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25</a:t>
            </a:r>
            <a:endParaRPr lang="en-US" sz="900" dirty="0"/>
          </a:p>
        </p:txBody>
      </p:sp>
      <p:sp>
        <p:nvSpPr>
          <p:cNvPr id="6" name="Shape 4"/>
          <p:cNvSpPr/>
          <p:nvPr/>
        </p:nvSpPr>
        <p:spPr>
          <a:xfrm>
            <a:off x="548640" y="2103120"/>
            <a:ext cx="2606040" cy="2194560"/>
          </a:xfrm>
          <a:prstGeom prst="roundRect">
            <a:avLst>
              <a:gd name="adj" fmla="val 5000"/>
            </a:avLst>
          </a:prstGeom>
          <a:solidFill>
            <a:srgbClr val="F1F5F9"/>
          </a:solidFill>
          <a:ln/>
          <a:effectLst>
            <a:outerShdw sx="100000" sy="100000" kx="0" ky="0" algn="bl" rotWithShape="0" blurRad="101600" dist="38100" dir="8100000">
              <a:srgbClr val="0B2E33">
                <a:alpha val="12000"/>
              </a:srgbClr>
            </a:outerShdw>
          </a:effectLst>
        </p:spPr>
      </p:sp>
      <p:sp>
        <p:nvSpPr>
          <p:cNvPr id="7" name="Text 5"/>
          <p:cNvSpPr/>
          <p:nvPr/>
        </p:nvSpPr>
        <p:spPr>
          <a:xfrm>
            <a:off x="548640" y="2331720"/>
            <a:ext cx="2606040" cy="1005840"/>
          </a:xfrm>
          <a:prstGeom prst="rect">
            <a:avLst/>
          </a:prstGeom>
          <a:noFill/>
          <a:ln/>
        </p:spPr>
        <p:txBody>
          <a:bodyPr wrap="square" lIns="0" tIns="0" rIns="0" bIns="0" rtlCol="0" anchor="ctr"/>
          <a:lstStyle/>
          <a:p>
            <a:pPr algn="ctr" indent="0" marL="0">
              <a:buNone/>
            </a:pPr>
            <a:r>
              <a:rPr lang="en-US" sz="5800" b="1" dirty="0">
                <a:solidFill>
                  <a:srgbClr val="0D9488"/>
                </a:solidFill>
                <a:latin typeface="Georgia" pitchFamily="34" charset="0"/>
                <a:ea typeface="Georgia" pitchFamily="34" charset="-122"/>
                <a:cs typeface="Georgia" pitchFamily="34" charset="-120"/>
              </a:rPr>
              <a:t>11</a:t>
            </a:r>
            <a:endParaRPr lang="en-US" sz="5800" dirty="0"/>
          </a:p>
        </p:txBody>
      </p:sp>
      <p:sp>
        <p:nvSpPr>
          <p:cNvPr id="8" name="Text 6"/>
          <p:cNvSpPr/>
          <p:nvPr/>
        </p:nvSpPr>
        <p:spPr>
          <a:xfrm>
            <a:off x="731520" y="3383280"/>
            <a:ext cx="2240280" cy="777240"/>
          </a:xfrm>
          <a:prstGeom prst="rect">
            <a:avLst/>
          </a:prstGeom>
          <a:noFill/>
          <a:ln/>
        </p:spPr>
        <p:txBody>
          <a:bodyPr wrap="square" lIns="0" tIns="0" rIns="0" bIns="0" rtlCol="0" anchor="ctr"/>
          <a:lstStyle/>
          <a:p>
            <a:pPr algn="ctr" indent="0" marL="0">
              <a:lnSpc>
                <a:spcPts val="1700"/>
              </a:lnSpc>
              <a:buNone/>
            </a:pPr>
            <a:r>
              <a:rPr lang="en-US" sz="1300" dirty="0">
                <a:solidFill>
                  <a:srgbClr val="1E293B"/>
                </a:solidFill>
                <a:latin typeface="Calibri" pitchFamily="34" charset="0"/>
                <a:ea typeface="Calibri" pitchFamily="34" charset="-122"/>
                <a:cs typeface="Calibri" pitchFamily="34" charset="-120"/>
              </a:rPr>
              <a:t>bảng dữ liệu được</a:t>
            </a:r>
            <a:endParaRPr lang="en-US" sz="1300" dirty="0"/>
          </a:p>
          <a:p>
            <a:pPr algn="ctr" indent="0" marL="0">
              <a:lnSpc>
                <a:spcPts val="1700"/>
              </a:lnSpc>
              <a:buNone/>
            </a:pPr>
            <a:r>
              <a:rPr lang="en-US" sz="1300" dirty="0">
                <a:solidFill>
                  <a:srgbClr val="1E293B"/>
                </a:solidFill>
                <a:latin typeface="Calibri" pitchFamily="34" charset="0"/>
                <a:ea typeface="Calibri" pitchFamily="34" charset="-122"/>
                <a:cs typeface="Calibri" pitchFamily="34" charset="-120"/>
              </a:rPr>
              <a:t>thiết kế &amp; triển khai</a:t>
            </a:r>
            <a:endParaRPr lang="en-US" sz="1300" dirty="0"/>
          </a:p>
        </p:txBody>
      </p:sp>
      <p:sp>
        <p:nvSpPr>
          <p:cNvPr id="9" name="Shape 7"/>
          <p:cNvSpPr/>
          <p:nvPr/>
        </p:nvSpPr>
        <p:spPr>
          <a:xfrm>
            <a:off x="3337560" y="2103120"/>
            <a:ext cx="2606040" cy="2194560"/>
          </a:xfrm>
          <a:prstGeom prst="roundRect">
            <a:avLst>
              <a:gd name="adj" fmla="val 5000"/>
            </a:avLst>
          </a:prstGeom>
          <a:solidFill>
            <a:srgbClr val="E8F3F2"/>
          </a:solidFill>
          <a:ln/>
          <a:effectLst>
            <a:outerShdw sx="100000" sy="100000" kx="0" ky="0" algn="bl" rotWithShape="0" blurRad="101600" dist="38100" dir="8100000">
              <a:srgbClr val="0B2E33">
                <a:alpha val="12000"/>
              </a:srgbClr>
            </a:outerShdw>
          </a:effectLst>
        </p:spPr>
      </p:sp>
      <p:sp>
        <p:nvSpPr>
          <p:cNvPr id="10" name="Text 8"/>
          <p:cNvSpPr/>
          <p:nvPr/>
        </p:nvSpPr>
        <p:spPr>
          <a:xfrm>
            <a:off x="3337560" y="2331720"/>
            <a:ext cx="2606040" cy="1005840"/>
          </a:xfrm>
          <a:prstGeom prst="rect">
            <a:avLst/>
          </a:prstGeom>
          <a:noFill/>
          <a:ln/>
        </p:spPr>
        <p:txBody>
          <a:bodyPr wrap="square" lIns="0" tIns="0" rIns="0" bIns="0" rtlCol="0" anchor="ctr"/>
          <a:lstStyle/>
          <a:p>
            <a:pPr algn="ctr" indent="0" marL="0">
              <a:buNone/>
            </a:pPr>
            <a:r>
              <a:rPr lang="en-US" sz="5800" b="1" dirty="0">
                <a:solidFill>
                  <a:srgbClr val="14B8A6"/>
                </a:solidFill>
                <a:latin typeface="Georgia" pitchFamily="34" charset="0"/>
                <a:ea typeface="Georgia" pitchFamily="34" charset="-122"/>
                <a:cs typeface="Georgia" pitchFamily="34" charset="-120"/>
              </a:rPr>
              <a:t>10</a:t>
            </a:r>
            <a:endParaRPr lang="en-US" sz="5800" dirty="0"/>
          </a:p>
        </p:txBody>
      </p:sp>
      <p:sp>
        <p:nvSpPr>
          <p:cNvPr id="11" name="Text 9"/>
          <p:cNvSpPr/>
          <p:nvPr/>
        </p:nvSpPr>
        <p:spPr>
          <a:xfrm>
            <a:off x="3520440" y="3383280"/>
            <a:ext cx="2240280" cy="777240"/>
          </a:xfrm>
          <a:prstGeom prst="rect">
            <a:avLst/>
          </a:prstGeom>
          <a:noFill/>
          <a:ln/>
        </p:spPr>
        <p:txBody>
          <a:bodyPr wrap="square" lIns="0" tIns="0" rIns="0" bIns="0" rtlCol="0" anchor="ctr"/>
          <a:lstStyle/>
          <a:p>
            <a:pPr algn="ctr" indent="0" marL="0">
              <a:lnSpc>
                <a:spcPts val="1700"/>
              </a:lnSpc>
              <a:buNone/>
            </a:pPr>
            <a:r>
              <a:rPr lang="en-US" sz="1300" dirty="0">
                <a:solidFill>
                  <a:srgbClr val="1E293B"/>
                </a:solidFill>
                <a:latin typeface="Calibri" pitchFamily="34" charset="0"/>
                <a:ea typeface="Calibri" pitchFamily="34" charset="-122"/>
                <a:cs typeface="Calibri" pitchFamily="34" charset="-120"/>
              </a:rPr>
              <a:t>module chức năng</a:t>
            </a:r>
            <a:endParaRPr lang="en-US" sz="1300" dirty="0"/>
          </a:p>
          <a:p>
            <a:pPr algn="ctr" indent="0" marL="0">
              <a:lnSpc>
                <a:spcPts val="1700"/>
              </a:lnSpc>
              <a:buNone/>
            </a:pPr>
            <a:r>
              <a:rPr lang="en-US" sz="1300" dirty="0">
                <a:solidFill>
                  <a:srgbClr val="1E293B"/>
                </a:solidFill>
                <a:latin typeface="Calibri" pitchFamily="34" charset="0"/>
                <a:ea typeface="Calibri" pitchFamily="34" charset="-122"/>
                <a:cs typeface="Calibri" pitchFamily="34" charset="-120"/>
              </a:rPr>
              <a:t>hoàn thiện</a:t>
            </a:r>
            <a:endParaRPr lang="en-US" sz="1300" dirty="0"/>
          </a:p>
        </p:txBody>
      </p:sp>
      <p:sp>
        <p:nvSpPr>
          <p:cNvPr id="12" name="Shape 10"/>
          <p:cNvSpPr/>
          <p:nvPr/>
        </p:nvSpPr>
        <p:spPr>
          <a:xfrm>
            <a:off x="6126480" y="2103120"/>
            <a:ext cx="2606040" cy="2194560"/>
          </a:xfrm>
          <a:prstGeom prst="roundRect">
            <a:avLst>
              <a:gd name="adj" fmla="val 5000"/>
            </a:avLst>
          </a:prstGeom>
          <a:solidFill>
            <a:srgbClr val="F1F5F9"/>
          </a:solidFill>
          <a:ln/>
          <a:effectLst>
            <a:outerShdw sx="100000" sy="100000" kx="0" ky="0" algn="bl" rotWithShape="0" blurRad="101600" dist="38100" dir="8100000">
              <a:srgbClr val="0B2E33">
                <a:alpha val="12000"/>
              </a:srgbClr>
            </a:outerShdw>
          </a:effectLst>
        </p:spPr>
      </p:sp>
      <p:sp>
        <p:nvSpPr>
          <p:cNvPr id="13" name="Text 11"/>
          <p:cNvSpPr/>
          <p:nvPr/>
        </p:nvSpPr>
        <p:spPr>
          <a:xfrm>
            <a:off x="6126480" y="2331720"/>
            <a:ext cx="2606040" cy="1005840"/>
          </a:xfrm>
          <a:prstGeom prst="rect">
            <a:avLst/>
          </a:prstGeom>
          <a:noFill/>
          <a:ln/>
        </p:spPr>
        <p:txBody>
          <a:bodyPr wrap="square" lIns="0" tIns="0" rIns="0" bIns="0" rtlCol="0" anchor="ctr"/>
          <a:lstStyle/>
          <a:p>
            <a:pPr algn="ctr" indent="0" marL="0">
              <a:buNone/>
            </a:pPr>
            <a:r>
              <a:rPr lang="en-US" sz="5800" b="1" dirty="0">
                <a:solidFill>
                  <a:srgbClr val="F4A259"/>
                </a:solidFill>
                <a:latin typeface="Georgia" pitchFamily="34" charset="0"/>
                <a:ea typeface="Georgia" pitchFamily="34" charset="-122"/>
                <a:cs typeface="Georgia" pitchFamily="34" charset="-120"/>
              </a:rPr>
              <a:t>4</a:t>
            </a:r>
            <a:endParaRPr lang="en-US" sz="5800" dirty="0"/>
          </a:p>
        </p:txBody>
      </p:sp>
      <p:sp>
        <p:nvSpPr>
          <p:cNvPr id="14" name="Text 12"/>
          <p:cNvSpPr/>
          <p:nvPr/>
        </p:nvSpPr>
        <p:spPr>
          <a:xfrm>
            <a:off x="6309360" y="3383280"/>
            <a:ext cx="2240280" cy="777240"/>
          </a:xfrm>
          <a:prstGeom prst="rect">
            <a:avLst/>
          </a:prstGeom>
          <a:noFill/>
          <a:ln/>
        </p:spPr>
        <p:txBody>
          <a:bodyPr wrap="square" lIns="0" tIns="0" rIns="0" bIns="0" rtlCol="0" anchor="ctr"/>
          <a:lstStyle/>
          <a:p>
            <a:pPr algn="ctr" indent="0" marL="0">
              <a:lnSpc>
                <a:spcPts val="1700"/>
              </a:lnSpc>
              <a:buNone/>
            </a:pPr>
            <a:r>
              <a:rPr lang="en-US" sz="1300" dirty="0">
                <a:solidFill>
                  <a:srgbClr val="1E293B"/>
                </a:solidFill>
                <a:latin typeface="Calibri" pitchFamily="34" charset="0"/>
                <a:ea typeface="Calibri" pitchFamily="34" charset="-122"/>
                <a:cs typeface="Calibri" pitchFamily="34" charset="-120"/>
              </a:rPr>
              <a:t>trạng thái tập trung</a:t>
            </a:r>
            <a:endParaRPr lang="en-US" sz="1300" dirty="0"/>
          </a:p>
          <a:p>
            <a:pPr algn="ctr" indent="0" marL="0">
              <a:lnSpc>
                <a:spcPts val="1700"/>
              </a:lnSpc>
              <a:buNone/>
            </a:pPr>
            <a:r>
              <a:rPr lang="en-US" sz="1300" dirty="0">
                <a:solidFill>
                  <a:srgbClr val="1E293B"/>
                </a:solidFill>
                <a:latin typeface="Calibri" pitchFamily="34" charset="0"/>
                <a:ea typeface="Calibri" pitchFamily="34" charset="-122"/>
                <a:cs typeface="Calibri" pitchFamily="34" charset="-120"/>
              </a:rPr>
              <a:t>nhận diện bằng AI</a:t>
            </a:r>
            <a:endParaRPr lang="en-US" sz="1300" dirty="0"/>
          </a:p>
        </p:txBody>
      </p:sp>
      <p:sp>
        <p:nvSpPr>
          <p:cNvPr id="15" name="Shape 13"/>
          <p:cNvSpPr/>
          <p:nvPr/>
        </p:nvSpPr>
        <p:spPr>
          <a:xfrm>
            <a:off x="8915400" y="2103120"/>
            <a:ext cx="2606040" cy="2194560"/>
          </a:xfrm>
          <a:prstGeom prst="roundRect">
            <a:avLst>
              <a:gd name="adj" fmla="val 5000"/>
            </a:avLst>
          </a:prstGeom>
          <a:solidFill>
            <a:srgbClr val="E8F3F2"/>
          </a:solidFill>
          <a:ln/>
          <a:effectLst>
            <a:outerShdw sx="100000" sy="100000" kx="0" ky="0" algn="bl" rotWithShape="0" blurRad="101600" dist="38100" dir="8100000">
              <a:srgbClr val="0B2E33">
                <a:alpha val="12000"/>
              </a:srgbClr>
            </a:outerShdw>
          </a:effectLst>
        </p:spPr>
      </p:sp>
      <p:sp>
        <p:nvSpPr>
          <p:cNvPr id="16" name="Text 14"/>
          <p:cNvSpPr/>
          <p:nvPr/>
        </p:nvSpPr>
        <p:spPr>
          <a:xfrm>
            <a:off x="8915400" y="2331720"/>
            <a:ext cx="2606040" cy="1005840"/>
          </a:xfrm>
          <a:prstGeom prst="rect">
            <a:avLst/>
          </a:prstGeom>
          <a:noFill/>
          <a:ln/>
        </p:spPr>
        <p:txBody>
          <a:bodyPr wrap="square" lIns="0" tIns="0" rIns="0" bIns="0" rtlCol="0" anchor="ctr"/>
          <a:lstStyle/>
          <a:p>
            <a:pPr algn="ctr" indent="0" marL="0">
              <a:buNone/>
            </a:pPr>
            <a:r>
              <a:rPr lang="en-US" sz="5800" b="1" dirty="0">
                <a:solidFill>
                  <a:srgbClr val="0B2E33"/>
                </a:solidFill>
                <a:latin typeface="Georgia" pitchFamily="34" charset="0"/>
                <a:ea typeface="Georgia" pitchFamily="34" charset="-122"/>
                <a:cs typeface="Georgia" pitchFamily="34" charset="-120"/>
              </a:rPr>
              <a:t>3</a:t>
            </a:r>
            <a:endParaRPr lang="en-US" sz="5800" dirty="0"/>
          </a:p>
        </p:txBody>
      </p:sp>
      <p:sp>
        <p:nvSpPr>
          <p:cNvPr id="17" name="Text 15"/>
          <p:cNvSpPr/>
          <p:nvPr/>
        </p:nvSpPr>
        <p:spPr>
          <a:xfrm>
            <a:off x="9098280" y="3383280"/>
            <a:ext cx="2240280" cy="777240"/>
          </a:xfrm>
          <a:prstGeom prst="rect">
            <a:avLst/>
          </a:prstGeom>
          <a:noFill/>
          <a:ln/>
        </p:spPr>
        <p:txBody>
          <a:bodyPr wrap="square" lIns="0" tIns="0" rIns="0" bIns="0" rtlCol="0" anchor="ctr"/>
          <a:lstStyle/>
          <a:p>
            <a:pPr algn="ctr" indent="0" marL="0">
              <a:lnSpc>
                <a:spcPts val="1700"/>
              </a:lnSpc>
              <a:buNone/>
            </a:pPr>
            <a:r>
              <a:rPr lang="en-US" sz="1300" dirty="0">
                <a:solidFill>
                  <a:srgbClr val="1E293B"/>
                </a:solidFill>
                <a:latin typeface="Calibri" pitchFamily="34" charset="0"/>
                <a:ea typeface="Calibri" pitchFamily="34" charset="-122"/>
                <a:cs typeface="Calibri" pitchFamily="34" charset="-120"/>
              </a:rPr>
              <a:t>mức độ khó quiz</a:t>
            </a:r>
            <a:endParaRPr lang="en-US" sz="1300" dirty="0"/>
          </a:p>
          <a:p>
            <a:pPr algn="ctr" indent="0" marL="0">
              <a:lnSpc>
                <a:spcPts val="1700"/>
              </a:lnSpc>
              <a:buNone/>
            </a:pPr>
            <a:r>
              <a:rPr lang="en-US" sz="1300" dirty="0">
                <a:solidFill>
                  <a:srgbClr val="1E293B"/>
                </a:solidFill>
                <a:latin typeface="Calibri" pitchFamily="34" charset="0"/>
                <a:ea typeface="Calibri" pitchFamily="34" charset="-122"/>
                <a:cs typeface="Calibri" pitchFamily="34" charset="-120"/>
              </a:rPr>
              <a:t>thích ứng tự động</a:t>
            </a:r>
            <a:endParaRPr lang="en-US" sz="1300" dirty="0"/>
          </a:p>
        </p:txBody>
      </p:sp>
      <p:sp>
        <p:nvSpPr>
          <p:cNvPr id="18" name="Shape 16"/>
          <p:cNvSpPr/>
          <p:nvPr/>
        </p:nvSpPr>
        <p:spPr>
          <a:xfrm>
            <a:off x="548640" y="4617720"/>
            <a:ext cx="11064240" cy="1280160"/>
          </a:xfrm>
          <a:prstGeom prst="roundRect">
            <a:avLst>
              <a:gd name="adj" fmla="val 8571"/>
            </a:avLst>
          </a:prstGeom>
          <a:solidFill>
            <a:srgbClr val="0B2E33"/>
          </a:solidFill>
          <a:ln/>
        </p:spPr>
      </p:sp>
      <p:sp>
        <p:nvSpPr>
          <p:cNvPr id="19" name="Text 17"/>
          <p:cNvSpPr/>
          <p:nvPr/>
        </p:nvSpPr>
        <p:spPr>
          <a:xfrm>
            <a:off x="914400" y="4617720"/>
            <a:ext cx="10332720" cy="1280160"/>
          </a:xfrm>
          <a:prstGeom prst="rect">
            <a:avLst/>
          </a:prstGeom>
          <a:noFill/>
          <a:ln/>
        </p:spPr>
        <p:txBody>
          <a:bodyPr wrap="square" lIns="0" tIns="0" rIns="0" bIns="0" rtlCol="0" anchor="ctr"/>
          <a:lstStyle/>
          <a:p>
            <a:pPr indent="0" marL="0">
              <a:lnSpc>
                <a:spcPts val="2200"/>
              </a:lnSpc>
              <a:buNone/>
            </a:pPr>
            <a:r>
              <a:rPr lang="en-US" sz="1550" b="1" dirty="0">
                <a:solidFill>
                  <a:srgbClr val="5EEAD4"/>
                </a:solidFill>
                <a:latin typeface="Calibri" pitchFamily="34" charset="0"/>
                <a:ea typeface="Calibri" pitchFamily="34" charset="-122"/>
                <a:cs typeface="Calibri" pitchFamily="34" charset="-120"/>
              </a:rPr>
              <a:t>Đã chạy được end-to-end:  </a:t>
            </a:r>
            <a:pPr indent="0" marL="0">
              <a:lnSpc>
                <a:spcPts val="2200"/>
              </a:lnSpc>
              <a:buNone/>
            </a:pPr>
            <a:r>
              <a:rPr lang="en-US" sz="1550" dirty="0">
                <a:solidFill>
                  <a:srgbClr val="E2E8F0"/>
                </a:solidFill>
                <a:latin typeface="Calibri" pitchFamily="34" charset="0"/>
                <a:ea typeface="Calibri" pitchFamily="34" charset="-122"/>
                <a:cs typeface="Calibri" pitchFamily="34" charset="-120"/>
              </a:rPr>
              <a:t>đăng nhập → xem bài + webcam AI → quiz thích ứng → feedback → dashboard thống kê.</a:t>
            </a:r>
            <a:endParaRPr lang="en-US" sz="15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lIns="0" tIns="0" rIns="0" bIns="0" rtlCol="0" anchor="ctr"/>
          <a:lstStyle/>
          <a:p>
            <a:pPr algn="l" indent="0" marL="0">
              <a:buNone/>
            </a:pPr>
            <a:r>
              <a:rPr lang="en-US" sz="1200" b="1" spc="300" kern="0" dirty="0">
                <a:solidFill>
                  <a:srgbClr val="0D9488"/>
                </a:solidFill>
                <a:latin typeface="Calibri" pitchFamily="34" charset="0"/>
                <a:ea typeface="Calibri" pitchFamily="34" charset="-122"/>
                <a:cs typeface="Calibri" pitchFamily="34" charset="-120"/>
              </a:rPr>
              <a:t>ĐÁNH GIÁ</a:t>
            </a:r>
            <a:endParaRPr lang="en-US" sz="1200" dirty="0"/>
          </a:p>
        </p:txBody>
      </p:sp>
      <p:sp>
        <p:nvSpPr>
          <p:cNvPr id="3" name="Text 1"/>
          <p:cNvSpPr/>
          <p:nvPr/>
        </p:nvSpPr>
        <p:spPr>
          <a:xfrm>
            <a:off x="548640" y="822960"/>
            <a:ext cx="10698480" cy="822960"/>
          </a:xfrm>
          <a:prstGeom prst="rect">
            <a:avLst/>
          </a:prstGeom>
          <a:noFill/>
          <a:ln/>
        </p:spPr>
        <p:txBody>
          <a:bodyPr wrap="square" lIns="0" tIns="0" rIns="0" bIns="0" rtlCol="0" anchor="ctr"/>
          <a:lstStyle/>
          <a:p>
            <a:pPr algn="l" indent="0" marL="0">
              <a:buNone/>
            </a:pPr>
            <a:r>
              <a:rPr lang="en-US" sz="3100" b="1" dirty="0">
                <a:solidFill>
                  <a:srgbClr val="1E293B"/>
                </a:solidFill>
                <a:latin typeface="Georgia" pitchFamily="34" charset="0"/>
                <a:ea typeface="Georgia" pitchFamily="34" charset="-122"/>
                <a:cs typeface="Georgia" pitchFamily="34" charset="-120"/>
              </a:rPr>
              <a:t>Hạn chế &amp; Hướng phát triển</a:t>
            </a:r>
            <a:endParaRPr lang="en-US" sz="31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Hệ thống học tập trực tuyến với AI</a:t>
            </a:r>
            <a:endParaRPr lang="en-US" sz="900" dirty="0"/>
          </a:p>
        </p:txBody>
      </p:sp>
      <p:sp>
        <p:nvSpPr>
          <p:cNvPr id="5" name="Text 3"/>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26</a:t>
            </a:r>
            <a:endParaRPr lang="en-US" sz="900" dirty="0"/>
          </a:p>
        </p:txBody>
      </p:sp>
      <p:sp>
        <p:nvSpPr>
          <p:cNvPr id="6" name="Shape 4"/>
          <p:cNvSpPr/>
          <p:nvPr/>
        </p:nvSpPr>
        <p:spPr>
          <a:xfrm>
            <a:off x="548640" y="1920240"/>
            <a:ext cx="5440680" cy="4023360"/>
          </a:xfrm>
          <a:prstGeom prst="roundRect">
            <a:avLst>
              <a:gd name="adj" fmla="val 2727"/>
            </a:avLst>
          </a:prstGeom>
          <a:solidFill>
            <a:srgbClr val="F1F5F9"/>
          </a:solidFill>
          <a:ln/>
          <a:effectLst>
            <a:outerShdw sx="100000" sy="100000" kx="0" ky="0" algn="bl" rotWithShape="0" blurRad="101600" dist="38100" dir="8100000">
              <a:srgbClr val="0B2E33">
                <a:alpha val="12000"/>
              </a:srgbClr>
            </a:outerShdw>
          </a:effectLst>
        </p:spPr>
      </p:sp>
      <p:sp>
        <p:nvSpPr>
          <p:cNvPr id="7" name="Shape 5"/>
          <p:cNvSpPr/>
          <p:nvPr/>
        </p:nvSpPr>
        <p:spPr>
          <a:xfrm>
            <a:off x="868680" y="2240280"/>
            <a:ext cx="685800" cy="685800"/>
          </a:xfrm>
          <a:prstGeom prst="ellipse">
            <a:avLst/>
          </a:prstGeom>
          <a:solidFill>
            <a:srgbClr val="F4A259"/>
          </a:solidFill>
          <a:ln/>
          <a:effectLst>
            <a:outerShdw sx="100000" sy="100000" kx="0" ky="0" algn="bl" rotWithShape="0" blurRad="101600" dist="38100" dir="8100000">
              <a:srgbClr val="0B2E33">
                <a:alpha val="12000"/>
              </a:srgbClr>
            </a:outerShdw>
          </a:effectLst>
        </p:spPr>
      </p:sp>
      <p:pic>
        <p:nvPicPr>
          <p:cNvPr id="8" name="Image 0" descr="preencoded.png">    </p:cNvPr>
          <p:cNvPicPr>
            <a:picLocks noChangeAspect="1"/>
          </p:cNvPicPr>
          <p:nvPr/>
        </p:nvPicPr>
        <p:blipFill>
          <a:blip r:embed="rId1"/>
          <a:stretch>
            <a:fillRect/>
          </a:stretch>
        </p:blipFill>
        <p:spPr>
          <a:xfrm>
            <a:off x="1040130" y="2411730"/>
            <a:ext cx="342900" cy="342900"/>
          </a:xfrm>
          <a:prstGeom prst="rect">
            <a:avLst/>
          </a:prstGeom>
        </p:spPr>
      </p:pic>
      <p:sp>
        <p:nvSpPr>
          <p:cNvPr id="9" name="Text 6"/>
          <p:cNvSpPr/>
          <p:nvPr/>
        </p:nvSpPr>
        <p:spPr>
          <a:xfrm>
            <a:off x="1691640" y="2240280"/>
            <a:ext cx="4114800" cy="68580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Hạn chế hiện tại</a:t>
            </a:r>
            <a:endParaRPr lang="en-US" sz="1800" dirty="0"/>
          </a:p>
        </p:txBody>
      </p:sp>
      <p:sp>
        <p:nvSpPr>
          <p:cNvPr id="10" name="Text 7"/>
          <p:cNvSpPr/>
          <p:nvPr/>
        </p:nvSpPr>
        <p:spPr>
          <a:xfrm>
            <a:off x="914400" y="3200400"/>
            <a:ext cx="4846320" cy="2560320"/>
          </a:xfrm>
          <a:prstGeom prst="rect">
            <a:avLst/>
          </a:prstGeom>
          <a:noFill/>
          <a:ln/>
        </p:spPr>
        <p:txBody>
          <a:bodyPr wrap="square" lIns="0" tIns="0" rIns="0" bIns="0" rtlCol="0" anchor="ctr"/>
          <a:lstStyle/>
          <a:p>
            <a:pPr marL="342900" indent="-342900">
              <a:spcAft>
                <a:spcPts val="1400"/>
              </a:spcAft>
              <a:buSzPct val="100000"/>
              <a:buChar char="•"/>
            </a:pPr>
            <a:r>
              <a:rPr lang="en-US" sz="1450" dirty="0">
                <a:solidFill>
                  <a:srgbClr val="1E293B"/>
                </a:solidFill>
                <a:latin typeface="Calibri" pitchFamily="34" charset="0"/>
                <a:ea typeface="Calibri" pitchFamily="34" charset="-122"/>
                <a:cs typeface="Calibri" pitchFamily="34" charset="-120"/>
              </a:rPr>
              <a:t>Chưa có JWT / Spring Security bảo vệ API</a:t>
            </a:r>
            <a:endParaRPr lang="en-US" sz="1450" dirty="0"/>
          </a:p>
          <a:p>
            <a:pPr marL="342900" indent="-342900">
              <a:spcAft>
                <a:spcPts val="1400"/>
              </a:spcAft>
              <a:buSzPct val="100000"/>
              <a:buChar char="•"/>
            </a:pPr>
            <a:r>
              <a:rPr lang="en-US" sz="1450" dirty="0">
                <a:solidFill>
                  <a:srgbClr val="1E293B"/>
                </a:solidFill>
                <a:latin typeface="Calibri" pitchFamily="34" charset="0"/>
                <a:ea typeface="Calibri" pitchFamily="34" charset="-122"/>
                <a:cs typeface="Calibri" pitchFamily="34" charset="-120"/>
              </a:rPr>
              <a:t>Phân quyền mới ở mức frontend route guard</a:t>
            </a:r>
            <a:endParaRPr lang="en-US" sz="1450" dirty="0"/>
          </a:p>
          <a:p>
            <a:pPr marL="342900" indent="-342900">
              <a:spcAft>
                <a:spcPts val="1400"/>
              </a:spcAft>
              <a:buSzPct val="100000"/>
              <a:buChar char="•"/>
            </a:pPr>
            <a:r>
              <a:rPr lang="en-US" sz="1450" dirty="0">
                <a:solidFill>
                  <a:srgbClr val="1E293B"/>
                </a:solidFill>
                <a:latin typeface="Calibri" pitchFamily="34" charset="0"/>
                <a:ea typeface="Calibri" pitchFamily="34" charset="-122"/>
                <a:cs typeface="Calibri" pitchFamily="34" charset="-120"/>
              </a:rPr>
              <a:t>Độ chính xác AI phụ thuộc ánh sáng &amp; camera</a:t>
            </a:r>
            <a:endParaRPr lang="en-US" sz="1450" dirty="0"/>
          </a:p>
          <a:p>
            <a:pPr marL="342900" indent="-342900">
              <a:spcAft>
                <a:spcPts val="1400"/>
              </a:spcAft>
              <a:buSzPct val="100000"/>
              <a:buChar char="•"/>
            </a:pPr>
            <a:r>
              <a:rPr lang="en-US" sz="1450" dirty="0">
                <a:solidFill>
                  <a:srgbClr val="1E293B"/>
                </a:solidFill>
                <a:latin typeface="Calibri" pitchFamily="34" charset="0"/>
                <a:ea typeface="Calibri" pitchFamily="34" charset="-122"/>
                <a:cs typeface="Calibri" pitchFamily="34" charset="-120"/>
              </a:rPr>
              <a:t>Chưa có nhận diện danh tính (Face ID)</a:t>
            </a:r>
            <a:endParaRPr lang="en-US" sz="1450" dirty="0"/>
          </a:p>
        </p:txBody>
      </p:sp>
      <p:sp>
        <p:nvSpPr>
          <p:cNvPr id="11" name="Shape 8"/>
          <p:cNvSpPr/>
          <p:nvPr/>
        </p:nvSpPr>
        <p:spPr>
          <a:xfrm>
            <a:off x="6172200" y="1920240"/>
            <a:ext cx="5440680" cy="4023360"/>
          </a:xfrm>
          <a:prstGeom prst="roundRect">
            <a:avLst>
              <a:gd name="adj" fmla="val 2727"/>
            </a:avLst>
          </a:prstGeom>
          <a:solidFill>
            <a:srgbClr val="E8F3F2"/>
          </a:solidFill>
          <a:ln/>
          <a:effectLst>
            <a:outerShdw sx="100000" sy="100000" kx="0" ky="0" algn="bl" rotWithShape="0" blurRad="101600" dist="38100" dir="8100000">
              <a:srgbClr val="0B2E33">
                <a:alpha val="12000"/>
              </a:srgbClr>
            </a:outerShdw>
          </a:effectLst>
        </p:spPr>
      </p:sp>
      <p:sp>
        <p:nvSpPr>
          <p:cNvPr id="12" name="Shape 9"/>
          <p:cNvSpPr/>
          <p:nvPr/>
        </p:nvSpPr>
        <p:spPr>
          <a:xfrm>
            <a:off x="6492240" y="2240280"/>
            <a:ext cx="685800" cy="68580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13" name="Image 1" descr="preencoded.png">    </p:cNvPr>
          <p:cNvPicPr>
            <a:picLocks noChangeAspect="1"/>
          </p:cNvPicPr>
          <p:nvPr/>
        </p:nvPicPr>
        <p:blipFill>
          <a:blip r:embed="rId2"/>
          <a:stretch>
            <a:fillRect/>
          </a:stretch>
        </p:blipFill>
        <p:spPr>
          <a:xfrm>
            <a:off x="6663690" y="2411730"/>
            <a:ext cx="342900" cy="342900"/>
          </a:xfrm>
          <a:prstGeom prst="rect">
            <a:avLst/>
          </a:prstGeom>
        </p:spPr>
      </p:pic>
      <p:sp>
        <p:nvSpPr>
          <p:cNvPr id="14" name="Text 10"/>
          <p:cNvSpPr/>
          <p:nvPr/>
        </p:nvSpPr>
        <p:spPr>
          <a:xfrm>
            <a:off x="7315200" y="2240280"/>
            <a:ext cx="4114800" cy="68580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Hướng phát triển</a:t>
            </a:r>
            <a:endParaRPr lang="en-US" sz="1800" dirty="0"/>
          </a:p>
        </p:txBody>
      </p:sp>
      <p:sp>
        <p:nvSpPr>
          <p:cNvPr id="15" name="Text 11"/>
          <p:cNvSpPr/>
          <p:nvPr/>
        </p:nvSpPr>
        <p:spPr>
          <a:xfrm>
            <a:off x="6537960" y="3200400"/>
            <a:ext cx="4846320" cy="2560320"/>
          </a:xfrm>
          <a:prstGeom prst="rect">
            <a:avLst/>
          </a:prstGeom>
          <a:noFill/>
          <a:ln/>
        </p:spPr>
        <p:txBody>
          <a:bodyPr wrap="square" lIns="0" tIns="0" rIns="0" bIns="0" rtlCol="0" anchor="ctr"/>
          <a:lstStyle/>
          <a:p>
            <a:pPr marL="342900" indent="-342900">
              <a:spcAft>
                <a:spcPts val="1400"/>
              </a:spcAft>
              <a:buSzPct val="100000"/>
              <a:buChar char="•"/>
            </a:pPr>
            <a:r>
              <a:rPr lang="en-US" sz="1450" dirty="0">
                <a:solidFill>
                  <a:srgbClr val="1E293B"/>
                </a:solidFill>
                <a:latin typeface="Calibri" pitchFamily="34" charset="0"/>
                <a:ea typeface="Calibri" pitchFamily="34" charset="-122"/>
                <a:cs typeface="Calibri" pitchFamily="34" charset="-120"/>
              </a:rPr>
              <a:t>Bổ sung JWT + Spring Security bảo mật API</a:t>
            </a:r>
            <a:endParaRPr lang="en-US" sz="1450" dirty="0"/>
          </a:p>
          <a:p>
            <a:pPr marL="342900" indent="-342900">
              <a:spcAft>
                <a:spcPts val="1400"/>
              </a:spcAft>
              <a:buSzPct val="100000"/>
              <a:buChar char="•"/>
            </a:pPr>
            <a:r>
              <a:rPr lang="en-US" sz="1450" dirty="0">
                <a:solidFill>
                  <a:srgbClr val="1E293B"/>
                </a:solidFill>
                <a:latin typeface="Calibri" pitchFamily="34" charset="0"/>
                <a:ea typeface="Calibri" pitchFamily="34" charset="-122"/>
                <a:cs typeface="Calibri" pitchFamily="34" charset="-120"/>
              </a:rPr>
              <a:t>Đăng nhập bằng khuôn mặt (Face ID)</a:t>
            </a:r>
            <a:endParaRPr lang="en-US" sz="1450" dirty="0"/>
          </a:p>
          <a:p>
            <a:pPr marL="342900" indent="-342900">
              <a:spcAft>
                <a:spcPts val="1400"/>
              </a:spcAft>
              <a:buSzPct val="100000"/>
              <a:buChar char="•"/>
            </a:pPr>
            <a:r>
              <a:rPr lang="en-US" sz="1450" dirty="0">
                <a:solidFill>
                  <a:srgbClr val="1E293B"/>
                </a:solidFill>
                <a:latin typeface="Calibri" pitchFamily="34" charset="0"/>
                <a:ea typeface="Calibri" pitchFamily="34" charset="-122"/>
                <a:cs typeface="Calibri" pitchFamily="34" charset="-120"/>
              </a:rPr>
              <a:t>Đa ngôn ngữ Việt – Anh (i18n)</a:t>
            </a:r>
            <a:endParaRPr lang="en-US" sz="1450" dirty="0"/>
          </a:p>
          <a:p>
            <a:pPr marL="342900" indent="-342900">
              <a:spcAft>
                <a:spcPts val="1400"/>
              </a:spcAft>
              <a:buSzPct val="100000"/>
              <a:buChar char="•"/>
            </a:pPr>
            <a:r>
              <a:rPr lang="en-US" sz="1450" dirty="0">
                <a:solidFill>
                  <a:srgbClr val="1E293B"/>
                </a:solidFill>
                <a:latin typeface="Calibri" pitchFamily="34" charset="0"/>
                <a:ea typeface="Calibri" pitchFamily="34" charset="-122"/>
                <a:cs typeface="Calibri" pitchFamily="34" charset="-120"/>
              </a:rPr>
              <a:t>Cải thiện mô hình AI, thêm cảnh báo realtime</a:t>
            </a:r>
            <a:endParaRPr lang="en-US" sz="14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2E33"/>
        </a:solidFill>
      </p:bgPr>
    </p:bg>
    <p:spTree>
      <p:nvGrpSpPr>
        <p:cNvPr id="1" name=""/>
        <p:cNvGrpSpPr/>
        <p:nvPr/>
      </p:nvGrpSpPr>
      <p:grpSpPr>
        <a:xfrm>
          <a:off x="0" y="0"/>
          <a:ext cx="0" cy="0"/>
          <a:chOff x="0" y="0"/>
          <a:chExt cx="0" cy="0"/>
        </a:xfrm>
      </p:grpSpPr>
      <p:sp>
        <p:nvSpPr>
          <p:cNvPr id="2" name="Shape 0"/>
          <p:cNvSpPr/>
          <p:nvPr/>
        </p:nvSpPr>
        <p:spPr>
          <a:xfrm>
            <a:off x="-2011680" y="3474720"/>
            <a:ext cx="5486400" cy="5486400"/>
          </a:xfrm>
          <a:prstGeom prst="ellipse">
            <a:avLst/>
          </a:prstGeom>
          <a:solidFill>
            <a:srgbClr val="0D9488">
              <a:alpha val="20000"/>
            </a:srgbClr>
          </a:solidFill>
          <a:ln/>
        </p:spPr>
      </p:sp>
      <p:sp>
        <p:nvSpPr>
          <p:cNvPr id="3" name="Shape 1"/>
          <p:cNvSpPr/>
          <p:nvPr/>
        </p:nvSpPr>
        <p:spPr>
          <a:xfrm>
            <a:off x="9601200" y="-2103120"/>
            <a:ext cx="5029200" cy="5029200"/>
          </a:xfrm>
          <a:prstGeom prst="ellipse">
            <a:avLst/>
          </a:prstGeom>
          <a:solidFill>
            <a:srgbClr val="14B8A6">
              <a:alpha val="18000"/>
            </a:srgbClr>
          </a:solidFill>
          <a:ln/>
        </p:spPr>
      </p:sp>
      <p:sp>
        <p:nvSpPr>
          <p:cNvPr id="4" name="Shape 2"/>
          <p:cNvSpPr/>
          <p:nvPr/>
        </p:nvSpPr>
        <p:spPr>
          <a:xfrm>
            <a:off x="822960" y="1371600"/>
            <a:ext cx="868680" cy="868680"/>
          </a:xfrm>
          <a:prstGeom prst="ellipse">
            <a:avLst/>
          </a:prstGeom>
          <a:solidFill>
            <a:srgbClr val="0D9488"/>
          </a:solidFill>
          <a:ln/>
          <a:effectLst>
            <a:outerShdw sx="100000" sy="100000" kx="0" ky="0" algn="bl" rotWithShape="0" blurRad="101600" dist="38100" dir="8100000">
              <a:srgbClr val="0B2E33">
                <a:alpha val="12000"/>
              </a:srgbClr>
            </a:outerShdw>
          </a:effectLst>
        </p:spPr>
      </p:sp>
      <p:pic>
        <p:nvPicPr>
          <p:cNvPr id="5" name="Image 0" descr="preencoded.png">    </p:cNvPr>
          <p:cNvPicPr>
            <a:picLocks noChangeAspect="1"/>
          </p:cNvPicPr>
          <p:nvPr/>
        </p:nvPicPr>
        <p:blipFill>
          <a:blip r:embed="rId1"/>
          <a:stretch>
            <a:fillRect/>
          </a:stretch>
        </p:blipFill>
        <p:spPr>
          <a:xfrm>
            <a:off x="1040130" y="1588770"/>
            <a:ext cx="434340" cy="434340"/>
          </a:xfrm>
          <a:prstGeom prst="rect">
            <a:avLst/>
          </a:prstGeom>
        </p:spPr>
      </p:pic>
      <p:sp>
        <p:nvSpPr>
          <p:cNvPr id="6" name="Text 3"/>
          <p:cNvSpPr/>
          <p:nvPr/>
        </p:nvSpPr>
        <p:spPr>
          <a:xfrm>
            <a:off x="868680" y="2423160"/>
            <a:ext cx="7315200" cy="411480"/>
          </a:xfrm>
          <a:prstGeom prst="rect">
            <a:avLst/>
          </a:prstGeom>
          <a:noFill/>
          <a:ln/>
        </p:spPr>
        <p:txBody>
          <a:bodyPr wrap="square" lIns="0" tIns="0" rIns="0" bIns="0" rtlCol="0" anchor="ctr"/>
          <a:lstStyle/>
          <a:p>
            <a:pPr indent="0" marL="0">
              <a:buNone/>
            </a:pPr>
            <a:r>
              <a:rPr lang="en-US" sz="1500" b="1" spc="400" kern="0" dirty="0">
                <a:solidFill>
                  <a:srgbClr val="5EEAD4"/>
                </a:solidFill>
                <a:latin typeface="Calibri" pitchFamily="34" charset="0"/>
                <a:ea typeface="Calibri" pitchFamily="34" charset="-122"/>
                <a:cs typeface="Calibri" pitchFamily="34" charset="-120"/>
              </a:rPr>
              <a:t>KẾT LUẬN</a:t>
            </a:r>
            <a:endParaRPr lang="en-US" sz="1500" dirty="0"/>
          </a:p>
        </p:txBody>
      </p:sp>
      <p:sp>
        <p:nvSpPr>
          <p:cNvPr id="7" name="Text 4"/>
          <p:cNvSpPr/>
          <p:nvPr/>
        </p:nvSpPr>
        <p:spPr>
          <a:xfrm>
            <a:off x="822960" y="2834640"/>
            <a:ext cx="10058400" cy="1554480"/>
          </a:xfrm>
          <a:prstGeom prst="rect">
            <a:avLst/>
          </a:prstGeom>
          <a:noFill/>
          <a:ln/>
        </p:spPr>
        <p:txBody>
          <a:bodyPr wrap="square" lIns="0" tIns="0" rIns="0" bIns="0" rtlCol="0" anchor="ctr"/>
          <a:lstStyle/>
          <a:p>
            <a:pPr indent="0" marL="0">
              <a:lnSpc>
                <a:spcPts val="4600"/>
              </a:lnSpc>
              <a:buNone/>
            </a:pPr>
            <a:r>
              <a:rPr lang="en-US" sz="3800" b="1" dirty="0">
                <a:solidFill>
                  <a:srgbClr val="FFFFFF"/>
                </a:solidFill>
                <a:latin typeface="Georgia" pitchFamily="34" charset="0"/>
                <a:ea typeface="Georgia" pitchFamily="34" charset="-122"/>
                <a:cs typeface="Georgia" pitchFamily="34" charset="-120"/>
              </a:rPr>
              <a:t>Một nền tảng học tập</a:t>
            </a:r>
            <a:endParaRPr lang="en-US" sz="3800" dirty="0"/>
          </a:p>
          <a:p>
            <a:pPr indent="0" marL="0">
              <a:lnSpc>
                <a:spcPts val="4600"/>
              </a:lnSpc>
              <a:buNone/>
            </a:pPr>
            <a:r>
              <a:rPr lang="en-US" sz="3800" b="1" dirty="0">
                <a:solidFill>
                  <a:srgbClr val="FFFFFF"/>
                </a:solidFill>
                <a:latin typeface="Georgia" pitchFamily="34" charset="0"/>
                <a:ea typeface="Georgia" pitchFamily="34" charset="-122"/>
                <a:cs typeface="Georgia" pitchFamily="34" charset="-120"/>
              </a:rPr>
              <a:t>cá nhân hóa nhờ AI</a:t>
            </a:r>
            <a:endParaRPr lang="en-US" sz="3800" dirty="0"/>
          </a:p>
        </p:txBody>
      </p:sp>
      <p:sp>
        <p:nvSpPr>
          <p:cNvPr id="8" name="Shape 5"/>
          <p:cNvSpPr/>
          <p:nvPr/>
        </p:nvSpPr>
        <p:spPr>
          <a:xfrm>
            <a:off x="868680" y="4526280"/>
            <a:ext cx="2194560" cy="0"/>
          </a:xfrm>
          <a:prstGeom prst="line">
            <a:avLst/>
          </a:prstGeom>
          <a:noFill/>
          <a:ln w="38100">
            <a:solidFill>
              <a:srgbClr val="F4A259"/>
            </a:solidFill>
            <a:prstDash val="solid"/>
          </a:ln>
        </p:spPr>
      </p:sp>
      <p:sp>
        <p:nvSpPr>
          <p:cNvPr id="9" name="Text 6"/>
          <p:cNvSpPr/>
          <p:nvPr/>
        </p:nvSpPr>
        <p:spPr>
          <a:xfrm>
            <a:off x="822960" y="4754880"/>
            <a:ext cx="9875520" cy="914400"/>
          </a:xfrm>
          <a:prstGeom prst="rect">
            <a:avLst/>
          </a:prstGeom>
          <a:noFill/>
          <a:ln/>
        </p:spPr>
        <p:txBody>
          <a:bodyPr wrap="square" lIns="0" tIns="0" rIns="0" bIns="0" rtlCol="0" anchor="ctr"/>
          <a:lstStyle/>
          <a:p>
            <a:pPr indent="0" marL="0">
              <a:lnSpc>
                <a:spcPts val="2400"/>
              </a:lnSpc>
              <a:buNone/>
            </a:pPr>
            <a:r>
              <a:rPr lang="en-US" sz="1600" dirty="0">
                <a:solidFill>
                  <a:srgbClr val="CBD5E1"/>
                </a:solidFill>
                <a:latin typeface="Calibri" pitchFamily="34" charset="0"/>
                <a:ea typeface="Calibri" pitchFamily="34" charset="-122"/>
                <a:cs typeface="Calibri" pitchFamily="34" charset="-120"/>
              </a:rPr>
              <a:t>Kết hợp giám sát tập trung bằng webcam và quiz thích ứng, hệ thống giúp người học chủ động và hiệu quả hơn — đồng thời cung cấp dữ liệu hữu ích cho giảng viên.</a:t>
            </a:r>
            <a:endParaRPr lang="en-US" sz="1600" dirty="0"/>
          </a:p>
        </p:txBody>
      </p:sp>
      <p:sp>
        <p:nvSpPr>
          <p:cNvPr id="10" name="Text 7"/>
          <p:cNvSpPr/>
          <p:nvPr/>
        </p:nvSpPr>
        <p:spPr>
          <a:xfrm>
            <a:off x="822960" y="5897880"/>
            <a:ext cx="10058400" cy="457200"/>
          </a:xfrm>
          <a:prstGeom prst="rect">
            <a:avLst/>
          </a:prstGeom>
          <a:noFill/>
          <a:ln/>
        </p:spPr>
        <p:txBody>
          <a:bodyPr wrap="square" lIns="0" tIns="0" rIns="0" bIns="0" rtlCol="0" anchor="ctr"/>
          <a:lstStyle/>
          <a:p>
            <a:pPr indent="0" marL="0">
              <a:buNone/>
            </a:pPr>
            <a:r>
              <a:rPr lang="en-US" sz="1800" b="1" i="1" dirty="0">
                <a:solidFill>
                  <a:srgbClr val="5EEAD4"/>
                </a:solidFill>
                <a:latin typeface="Georgia" pitchFamily="34" charset="0"/>
                <a:ea typeface="Georgia" pitchFamily="34" charset="-122"/>
                <a:cs typeface="Georgia" pitchFamily="34" charset="-120"/>
              </a:rPr>
              <a:t>Xin cảm ơn thầy/cô và hội đồng đã lắng nghe!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 thong hoc tap truc tuyen voi AI</dc:title>
  <dc:subject>PptxGenJS Presentation</dc:subject>
  <dc:creator>Nhom DATN</dc:creator>
  <cp:lastModifiedBy>Nhom DATN</cp:lastModifiedBy>
  <cp:revision>1</cp:revision>
  <dcterms:created xsi:type="dcterms:W3CDTF">2026-06-11T10:00:42Z</dcterms:created>
  <dcterms:modified xsi:type="dcterms:W3CDTF">2026-06-11T10:00:42Z</dcterms:modified>
</cp:coreProperties>
</file>